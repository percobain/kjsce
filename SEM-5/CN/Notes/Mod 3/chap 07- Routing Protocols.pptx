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6858000" cx="9144000"/>
  <p:notesSz cx="6858000" cy="9144000"/>
  <p:embeddedFontLst>
    <p:embeddedFont>
      <p:font typeface="Raleway"/>
      <p:regular r:id="rId42"/>
      <p:bold r:id="rId43"/>
      <p:italic r:id="rId44"/>
      <p:boldItalic r:id="rId45"/>
    </p:embeddedFont>
    <p:embeddedFont>
      <p:font typeface="Arimo"/>
      <p:regular r:id="rId46"/>
      <p:bold r:id="rId47"/>
      <p:italic r:id="rId48"/>
      <p:boldItalic r:id="rId49"/>
    </p:embeddedFont>
    <p:embeddedFont>
      <p:font typeface="Lato"/>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4" roundtripDataSignature="AMtx7mh9DLDgMWdwg6+N8Rz8ckLTVDKD9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Raleway-regular.fntdata"/><Relationship Id="rId41" Type="http://schemas.openxmlformats.org/officeDocument/2006/relationships/slide" Target="slides/slide36.xml"/><Relationship Id="rId44" Type="http://schemas.openxmlformats.org/officeDocument/2006/relationships/font" Target="fonts/Raleway-italic.fntdata"/><Relationship Id="rId43" Type="http://schemas.openxmlformats.org/officeDocument/2006/relationships/font" Target="fonts/Raleway-bold.fntdata"/><Relationship Id="rId46" Type="http://schemas.openxmlformats.org/officeDocument/2006/relationships/font" Target="fonts/Arimo-regular.fntdata"/><Relationship Id="rId45" Type="http://schemas.openxmlformats.org/officeDocument/2006/relationships/font" Target="fonts/Raleway-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Arimo-italic.fntdata"/><Relationship Id="rId47" Type="http://schemas.openxmlformats.org/officeDocument/2006/relationships/font" Target="fonts/Arimo-bold.fntdata"/><Relationship Id="rId49" Type="http://schemas.openxmlformats.org/officeDocument/2006/relationships/font" Target="fonts/Arim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Lato-bold.fntdata"/><Relationship Id="rId50" Type="http://schemas.openxmlformats.org/officeDocument/2006/relationships/font" Target="fonts/Lato-regular.fntdata"/><Relationship Id="rId53" Type="http://schemas.openxmlformats.org/officeDocument/2006/relationships/font" Target="fonts/Lato-boldItalic.fntdata"/><Relationship Id="rId52"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54"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 name="Google Shape;11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4" name="Google Shape;12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 name="Google Shape;13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 name="Google Shape;15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 name="Google Shape;16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8" name="Google Shape;17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4" name="Google Shape;18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0" name="Google Shape;19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6" name="Google Shape;19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2" name="Google Shape;20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8" name="Google Shape;20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4" name="Google Shape;21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0" name="Google Shape;22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7" name="Google Shape;227;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3" name="Google Shape;233;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9" name="Google Shape;239;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5" name="Google Shape;245;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1" name="Google Shape;251;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7" name="Google Shape;257;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3" name="Google Shape;263;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5" name="Google Shape;275;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1" name="Google Shape;281;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7" name="Google Shape;287;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4" name="Google Shape;294;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0" name="Google Shape;300;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7" name="Google Shape;307;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3" name="Google Shape;313;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g19e16be1df3_0_4"/>
          <p:cNvSpPr/>
          <p:nvPr/>
        </p:nvSpPr>
        <p:spPr>
          <a:xfrm>
            <a:off x="0" y="0"/>
            <a:ext cx="9144000" cy="6504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g19e16be1df3_0_4"/>
          <p:cNvGrpSpPr/>
          <p:nvPr/>
        </p:nvGrpSpPr>
        <p:grpSpPr>
          <a:xfrm>
            <a:off x="830392" y="1588427"/>
            <a:ext cx="745763" cy="61102"/>
            <a:chOff x="4580561" y="2589004"/>
            <a:chExt cx="1064464" cy="25200"/>
          </a:xfrm>
        </p:grpSpPr>
        <p:sp>
          <p:nvSpPr>
            <p:cNvPr id="12" name="Google Shape;12;g19e16be1df3_0_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g19e16be1df3_0_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g19e16be1df3_0_4"/>
          <p:cNvSpPr txBox="1"/>
          <p:nvPr>
            <p:ph type="ctrTitle"/>
          </p:nvPr>
        </p:nvSpPr>
        <p:spPr>
          <a:xfrm>
            <a:off x="729450" y="1763267"/>
            <a:ext cx="7688100" cy="2219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g19e16be1df3_0_4"/>
          <p:cNvSpPr txBox="1"/>
          <p:nvPr>
            <p:ph idx="1" type="subTitle"/>
          </p:nvPr>
        </p:nvSpPr>
        <p:spPr>
          <a:xfrm>
            <a:off x="729627" y="4230533"/>
            <a:ext cx="7688100" cy="72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g19e16be1df3_0_4"/>
          <p:cNvSpPr txBox="1"/>
          <p:nvPr>
            <p:ph idx="12" type="sldNum"/>
          </p:nvPr>
        </p:nvSpPr>
        <p:spPr>
          <a:xfrm>
            <a:off x="8536302" y="6333134"/>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g19e16be1df3_0_77"/>
          <p:cNvSpPr txBox="1"/>
          <p:nvPr>
            <p:ph type="title"/>
          </p:nvPr>
        </p:nvSpPr>
        <p:spPr>
          <a:xfrm>
            <a:off x="457200" y="320040"/>
            <a:ext cx="7239000" cy="1143000"/>
          </a:xfrm>
          <a:prstGeom prst="rect">
            <a:avLst/>
          </a:prstGeom>
          <a:noFill/>
          <a:ln>
            <a:noFill/>
          </a:ln>
        </p:spPr>
        <p:txBody>
          <a:bodyPr anchorCtr="0" anchor="b" bIns="0" lIns="45700" spcFirstLastPara="1" rIns="45700" wrap="square" tIns="0">
            <a:normAutofit/>
          </a:bodyPr>
          <a:lstStyle>
            <a:lvl1pPr lvl="0" rtl="1" algn="l">
              <a:lnSpc>
                <a:spcPct val="100000"/>
              </a:lnSpc>
              <a:spcBef>
                <a:spcPts val="0"/>
              </a:spcBef>
              <a:spcAft>
                <a:spcPts val="0"/>
              </a:spcAft>
              <a:buClr>
                <a:srgbClr val="FEF7F0"/>
              </a:buClr>
              <a:buSzPts val="1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 name="Google Shape;19;g19e16be1df3_0_77"/>
          <p:cNvSpPr txBox="1"/>
          <p:nvPr>
            <p:ph idx="1" type="body"/>
          </p:nvPr>
        </p:nvSpPr>
        <p:spPr>
          <a:xfrm>
            <a:off x="457200" y="1609416"/>
            <a:ext cx="7239000" cy="4846200"/>
          </a:xfrm>
          <a:prstGeom prst="rect">
            <a:avLst/>
          </a:prstGeom>
          <a:noFill/>
          <a:ln>
            <a:noFill/>
          </a:ln>
        </p:spPr>
        <p:txBody>
          <a:bodyPr anchorCtr="0" anchor="t" bIns="45700" lIns="91425" spcFirstLastPara="1" rIns="91425" wrap="square" tIns="45700">
            <a:normAutofit/>
          </a:bodyPr>
          <a:lstStyle>
            <a:lvl1pPr indent="-312039" lvl="0" marL="457200" rtl="1" algn="r">
              <a:lnSpc>
                <a:spcPct val="115000"/>
              </a:lnSpc>
              <a:spcBef>
                <a:spcPts val="600"/>
              </a:spcBef>
              <a:spcAft>
                <a:spcPts val="0"/>
              </a:spcAft>
              <a:buSzPts val="1314"/>
              <a:buChar char="●"/>
              <a:defRPr/>
            </a:lvl1pPr>
            <a:lvl2pPr indent="-320040" lvl="1" marL="914400" rtl="1" algn="r">
              <a:lnSpc>
                <a:spcPct val="115000"/>
              </a:lnSpc>
              <a:spcBef>
                <a:spcPts val="1200"/>
              </a:spcBef>
              <a:spcAft>
                <a:spcPts val="0"/>
              </a:spcAft>
              <a:buSzPts val="1440"/>
              <a:buChar char="○"/>
              <a:defRPr/>
            </a:lvl2pPr>
            <a:lvl3pPr indent="-297180" lvl="2" marL="1371600" rtl="1" algn="r">
              <a:lnSpc>
                <a:spcPct val="115000"/>
              </a:lnSpc>
              <a:spcBef>
                <a:spcPts val="1200"/>
              </a:spcBef>
              <a:spcAft>
                <a:spcPts val="0"/>
              </a:spcAft>
              <a:buSzPts val="1080"/>
              <a:buChar char="■"/>
              <a:defRPr/>
            </a:lvl3pPr>
            <a:lvl4pPr indent="-320039" lvl="3" marL="1828800" rtl="1" algn="r">
              <a:lnSpc>
                <a:spcPct val="115000"/>
              </a:lnSpc>
              <a:spcBef>
                <a:spcPts val="1200"/>
              </a:spcBef>
              <a:spcAft>
                <a:spcPts val="0"/>
              </a:spcAft>
              <a:buSzPts val="1440"/>
              <a:buChar char="●"/>
              <a:defRPr/>
            </a:lvl4pPr>
            <a:lvl5pPr indent="-308610" lvl="4" marL="2286000" rtl="1" algn="r">
              <a:lnSpc>
                <a:spcPct val="115000"/>
              </a:lnSpc>
              <a:spcBef>
                <a:spcPts val="1200"/>
              </a:spcBef>
              <a:spcAft>
                <a:spcPts val="0"/>
              </a:spcAft>
              <a:buSzPts val="1260"/>
              <a:buChar char="○"/>
              <a:defRPr/>
            </a:lvl5pPr>
            <a:lvl6pPr indent="-320039" lvl="5" marL="2743200" rtl="1" algn="r">
              <a:lnSpc>
                <a:spcPct val="115000"/>
              </a:lnSpc>
              <a:spcBef>
                <a:spcPts val="1200"/>
              </a:spcBef>
              <a:spcAft>
                <a:spcPts val="0"/>
              </a:spcAft>
              <a:buSzPts val="1440"/>
              <a:buChar char="■"/>
              <a:defRPr/>
            </a:lvl6pPr>
            <a:lvl7pPr indent="-320039" lvl="6" marL="3200400" rtl="1" algn="r">
              <a:lnSpc>
                <a:spcPct val="115000"/>
              </a:lnSpc>
              <a:spcBef>
                <a:spcPts val="1200"/>
              </a:spcBef>
              <a:spcAft>
                <a:spcPts val="0"/>
              </a:spcAft>
              <a:buSzPts val="1440"/>
              <a:buChar char="●"/>
              <a:defRPr/>
            </a:lvl7pPr>
            <a:lvl8pPr indent="-342900" lvl="7" marL="3657600" rtl="1" algn="r">
              <a:lnSpc>
                <a:spcPct val="115000"/>
              </a:lnSpc>
              <a:spcBef>
                <a:spcPts val="1200"/>
              </a:spcBef>
              <a:spcAft>
                <a:spcPts val="0"/>
              </a:spcAft>
              <a:buSzPts val="1800"/>
              <a:buChar char="○"/>
              <a:defRPr/>
            </a:lvl8pPr>
            <a:lvl9pPr indent="-342900" lvl="8" marL="4114800" rtl="1" algn="r">
              <a:lnSpc>
                <a:spcPct val="115000"/>
              </a:lnSpc>
              <a:spcBef>
                <a:spcPts val="1200"/>
              </a:spcBef>
              <a:spcAft>
                <a:spcPts val="1200"/>
              </a:spcAft>
              <a:buSzPts val="1800"/>
              <a:buChar char="■"/>
              <a:defRPr/>
            </a:lvl9pPr>
          </a:lstStyle>
          <a:p/>
        </p:txBody>
      </p:sp>
      <p:sp>
        <p:nvSpPr>
          <p:cNvPr id="20" name="Google Shape;20;g19e16be1df3_0_77"/>
          <p:cNvSpPr txBox="1"/>
          <p:nvPr>
            <p:ph idx="10" type="dt"/>
          </p:nvPr>
        </p:nvSpPr>
        <p:spPr>
          <a:xfrm>
            <a:off x="4245936" y="6557946"/>
            <a:ext cx="2002500" cy="226800"/>
          </a:xfrm>
          <a:prstGeom prst="rect">
            <a:avLst/>
          </a:prstGeom>
          <a:noFill/>
          <a:ln>
            <a:noFill/>
          </a:ln>
        </p:spPr>
        <p:txBody>
          <a:bodyPr anchorCtr="0" anchor="b" bIns="0" lIns="91425" spcFirstLastPara="1" rIns="91425" wrap="square" tIns="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1" name="Google Shape;21;g19e16be1df3_0_77"/>
          <p:cNvSpPr txBox="1"/>
          <p:nvPr>
            <p:ph idx="11" type="ftr"/>
          </p:nvPr>
        </p:nvSpPr>
        <p:spPr>
          <a:xfrm>
            <a:off x="457200" y="6557946"/>
            <a:ext cx="3657600" cy="228600"/>
          </a:xfrm>
          <a:prstGeom prst="rect">
            <a:avLst/>
          </a:prstGeom>
          <a:noFill/>
          <a:ln>
            <a:noFill/>
          </a:ln>
        </p:spPr>
        <p:txBody>
          <a:bodyPr anchorCtr="0" anchor="b" bIns="0" lIns="91425" spcFirstLastPara="1" rIns="91425" wrap="square" tIns="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2" name="Google Shape;22;g19e16be1df3_0_77"/>
          <p:cNvSpPr txBox="1"/>
          <p:nvPr>
            <p:ph idx="12" type="sldNum"/>
          </p:nvPr>
        </p:nvSpPr>
        <p:spPr>
          <a:xfrm>
            <a:off x="6251448" y="6556248"/>
            <a:ext cx="588300" cy="228600"/>
          </a:xfrm>
          <a:prstGeom prst="rect">
            <a:avLst/>
          </a:prstGeom>
          <a:noFill/>
          <a:ln>
            <a:noFill/>
          </a:ln>
        </p:spPr>
        <p:txBody>
          <a:bodyPr anchorCtr="0" anchor="b" bIns="0" lIns="0" spcFirstLastPara="1" rIns="0" wrap="square" tIns="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3" name="Shape 23"/>
        <p:cNvGrpSpPr/>
        <p:nvPr/>
      </p:nvGrpSpPr>
      <p:grpSpPr>
        <a:xfrm>
          <a:off x="0" y="0"/>
          <a:ext cx="0" cy="0"/>
          <a:chOff x="0" y="0"/>
          <a:chExt cx="0" cy="0"/>
        </a:xfrm>
      </p:grpSpPr>
      <p:grpSp>
        <p:nvGrpSpPr>
          <p:cNvPr id="24" name="Google Shape;24;g19e16be1df3_0_12"/>
          <p:cNvGrpSpPr/>
          <p:nvPr/>
        </p:nvGrpSpPr>
        <p:grpSpPr>
          <a:xfrm>
            <a:off x="830392" y="1588427"/>
            <a:ext cx="745763" cy="61102"/>
            <a:chOff x="4580561" y="2589004"/>
            <a:chExt cx="1064464" cy="25200"/>
          </a:xfrm>
        </p:grpSpPr>
        <p:sp>
          <p:nvSpPr>
            <p:cNvPr id="25" name="Google Shape;25;g19e16be1df3_0_12"/>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g19e16be1df3_0_12"/>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 name="Google Shape;27;g19e16be1df3_0_12"/>
          <p:cNvSpPr txBox="1"/>
          <p:nvPr>
            <p:ph type="title"/>
          </p:nvPr>
        </p:nvSpPr>
        <p:spPr>
          <a:xfrm>
            <a:off x="729450" y="1763267"/>
            <a:ext cx="7688400" cy="202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28" name="Google Shape;28;g19e16be1df3_0_12"/>
          <p:cNvSpPr txBox="1"/>
          <p:nvPr>
            <p:ph idx="12" type="sldNum"/>
          </p:nvPr>
        </p:nvSpPr>
        <p:spPr>
          <a:xfrm>
            <a:off x="8536302" y="6333134"/>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9" name="Shape 29"/>
        <p:cNvGrpSpPr/>
        <p:nvPr/>
      </p:nvGrpSpPr>
      <p:grpSpPr>
        <a:xfrm>
          <a:off x="0" y="0"/>
          <a:ext cx="0" cy="0"/>
          <a:chOff x="0" y="0"/>
          <a:chExt cx="0" cy="0"/>
        </a:xfrm>
      </p:grpSpPr>
      <p:sp>
        <p:nvSpPr>
          <p:cNvPr id="30" name="Google Shape;30;g19e16be1df3_0_18"/>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1" name="Google Shape;31;g19e16be1df3_0_18"/>
          <p:cNvGrpSpPr/>
          <p:nvPr/>
        </p:nvGrpSpPr>
        <p:grpSpPr>
          <a:xfrm>
            <a:off x="830392" y="1588427"/>
            <a:ext cx="745763" cy="61102"/>
            <a:chOff x="4580561" y="2589004"/>
            <a:chExt cx="1064464" cy="25200"/>
          </a:xfrm>
        </p:grpSpPr>
        <p:sp>
          <p:nvSpPr>
            <p:cNvPr id="32" name="Google Shape;32;g19e16be1df3_0_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g19e16be1df3_0_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 name="Google Shape;34;g19e16be1df3_0_18"/>
          <p:cNvSpPr txBox="1"/>
          <p:nvPr>
            <p:ph type="title"/>
          </p:nvPr>
        </p:nvSpPr>
        <p:spPr>
          <a:xfrm>
            <a:off x="729450" y="1758200"/>
            <a:ext cx="7688700" cy="713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5" name="Google Shape;35;g19e16be1df3_0_18"/>
          <p:cNvSpPr txBox="1"/>
          <p:nvPr>
            <p:ph idx="1" type="body"/>
          </p:nvPr>
        </p:nvSpPr>
        <p:spPr>
          <a:xfrm>
            <a:off x="729450" y="2771833"/>
            <a:ext cx="7688700" cy="30147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6" name="Google Shape;36;g19e16be1df3_0_18"/>
          <p:cNvSpPr txBox="1"/>
          <p:nvPr>
            <p:ph idx="12" type="sldNum"/>
          </p:nvPr>
        </p:nvSpPr>
        <p:spPr>
          <a:xfrm>
            <a:off x="8536302" y="6333134"/>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7" name="Shape 37"/>
        <p:cNvGrpSpPr/>
        <p:nvPr/>
      </p:nvGrpSpPr>
      <p:grpSpPr>
        <a:xfrm>
          <a:off x="0" y="0"/>
          <a:ext cx="0" cy="0"/>
          <a:chOff x="0" y="0"/>
          <a:chExt cx="0" cy="0"/>
        </a:xfrm>
      </p:grpSpPr>
      <p:sp>
        <p:nvSpPr>
          <p:cNvPr id="38" name="Google Shape;38;g19e16be1df3_0_26"/>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9" name="Google Shape;39;g19e16be1df3_0_26"/>
          <p:cNvGrpSpPr/>
          <p:nvPr/>
        </p:nvGrpSpPr>
        <p:grpSpPr>
          <a:xfrm>
            <a:off x="830392" y="1588427"/>
            <a:ext cx="745763" cy="61102"/>
            <a:chOff x="4580561" y="2589004"/>
            <a:chExt cx="1064464" cy="25200"/>
          </a:xfrm>
        </p:grpSpPr>
        <p:sp>
          <p:nvSpPr>
            <p:cNvPr id="40" name="Google Shape;40;g19e16be1df3_0_2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g19e16be1df3_0_2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2" name="Google Shape;42;g19e16be1df3_0_26"/>
          <p:cNvSpPr txBox="1"/>
          <p:nvPr>
            <p:ph type="title"/>
          </p:nvPr>
        </p:nvSpPr>
        <p:spPr>
          <a:xfrm>
            <a:off x="729450" y="1758200"/>
            <a:ext cx="7688400" cy="713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3" name="Google Shape;43;g19e16be1df3_0_26"/>
          <p:cNvSpPr txBox="1"/>
          <p:nvPr>
            <p:ph idx="1" type="body"/>
          </p:nvPr>
        </p:nvSpPr>
        <p:spPr>
          <a:xfrm>
            <a:off x="729325" y="2771833"/>
            <a:ext cx="3774300" cy="30147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4" name="Google Shape;44;g19e16be1df3_0_26"/>
          <p:cNvSpPr txBox="1"/>
          <p:nvPr>
            <p:ph idx="2" type="body"/>
          </p:nvPr>
        </p:nvSpPr>
        <p:spPr>
          <a:xfrm>
            <a:off x="4643604" y="2771833"/>
            <a:ext cx="3774300" cy="30147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5" name="Google Shape;45;g19e16be1df3_0_26"/>
          <p:cNvSpPr txBox="1"/>
          <p:nvPr>
            <p:ph idx="12" type="sldNum"/>
          </p:nvPr>
        </p:nvSpPr>
        <p:spPr>
          <a:xfrm>
            <a:off x="8536302" y="6333134"/>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6" name="Shape 46"/>
        <p:cNvGrpSpPr/>
        <p:nvPr/>
      </p:nvGrpSpPr>
      <p:grpSpPr>
        <a:xfrm>
          <a:off x="0" y="0"/>
          <a:ext cx="0" cy="0"/>
          <a:chOff x="0" y="0"/>
          <a:chExt cx="0" cy="0"/>
        </a:xfrm>
      </p:grpSpPr>
      <p:sp>
        <p:nvSpPr>
          <p:cNvPr id="47" name="Google Shape;47;g19e16be1df3_0_35"/>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8" name="Google Shape;48;g19e16be1df3_0_35"/>
          <p:cNvGrpSpPr/>
          <p:nvPr/>
        </p:nvGrpSpPr>
        <p:grpSpPr>
          <a:xfrm>
            <a:off x="830392" y="1588427"/>
            <a:ext cx="745763" cy="61102"/>
            <a:chOff x="4580561" y="2589004"/>
            <a:chExt cx="1064464" cy="25200"/>
          </a:xfrm>
        </p:grpSpPr>
        <p:sp>
          <p:nvSpPr>
            <p:cNvPr id="49" name="Google Shape;49;g19e16be1df3_0_3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g19e16be1df3_0_3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1" name="Google Shape;51;g19e16be1df3_0_35"/>
          <p:cNvSpPr txBox="1"/>
          <p:nvPr>
            <p:ph type="title"/>
          </p:nvPr>
        </p:nvSpPr>
        <p:spPr>
          <a:xfrm>
            <a:off x="729450" y="1758200"/>
            <a:ext cx="7688400" cy="713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2" name="Google Shape;52;g19e16be1df3_0_35"/>
          <p:cNvSpPr txBox="1"/>
          <p:nvPr>
            <p:ph idx="12" type="sldNum"/>
          </p:nvPr>
        </p:nvSpPr>
        <p:spPr>
          <a:xfrm>
            <a:off x="8536302" y="6333134"/>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3" name="Shape 53"/>
        <p:cNvGrpSpPr/>
        <p:nvPr/>
      </p:nvGrpSpPr>
      <p:grpSpPr>
        <a:xfrm>
          <a:off x="0" y="0"/>
          <a:ext cx="0" cy="0"/>
          <a:chOff x="0" y="0"/>
          <a:chExt cx="0" cy="0"/>
        </a:xfrm>
      </p:grpSpPr>
      <p:sp>
        <p:nvSpPr>
          <p:cNvPr id="54" name="Google Shape;54;g19e16be1df3_0_42"/>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5" name="Google Shape;55;g19e16be1df3_0_42"/>
          <p:cNvGrpSpPr/>
          <p:nvPr/>
        </p:nvGrpSpPr>
        <p:grpSpPr>
          <a:xfrm>
            <a:off x="830392" y="1588427"/>
            <a:ext cx="745763" cy="61102"/>
            <a:chOff x="4580561" y="2589004"/>
            <a:chExt cx="1064464" cy="25200"/>
          </a:xfrm>
        </p:grpSpPr>
        <p:sp>
          <p:nvSpPr>
            <p:cNvPr id="56" name="Google Shape;56;g19e16be1df3_0_4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g19e16be1df3_0_4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8" name="Google Shape;58;g19e16be1df3_0_42"/>
          <p:cNvSpPr txBox="1"/>
          <p:nvPr>
            <p:ph type="title"/>
          </p:nvPr>
        </p:nvSpPr>
        <p:spPr>
          <a:xfrm>
            <a:off x="730000" y="1758200"/>
            <a:ext cx="3300900" cy="184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9" name="Google Shape;59;g19e16be1df3_0_42"/>
          <p:cNvSpPr txBox="1"/>
          <p:nvPr>
            <p:ph idx="1" type="body"/>
          </p:nvPr>
        </p:nvSpPr>
        <p:spPr>
          <a:xfrm>
            <a:off x="721225" y="3708967"/>
            <a:ext cx="3300900" cy="2130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0" name="Google Shape;60;g19e16be1df3_0_42"/>
          <p:cNvSpPr txBox="1"/>
          <p:nvPr>
            <p:ph idx="12" type="sldNum"/>
          </p:nvPr>
        </p:nvSpPr>
        <p:spPr>
          <a:xfrm>
            <a:off x="8536302" y="6333134"/>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61" name="Shape 61"/>
        <p:cNvGrpSpPr/>
        <p:nvPr/>
      </p:nvGrpSpPr>
      <p:grpSpPr>
        <a:xfrm>
          <a:off x="0" y="0"/>
          <a:ext cx="0" cy="0"/>
          <a:chOff x="0" y="0"/>
          <a:chExt cx="0" cy="0"/>
        </a:xfrm>
      </p:grpSpPr>
      <p:grpSp>
        <p:nvGrpSpPr>
          <p:cNvPr id="62" name="Google Shape;62;g19e16be1df3_0_50"/>
          <p:cNvGrpSpPr/>
          <p:nvPr/>
        </p:nvGrpSpPr>
        <p:grpSpPr>
          <a:xfrm>
            <a:off x="830392" y="5558926"/>
            <a:ext cx="745763" cy="61102"/>
            <a:chOff x="4580561" y="2589004"/>
            <a:chExt cx="1064464" cy="25200"/>
          </a:xfrm>
        </p:grpSpPr>
        <p:sp>
          <p:nvSpPr>
            <p:cNvPr id="63" name="Google Shape;63;g19e16be1df3_0_5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g19e16be1df3_0_5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5" name="Google Shape;65;g19e16be1df3_0_50"/>
          <p:cNvSpPr txBox="1"/>
          <p:nvPr>
            <p:ph type="title"/>
          </p:nvPr>
        </p:nvSpPr>
        <p:spPr>
          <a:xfrm>
            <a:off x="729450" y="1152400"/>
            <a:ext cx="7021200" cy="3980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6" name="Google Shape;66;g19e16be1df3_0_50"/>
          <p:cNvSpPr txBox="1"/>
          <p:nvPr>
            <p:ph idx="12" type="sldNum"/>
          </p:nvPr>
        </p:nvSpPr>
        <p:spPr>
          <a:xfrm>
            <a:off x="8536302" y="6333134"/>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7" name="Shape 67"/>
        <p:cNvGrpSpPr/>
        <p:nvPr/>
      </p:nvGrpSpPr>
      <p:grpSpPr>
        <a:xfrm>
          <a:off x="0" y="0"/>
          <a:ext cx="0" cy="0"/>
          <a:chOff x="0" y="0"/>
          <a:chExt cx="0" cy="0"/>
        </a:xfrm>
      </p:grpSpPr>
      <p:sp>
        <p:nvSpPr>
          <p:cNvPr id="68" name="Google Shape;68;g19e16be1df3_0_56"/>
          <p:cNvSpPr/>
          <p:nvPr/>
        </p:nvSpPr>
        <p:spPr>
          <a:xfrm>
            <a:off x="0" y="0"/>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9" name="Google Shape;69;g19e16be1df3_0_56"/>
          <p:cNvGrpSpPr/>
          <p:nvPr/>
        </p:nvGrpSpPr>
        <p:grpSpPr>
          <a:xfrm>
            <a:off x="830392" y="1588427"/>
            <a:ext cx="745763" cy="61102"/>
            <a:chOff x="4580561" y="2589004"/>
            <a:chExt cx="1064464" cy="25200"/>
          </a:xfrm>
        </p:grpSpPr>
        <p:sp>
          <p:nvSpPr>
            <p:cNvPr id="70" name="Google Shape;70;g19e16be1df3_0_5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g19e16be1df3_0_5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2" name="Google Shape;72;g19e16be1df3_0_56"/>
          <p:cNvSpPr txBox="1"/>
          <p:nvPr>
            <p:ph type="title"/>
          </p:nvPr>
        </p:nvSpPr>
        <p:spPr>
          <a:xfrm>
            <a:off x="730000" y="1758200"/>
            <a:ext cx="3300900" cy="2249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73" name="Google Shape;73;g19e16be1df3_0_56"/>
          <p:cNvSpPr txBox="1"/>
          <p:nvPr>
            <p:ph idx="1" type="subTitle"/>
          </p:nvPr>
        </p:nvSpPr>
        <p:spPr>
          <a:xfrm>
            <a:off x="724950" y="4215367"/>
            <a:ext cx="3300900" cy="1011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74" name="Google Shape;74;g19e16be1df3_0_56"/>
          <p:cNvSpPr txBox="1"/>
          <p:nvPr>
            <p:ph idx="2" type="body"/>
          </p:nvPr>
        </p:nvSpPr>
        <p:spPr>
          <a:xfrm>
            <a:off x="5174225" y="1803500"/>
            <a:ext cx="3374400" cy="4034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5" name="Google Shape;75;g19e16be1df3_0_56"/>
          <p:cNvSpPr txBox="1"/>
          <p:nvPr>
            <p:ph idx="12" type="sldNum"/>
          </p:nvPr>
        </p:nvSpPr>
        <p:spPr>
          <a:xfrm>
            <a:off x="8536302" y="6333134"/>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6" name="Shape 76"/>
        <p:cNvGrpSpPr/>
        <p:nvPr/>
      </p:nvGrpSpPr>
      <p:grpSpPr>
        <a:xfrm>
          <a:off x="0" y="0"/>
          <a:ext cx="0" cy="0"/>
          <a:chOff x="0" y="0"/>
          <a:chExt cx="0" cy="0"/>
        </a:xfrm>
      </p:grpSpPr>
      <p:sp>
        <p:nvSpPr>
          <p:cNvPr id="77" name="Google Shape;77;g19e16be1df3_0_65"/>
          <p:cNvSpPr txBox="1"/>
          <p:nvPr>
            <p:ph idx="1" type="body"/>
          </p:nvPr>
        </p:nvSpPr>
        <p:spPr>
          <a:xfrm>
            <a:off x="724950" y="5830068"/>
            <a:ext cx="7697400" cy="614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78" name="Google Shape;78;g19e16be1df3_0_65"/>
          <p:cNvSpPr txBox="1"/>
          <p:nvPr>
            <p:ph idx="12" type="sldNum"/>
          </p:nvPr>
        </p:nvSpPr>
        <p:spPr>
          <a:xfrm>
            <a:off x="8536302" y="6333134"/>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9" name="Shape 79"/>
        <p:cNvGrpSpPr/>
        <p:nvPr/>
      </p:nvGrpSpPr>
      <p:grpSpPr>
        <a:xfrm>
          <a:off x="0" y="0"/>
          <a:ext cx="0" cy="0"/>
          <a:chOff x="0" y="0"/>
          <a:chExt cx="0" cy="0"/>
        </a:xfrm>
      </p:grpSpPr>
      <p:grpSp>
        <p:nvGrpSpPr>
          <p:cNvPr id="80" name="Google Shape;80;g19e16be1df3_0_68"/>
          <p:cNvGrpSpPr/>
          <p:nvPr/>
        </p:nvGrpSpPr>
        <p:grpSpPr>
          <a:xfrm>
            <a:off x="830392" y="5558926"/>
            <a:ext cx="745763" cy="61102"/>
            <a:chOff x="4580561" y="2589004"/>
            <a:chExt cx="1064464" cy="25200"/>
          </a:xfrm>
        </p:grpSpPr>
        <p:sp>
          <p:nvSpPr>
            <p:cNvPr id="81" name="Google Shape;81;g19e16be1df3_0_6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g19e16be1df3_0_6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3" name="Google Shape;83;g19e16be1df3_0_68"/>
          <p:cNvSpPr txBox="1"/>
          <p:nvPr>
            <p:ph hasCustomPrompt="1" type="title"/>
          </p:nvPr>
        </p:nvSpPr>
        <p:spPr>
          <a:xfrm>
            <a:off x="729450" y="978600"/>
            <a:ext cx="7688400" cy="1659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4" name="Google Shape;84;g19e16be1df3_0_68"/>
          <p:cNvSpPr txBox="1"/>
          <p:nvPr>
            <p:ph idx="1" type="body"/>
          </p:nvPr>
        </p:nvSpPr>
        <p:spPr>
          <a:xfrm>
            <a:off x="729450" y="3030517"/>
            <a:ext cx="7688400" cy="2107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85" name="Google Shape;85;g19e16be1df3_0_68"/>
          <p:cNvSpPr txBox="1"/>
          <p:nvPr>
            <p:ph idx="12" type="sldNum"/>
          </p:nvPr>
        </p:nvSpPr>
        <p:spPr>
          <a:xfrm>
            <a:off x="8536302" y="6333134"/>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g19e16be1df3_0_75"/>
          <p:cNvSpPr txBox="1"/>
          <p:nvPr>
            <p:ph idx="12" type="sldNum"/>
          </p:nvPr>
        </p:nvSpPr>
        <p:spPr>
          <a:xfrm>
            <a:off x="8536302" y="6333134"/>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g19e16be1df3_0_0"/>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g19e16be1df3_0_0"/>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g19e16be1df3_0_0"/>
          <p:cNvSpPr txBox="1"/>
          <p:nvPr>
            <p:ph idx="12" type="sldNum"/>
          </p:nvPr>
        </p:nvSpPr>
        <p:spPr>
          <a:xfrm>
            <a:off x="8536302" y="6333134"/>
            <a:ext cx="548700" cy="5247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0.png"/><Relationship Id="rId6" Type="http://schemas.openxmlformats.org/officeDocument/2006/relationships/image" Target="../media/image19.png"/><Relationship Id="rId7"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5.png"/><Relationship Id="rId4" Type="http://schemas.openxmlformats.org/officeDocument/2006/relationships/hyperlink" Target="about:blank"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txBox="1"/>
          <p:nvPr>
            <p:ph type="ctrTitle"/>
          </p:nvPr>
        </p:nvSpPr>
        <p:spPr>
          <a:xfrm>
            <a:off x="3366868" y="1219200"/>
            <a:ext cx="5319932" cy="2182368"/>
          </a:xfrm>
          <a:prstGeom prst="rect">
            <a:avLst/>
          </a:prstGeom>
          <a:noFill/>
          <a:ln>
            <a:noFill/>
          </a:ln>
        </p:spPr>
        <p:txBody>
          <a:bodyPr anchorCtr="0" anchor="b" bIns="0" lIns="45700" spcFirstLastPara="1" rIns="45700" wrap="square" tIns="0">
            <a:noAutofit/>
          </a:bodyPr>
          <a:lstStyle/>
          <a:p>
            <a:pPr indent="0" lvl="0" marL="0" rtl="1" algn="ctr">
              <a:lnSpc>
                <a:spcPct val="100000"/>
              </a:lnSpc>
              <a:spcBef>
                <a:spcPts val="0"/>
              </a:spcBef>
              <a:spcAft>
                <a:spcPts val="0"/>
              </a:spcAft>
              <a:buClr>
                <a:srgbClr val="FEF7F0"/>
              </a:buClr>
              <a:buSzPts val="4200"/>
              <a:buFont typeface="Trebuchet MS"/>
              <a:buNone/>
            </a:pPr>
            <a:r>
              <a:rPr lang="en-US"/>
              <a:t>CH-20 </a:t>
            </a:r>
            <a:br>
              <a:rPr lang="en-US"/>
            </a:br>
            <a:r>
              <a:rPr lang="en-US"/>
              <a:t>INTRO TO </a:t>
            </a:r>
            <a:br>
              <a:rPr lang="en-US"/>
            </a:br>
            <a:r>
              <a:rPr lang="en-US"/>
              <a:t>NETWORK LAYER</a:t>
            </a:r>
            <a:endParaRPr/>
          </a:p>
        </p:txBody>
      </p:sp>
      <p:sp>
        <p:nvSpPr>
          <p:cNvPr id="93" name="Google Shape;93;p1"/>
          <p:cNvSpPr txBox="1"/>
          <p:nvPr>
            <p:ph idx="1" type="subTitle"/>
          </p:nvPr>
        </p:nvSpPr>
        <p:spPr>
          <a:xfrm>
            <a:off x="3131418" y="3669961"/>
            <a:ext cx="5114778" cy="1101248"/>
          </a:xfrm>
          <a:prstGeom prst="rect">
            <a:avLst/>
          </a:prstGeom>
          <a:noFill/>
          <a:ln>
            <a:noFill/>
          </a:ln>
        </p:spPr>
        <p:txBody>
          <a:bodyPr anchorCtr="0" anchor="t" bIns="0" lIns="45700" spcFirstLastPara="1" rIns="45700" wrap="square" tIns="0">
            <a:normAutofit/>
          </a:bodyPr>
          <a:lstStyle/>
          <a:p>
            <a:pPr indent="0" lvl="0" marL="0" rtl="1" algn="ctr">
              <a:lnSpc>
                <a:spcPct val="100000"/>
              </a:lnSpc>
              <a:spcBef>
                <a:spcPts val="0"/>
              </a:spcBef>
              <a:spcAft>
                <a:spcPts val="0"/>
              </a:spcAft>
              <a:buSzPts val="2920"/>
              <a:buNone/>
            </a:pPr>
            <a:r>
              <a:rPr lang="en-US" sz="4000"/>
              <a:t>Section 2</a:t>
            </a:r>
            <a:endParaRPr sz="4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ph type="title"/>
          </p:nvPr>
        </p:nvSpPr>
        <p:spPr>
          <a:xfrm>
            <a:off x="457200" y="320046"/>
            <a:ext cx="7239000" cy="632400"/>
          </a:xfrm>
          <a:prstGeom prst="rect">
            <a:avLst/>
          </a:prstGeom>
          <a:noFill/>
          <a:ln>
            <a:noFill/>
          </a:ln>
        </p:spPr>
        <p:txBody>
          <a:bodyPr anchorCtr="0" anchor="b" bIns="0" lIns="45700" spcFirstLastPara="1" rIns="45700" wrap="square" tIns="0">
            <a:normAutofit/>
          </a:bodyPr>
          <a:lstStyle/>
          <a:p>
            <a:pPr indent="0" lvl="0" marL="0" rtl="1" algn="l">
              <a:lnSpc>
                <a:spcPct val="100000"/>
              </a:lnSpc>
              <a:spcBef>
                <a:spcPts val="0"/>
              </a:spcBef>
              <a:spcAft>
                <a:spcPts val="0"/>
              </a:spcAft>
              <a:buClr>
                <a:srgbClr val="FEF7F0"/>
              </a:buClr>
              <a:buSzPts val="3800"/>
              <a:buFont typeface="Trebuchet MS"/>
              <a:buNone/>
            </a:pPr>
            <a:r>
              <a:rPr lang="en-US"/>
              <a:t>CONTENT</a:t>
            </a:r>
            <a:endParaRPr/>
          </a:p>
        </p:txBody>
      </p:sp>
      <p:sp>
        <p:nvSpPr>
          <p:cNvPr id="99" name="Google Shape;99;p2"/>
          <p:cNvSpPr txBox="1"/>
          <p:nvPr>
            <p:ph idx="1" type="body"/>
          </p:nvPr>
        </p:nvSpPr>
        <p:spPr>
          <a:xfrm>
            <a:off x="293900" y="1189250"/>
            <a:ext cx="8077200" cy="5029200"/>
          </a:xfrm>
          <a:prstGeom prst="rect">
            <a:avLst/>
          </a:prstGeom>
          <a:noFill/>
          <a:ln>
            <a:noFill/>
          </a:ln>
        </p:spPr>
        <p:txBody>
          <a:bodyPr anchorCtr="0" anchor="t" bIns="45700" lIns="91425" spcFirstLastPara="1" rIns="91425" wrap="square" tIns="45700">
            <a:normAutofit fontScale="92500" lnSpcReduction="20000"/>
          </a:bodyPr>
          <a:lstStyle/>
          <a:p>
            <a:pPr indent="-264585" lvl="0" marL="274320" rtl="0" algn="l">
              <a:lnSpc>
                <a:spcPct val="115000"/>
              </a:lnSpc>
              <a:spcBef>
                <a:spcPts val="0"/>
              </a:spcBef>
              <a:spcAft>
                <a:spcPts val="0"/>
              </a:spcAft>
              <a:buSzPct val="73000"/>
              <a:buChar char="●"/>
            </a:pPr>
            <a:r>
              <a:rPr b="1" lang="en-US" sz="2800">
                <a:solidFill>
                  <a:srgbClr val="A24A73"/>
                </a:solidFill>
              </a:rPr>
              <a:t>Introduction</a:t>
            </a:r>
            <a:endParaRPr/>
          </a:p>
          <a:p>
            <a:pPr indent="-264585" lvl="0" marL="274320" rtl="0" algn="l">
              <a:lnSpc>
                <a:spcPct val="115000"/>
              </a:lnSpc>
              <a:spcBef>
                <a:spcPts val="600"/>
              </a:spcBef>
              <a:spcAft>
                <a:spcPts val="0"/>
              </a:spcAft>
              <a:buSzPct val="73000"/>
              <a:buChar char="●"/>
            </a:pPr>
            <a:r>
              <a:rPr b="1" lang="en-US" sz="2800">
                <a:solidFill>
                  <a:srgbClr val="A24A73"/>
                </a:solidFill>
              </a:rPr>
              <a:t>Distance-Vector Routing</a:t>
            </a:r>
            <a:endParaRPr/>
          </a:p>
          <a:p>
            <a:pPr indent="-274320" lvl="0" marL="274320" rtl="0" algn="l">
              <a:lnSpc>
                <a:spcPct val="115000"/>
              </a:lnSpc>
              <a:spcBef>
                <a:spcPts val="600"/>
              </a:spcBef>
              <a:spcAft>
                <a:spcPts val="0"/>
              </a:spcAft>
              <a:buSzPct val="73000"/>
              <a:buNone/>
            </a:pPr>
            <a:r>
              <a:rPr lang="en-US" sz="2000"/>
              <a:t>     - Bellman-Ford Equation.</a:t>
            </a:r>
            <a:endParaRPr/>
          </a:p>
          <a:p>
            <a:pPr indent="-274320" lvl="0" marL="274320" rtl="0" algn="l">
              <a:lnSpc>
                <a:spcPct val="115000"/>
              </a:lnSpc>
              <a:spcBef>
                <a:spcPts val="600"/>
              </a:spcBef>
              <a:spcAft>
                <a:spcPts val="0"/>
              </a:spcAft>
              <a:buSzPct val="73000"/>
              <a:buNone/>
            </a:pPr>
            <a:r>
              <a:rPr lang="en-US" sz="2000"/>
              <a:t>     - Distance Vectors.</a:t>
            </a:r>
            <a:endParaRPr/>
          </a:p>
          <a:p>
            <a:pPr indent="-274320" lvl="0" marL="274320" rtl="0" algn="l">
              <a:lnSpc>
                <a:spcPct val="115000"/>
              </a:lnSpc>
              <a:spcBef>
                <a:spcPts val="600"/>
              </a:spcBef>
              <a:spcAft>
                <a:spcPts val="0"/>
              </a:spcAft>
              <a:buSzPct val="73000"/>
              <a:buNone/>
            </a:pPr>
            <a:r>
              <a:rPr lang="en-US" sz="2000"/>
              <a:t>     - Distance-Vector Routing Algorithm.</a:t>
            </a:r>
            <a:endParaRPr/>
          </a:p>
          <a:p>
            <a:pPr indent="-264585" lvl="0" marL="274320" rtl="0" algn="l">
              <a:lnSpc>
                <a:spcPct val="115000"/>
              </a:lnSpc>
              <a:spcBef>
                <a:spcPts val="600"/>
              </a:spcBef>
              <a:spcAft>
                <a:spcPts val="0"/>
              </a:spcAft>
              <a:buSzPct val="73000"/>
              <a:buChar char="●"/>
            </a:pPr>
            <a:r>
              <a:rPr b="1" lang="en-US" sz="2800">
                <a:solidFill>
                  <a:srgbClr val="A24A73"/>
                </a:solidFill>
              </a:rPr>
              <a:t>Link-State Routing</a:t>
            </a:r>
            <a:endParaRPr/>
          </a:p>
          <a:p>
            <a:pPr indent="-274320" lvl="0" marL="274320" rtl="0" algn="l">
              <a:lnSpc>
                <a:spcPct val="115000"/>
              </a:lnSpc>
              <a:spcBef>
                <a:spcPts val="600"/>
              </a:spcBef>
              <a:spcAft>
                <a:spcPts val="0"/>
              </a:spcAft>
              <a:buSzPct val="73000"/>
              <a:buNone/>
            </a:pPr>
            <a:r>
              <a:rPr b="1" lang="en-US" sz="2400"/>
              <a:t>     </a:t>
            </a:r>
            <a:r>
              <a:rPr lang="en-US" sz="2400"/>
              <a:t>- Link-State Database (LSDB).</a:t>
            </a:r>
            <a:endParaRPr/>
          </a:p>
          <a:p>
            <a:pPr indent="-274320" lvl="0" marL="274320" rtl="0" algn="l">
              <a:lnSpc>
                <a:spcPct val="115000"/>
              </a:lnSpc>
              <a:spcBef>
                <a:spcPts val="600"/>
              </a:spcBef>
              <a:spcAft>
                <a:spcPts val="0"/>
              </a:spcAft>
              <a:buSzPct val="73000"/>
              <a:buNone/>
            </a:pPr>
            <a:r>
              <a:rPr lang="en-US" sz="2400"/>
              <a:t>     - Formation of Least-Cost Trees.</a:t>
            </a:r>
            <a:endParaRPr/>
          </a:p>
          <a:p>
            <a:pPr indent="-264585" lvl="0" marL="274320" rtl="0" algn="l">
              <a:lnSpc>
                <a:spcPct val="115000"/>
              </a:lnSpc>
              <a:spcBef>
                <a:spcPts val="600"/>
              </a:spcBef>
              <a:spcAft>
                <a:spcPts val="0"/>
              </a:spcAft>
              <a:buSzPct val="73000"/>
              <a:buChar char="●"/>
            </a:pPr>
            <a:r>
              <a:rPr b="1" lang="en-US" sz="2800">
                <a:solidFill>
                  <a:srgbClr val="A24A73"/>
                </a:solidFill>
              </a:rPr>
              <a:t>Path-Vector Routing</a:t>
            </a:r>
            <a:endParaRPr/>
          </a:p>
          <a:p>
            <a:pPr indent="-274320" lvl="0" marL="274320" rtl="0" algn="l">
              <a:lnSpc>
                <a:spcPct val="115000"/>
              </a:lnSpc>
              <a:spcBef>
                <a:spcPts val="600"/>
              </a:spcBef>
              <a:spcAft>
                <a:spcPts val="0"/>
              </a:spcAft>
              <a:buSzPct val="73000"/>
              <a:buNone/>
            </a:pPr>
            <a:r>
              <a:rPr lang="en-US" sz="2400"/>
              <a:t>     - Spanning Trees.</a:t>
            </a:r>
            <a:endParaRPr/>
          </a:p>
          <a:p>
            <a:pPr indent="-274320" lvl="0" marL="274320" rtl="0" algn="l">
              <a:lnSpc>
                <a:spcPct val="115000"/>
              </a:lnSpc>
              <a:spcBef>
                <a:spcPts val="600"/>
              </a:spcBef>
              <a:spcAft>
                <a:spcPts val="0"/>
              </a:spcAft>
              <a:buSzPct val="73000"/>
              <a:buNone/>
            </a:pPr>
            <a:r>
              <a:rPr lang="en-US" sz="2400"/>
              <a:t>     - Creation of Spanning Trees.</a:t>
            </a:r>
            <a:endParaRPr/>
          </a:p>
          <a:p>
            <a:pPr indent="-274320" lvl="0" marL="274320" rtl="0" algn="l">
              <a:lnSpc>
                <a:spcPct val="115000"/>
              </a:lnSpc>
              <a:spcBef>
                <a:spcPts val="600"/>
              </a:spcBef>
              <a:spcAft>
                <a:spcPts val="1200"/>
              </a:spcAft>
              <a:buSzPct val="73000"/>
              <a:buNone/>
            </a:pPr>
            <a:r>
              <a:rPr lang="en-US" sz="2400"/>
              <a:t>     - Path-Vector Algorithm.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
          <p:cNvSpPr txBox="1"/>
          <p:nvPr>
            <p:ph type="title"/>
          </p:nvPr>
        </p:nvSpPr>
        <p:spPr>
          <a:xfrm>
            <a:off x="457200" y="320040"/>
            <a:ext cx="7239000" cy="1143000"/>
          </a:xfrm>
          <a:prstGeom prst="rect">
            <a:avLst/>
          </a:prstGeom>
          <a:noFill/>
          <a:ln>
            <a:noFill/>
          </a:ln>
        </p:spPr>
        <p:txBody>
          <a:bodyPr anchorCtr="0" anchor="b" bIns="0" lIns="45700" spcFirstLastPara="1" rIns="45700" wrap="square" tIns="0">
            <a:normAutofit/>
          </a:bodyPr>
          <a:lstStyle/>
          <a:p>
            <a:pPr indent="0" lvl="0" marL="0" rtl="1" algn="l">
              <a:lnSpc>
                <a:spcPct val="100000"/>
              </a:lnSpc>
              <a:spcBef>
                <a:spcPts val="0"/>
              </a:spcBef>
              <a:spcAft>
                <a:spcPts val="0"/>
              </a:spcAft>
              <a:buClr>
                <a:srgbClr val="FEF7F0"/>
              </a:buClr>
              <a:buSzPts val="3800"/>
              <a:buFont typeface="Trebuchet MS"/>
              <a:buNone/>
            </a:pPr>
            <a:r>
              <a:rPr lang="en-US"/>
              <a:t>INTRODUCTION</a:t>
            </a:r>
            <a:endParaRPr/>
          </a:p>
        </p:txBody>
      </p:sp>
      <p:sp>
        <p:nvSpPr>
          <p:cNvPr id="105" name="Google Shape;105;p3"/>
          <p:cNvSpPr txBox="1"/>
          <p:nvPr/>
        </p:nvSpPr>
        <p:spPr>
          <a:xfrm>
            <a:off x="156949" y="1733266"/>
            <a:ext cx="7391400" cy="341632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rebuchet MS"/>
                <a:ea typeface="Trebuchet MS"/>
                <a:cs typeface="Trebuchet MS"/>
                <a:sym typeface="Trebuchet MS"/>
              </a:rPr>
              <a:t>An internet is a combination of networks connected by routers. When a datagram goes from a source to a destination, it will probably pass through many routers until it reaches the router attached to the destination network.</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rgbClr val="FF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FF0000"/>
              </a:solidFill>
              <a:latin typeface="Times"/>
              <a:ea typeface="Times"/>
              <a:cs typeface="Times"/>
              <a:sym typeface="Times"/>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FF0000"/>
              </a:solidFill>
              <a:latin typeface="Times"/>
              <a:ea typeface="Times"/>
              <a:cs typeface="Times"/>
              <a:sym typeface="Times"/>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txBox="1"/>
          <p:nvPr>
            <p:ph type="title"/>
          </p:nvPr>
        </p:nvSpPr>
        <p:spPr>
          <a:xfrm>
            <a:off x="457200" y="152400"/>
            <a:ext cx="7239000" cy="1752600"/>
          </a:xfrm>
          <a:prstGeom prst="rect">
            <a:avLst/>
          </a:prstGeom>
          <a:noFill/>
          <a:ln>
            <a:noFill/>
          </a:ln>
        </p:spPr>
        <p:txBody>
          <a:bodyPr anchorCtr="0" anchor="b" bIns="0" lIns="45700" spcFirstLastPara="1" rIns="45700" wrap="square" tIns="0">
            <a:normAutofit fontScale="90000"/>
          </a:bodyPr>
          <a:lstStyle/>
          <a:p>
            <a:pPr indent="0" lvl="0" marL="0" rtl="1" algn="ctr">
              <a:lnSpc>
                <a:spcPct val="100000"/>
              </a:lnSpc>
              <a:spcBef>
                <a:spcPts val="0"/>
              </a:spcBef>
              <a:spcAft>
                <a:spcPts val="0"/>
              </a:spcAft>
              <a:buClr>
                <a:srgbClr val="FF0000"/>
              </a:buClr>
              <a:buSzPct val="100000"/>
              <a:buFont typeface="Times"/>
              <a:buNone/>
            </a:pPr>
            <a:br>
              <a:rPr lang="en-US" sz="4000">
                <a:solidFill>
                  <a:srgbClr val="FF0000"/>
                </a:solidFill>
                <a:latin typeface="Times"/>
                <a:ea typeface="Times"/>
                <a:cs typeface="Times"/>
                <a:sym typeface="Times"/>
              </a:rPr>
            </a:br>
            <a:br>
              <a:rPr lang="en-US" sz="4000">
                <a:solidFill>
                  <a:srgbClr val="FF0000"/>
                </a:solidFill>
                <a:latin typeface="Times"/>
                <a:ea typeface="Times"/>
                <a:cs typeface="Times"/>
                <a:sym typeface="Times"/>
              </a:rPr>
            </a:br>
            <a:br>
              <a:rPr lang="en-US" sz="4000">
                <a:solidFill>
                  <a:srgbClr val="FF0000"/>
                </a:solidFill>
                <a:latin typeface="Times"/>
                <a:ea typeface="Times"/>
                <a:cs typeface="Times"/>
                <a:sym typeface="Times"/>
              </a:rPr>
            </a:br>
            <a:br>
              <a:rPr lang="en-US" sz="4000">
                <a:solidFill>
                  <a:srgbClr val="FF0000"/>
                </a:solidFill>
                <a:latin typeface="Times"/>
                <a:ea typeface="Times"/>
                <a:cs typeface="Times"/>
                <a:sym typeface="Times"/>
              </a:rPr>
            </a:br>
            <a:br>
              <a:rPr lang="en-US" sz="4000">
                <a:solidFill>
                  <a:srgbClr val="FF0000"/>
                </a:solidFill>
                <a:latin typeface="Times"/>
                <a:ea typeface="Times"/>
                <a:cs typeface="Times"/>
                <a:sym typeface="Times"/>
              </a:rPr>
            </a:br>
            <a:br>
              <a:rPr lang="en-US" sz="4000">
                <a:solidFill>
                  <a:srgbClr val="FF0000"/>
                </a:solidFill>
                <a:latin typeface="Times"/>
                <a:ea typeface="Times"/>
                <a:cs typeface="Times"/>
                <a:sym typeface="Times"/>
              </a:rPr>
            </a:br>
            <a:br>
              <a:rPr lang="en-US" sz="4000">
                <a:solidFill>
                  <a:srgbClr val="FF0000"/>
                </a:solidFill>
                <a:latin typeface="Times"/>
                <a:ea typeface="Times"/>
                <a:cs typeface="Times"/>
                <a:sym typeface="Times"/>
              </a:rPr>
            </a:br>
            <a:r>
              <a:rPr lang="en-US" sz="4200"/>
              <a:t>INTER AND INTRA-DOMAIN ROUTING</a:t>
            </a:r>
            <a:br>
              <a:rPr lang="en-US" sz="4200"/>
            </a:br>
            <a:endParaRPr sz="4200"/>
          </a:p>
        </p:txBody>
      </p:sp>
      <p:sp>
        <p:nvSpPr>
          <p:cNvPr id="111" name="Google Shape;111;p4"/>
          <p:cNvSpPr txBox="1"/>
          <p:nvPr>
            <p:ph idx="1" type="body"/>
          </p:nvPr>
        </p:nvSpPr>
        <p:spPr>
          <a:xfrm>
            <a:off x="457200" y="1609416"/>
            <a:ext cx="7239000" cy="4846320"/>
          </a:xfrm>
          <a:prstGeom prst="rect">
            <a:avLst/>
          </a:prstGeom>
          <a:noFill/>
          <a:ln>
            <a:noFill/>
          </a:ln>
        </p:spPr>
        <p:txBody>
          <a:bodyPr anchorCtr="0" anchor="t" bIns="45700" lIns="91425" spcFirstLastPara="1" rIns="91425" wrap="square" tIns="45700">
            <a:normAutofit fontScale="85000" lnSpcReduction="10000"/>
          </a:bodyPr>
          <a:lstStyle/>
          <a:p>
            <a:pPr indent="-154260" lvl="0" marL="274320" rtl="1" algn="r">
              <a:lnSpc>
                <a:spcPct val="115000"/>
              </a:lnSpc>
              <a:spcBef>
                <a:spcPts val="0"/>
              </a:spcBef>
              <a:spcAft>
                <a:spcPts val="0"/>
              </a:spcAft>
              <a:buSzPct val="73000"/>
              <a:buNone/>
            </a:pPr>
            <a:r>
              <a:t/>
            </a:r>
            <a:endParaRPr sz="2800">
              <a:solidFill>
                <a:srgbClr val="FF0000"/>
              </a:solidFill>
              <a:latin typeface="Times"/>
              <a:ea typeface="Times"/>
              <a:cs typeface="Times"/>
              <a:sym typeface="Times"/>
            </a:endParaRPr>
          </a:p>
          <a:p>
            <a:pPr indent="0" lvl="0" marL="0" rtl="1" algn="l">
              <a:lnSpc>
                <a:spcPct val="115000"/>
              </a:lnSpc>
              <a:spcBef>
                <a:spcPts val="600"/>
              </a:spcBef>
              <a:spcAft>
                <a:spcPts val="0"/>
              </a:spcAft>
              <a:buSzPct val="73000"/>
              <a:buNone/>
            </a:pPr>
            <a:r>
              <a:rPr lang="en-US" sz="2800">
                <a:latin typeface="Arimo"/>
                <a:ea typeface="Arimo"/>
                <a:cs typeface="Arimo"/>
                <a:sym typeface="Arimo"/>
              </a:rPr>
              <a:t>Today, an internet can be so large that one routing protocol cannot handle the task of updating the routing tables of all routers. For this reason, an internet is divided into autonomous systems. </a:t>
            </a:r>
            <a:endParaRPr sz="2800">
              <a:latin typeface="Arimo"/>
              <a:ea typeface="Arimo"/>
              <a:cs typeface="Arimo"/>
              <a:sym typeface="Arimo"/>
            </a:endParaRPr>
          </a:p>
          <a:p>
            <a:pPr indent="0" lvl="0" marL="0" rtl="1" algn="l">
              <a:lnSpc>
                <a:spcPct val="115000"/>
              </a:lnSpc>
              <a:spcBef>
                <a:spcPts val="600"/>
              </a:spcBef>
              <a:spcAft>
                <a:spcPts val="0"/>
              </a:spcAft>
              <a:buSzPct val="73000"/>
              <a:buNone/>
            </a:pPr>
            <a:r>
              <a:rPr lang="en-US" sz="2800">
                <a:latin typeface="Arimo"/>
                <a:ea typeface="Arimo"/>
                <a:cs typeface="Arimo"/>
                <a:sym typeface="Arimo"/>
              </a:rPr>
              <a:t>An autonomous system (AS) is a group of networks and routers under the authority of a single administration. Routing inside an autonomous system is called intra-domain routing. Routing between autonomous systems is called inter-domain routing</a:t>
            </a:r>
            <a:endParaRPr/>
          </a:p>
          <a:p>
            <a:pPr indent="-162836" lvl="0" marL="274320" rtl="1" algn="r">
              <a:lnSpc>
                <a:spcPct val="115000"/>
              </a:lnSpc>
              <a:spcBef>
                <a:spcPts val="600"/>
              </a:spcBef>
              <a:spcAft>
                <a:spcPts val="1200"/>
              </a:spcAft>
              <a:buSzPct val="145999"/>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5"/>
          <p:cNvSpPr txBox="1"/>
          <p:nvPr>
            <p:ph type="title"/>
          </p:nvPr>
        </p:nvSpPr>
        <p:spPr>
          <a:xfrm>
            <a:off x="395785" y="762000"/>
            <a:ext cx="7239000" cy="533400"/>
          </a:xfrm>
          <a:prstGeom prst="rect">
            <a:avLst/>
          </a:prstGeom>
          <a:noFill/>
          <a:ln>
            <a:noFill/>
          </a:ln>
        </p:spPr>
        <p:txBody>
          <a:bodyPr anchorCtr="0" anchor="b" bIns="0" lIns="45700" spcFirstLastPara="1" rIns="45700" wrap="square" tIns="0">
            <a:normAutofit fontScale="90000"/>
          </a:bodyPr>
          <a:lstStyle/>
          <a:p>
            <a:pPr indent="0" lvl="0" marL="0" rtl="1" algn="l">
              <a:lnSpc>
                <a:spcPct val="100000"/>
              </a:lnSpc>
              <a:spcBef>
                <a:spcPts val="0"/>
              </a:spcBef>
              <a:spcAft>
                <a:spcPts val="0"/>
              </a:spcAft>
              <a:buClr>
                <a:srgbClr val="FEF7F0"/>
              </a:buClr>
              <a:buSzPct val="100000"/>
              <a:buFont typeface="Trebuchet MS"/>
              <a:buNone/>
            </a:pPr>
            <a:r>
              <a:rPr lang="en-US" sz="4200"/>
              <a:t>AUTONOMOUS SYSTEMS</a:t>
            </a:r>
            <a:br>
              <a:rPr i="1" lang="en-US">
                <a:latin typeface="Times New Roman"/>
                <a:ea typeface="Times New Roman"/>
                <a:cs typeface="Times New Roman"/>
                <a:sym typeface="Times New Roman"/>
              </a:rPr>
            </a:br>
            <a:endParaRPr/>
          </a:p>
        </p:txBody>
      </p:sp>
      <p:pic>
        <p:nvPicPr>
          <p:cNvPr id="117" name="Google Shape;117;p5"/>
          <p:cNvPicPr preferRelativeResize="0"/>
          <p:nvPr/>
        </p:nvPicPr>
        <p:blipFill rotWithShape="1">
          <a:blip r:embed="rId3">
            <a:alphaModFix/>
          </a:blip>
          <a:srcRect b="0" l="0" r="0" t="0"/>
          <a:stretch/>
        </p:blipFill>
        <p:spPr>
          <a:xfrm>
            <a:off x="381000" y="1295400"/>
            <a:ext cx="2432050" cy="2794000"/>
          </a:xfrm>
          <a:prstGeom prst="rect">
            <a:avLst/>
          </a:prstGeom>
          <a:noFill/>
          <a:ln>
            <a:noFill/>
          </a:ln>
        </p:spPr>
      </p:pic>
      <p:pic>
        <p:nvPicPr>
          <p:cNvPr id="118" name="Google Shape;118;p5"/>
          <p:cNvPicPr preferRelativeResize="0"/>
          <p:nvPr/>
        </p:nvPicPr>
        <p:blipFill rotWithShape="1">
          <a:blip r:embed="rId4">
            <a:alphaModFix/>
          </a:blip>
          <a:srcRect b="0" l="0" r="0" t="0"/>
          <a:stretch/>
        </p:blipFill>
        <p:spPr>
          <a:xfrm>
            <a:off x="2878138" y="2532063"/>
            <a:ext cx="2989262" cy="1582737"/>
          </a:xfrm>
          <a:prstGeom prst="rect">
            <a:avLst/>
          </a:prstGeom>
          <a:noFill/>
          <a:ln>
            <a:noFill/>
          </a:ln>
        </p:spPr>
      </p:pic>
      <p:pic>
        <p:nvPicPr>
          <p:cNvPr id="119" name="Google Shape;119;p5"/>
          <p:cNvPicPr preferRelativeResize="0"/>
          <p:nvPr/>
        </p:nvPicPr>
        <p:blipFill rotWithShape="1">
          <a:blip r:embed="rId5">
            <a:alphaModFix/>
          </a:blip>
          <a:srcRect b="0" l="0" r="0" t="0"/>
          <a:stretch/>
        </p:blipFill>
        <p:spPr>
          <a:xfrm>
            <a:off x="309563" y="4244975"/>
            <a:ext cx="5557837" cy="2079625"/>
          </a:xfrm>
          <a:prstGeom prst="rect">
            <a:avLst/>
          </a:prstGeom>
          <a:noFill/>
          <a:ln>
            <a:noFill/>
          </a:ln>
        </p:spPr>
      </p:pic>
      <p:pic>
        <p:nvPicPr>
          <p:cNvPr id="120" name="Google Shape;120;p5"/>
          <p:cNvPicPr preferRelativeResize="0"/>
          <p:nvPr/>
        </p:nvPicPr>
        <p:blipFill rotWithShape="1">
          <a:blip r:embed="rId6">
            <a:alphaModFix/>
          </a:blip>
          <a:srcRect b="0" l="0" r="0" t="0"/>
          <a:stretch/>
        </p:blipFill>
        <p:spPr>
          <a:xfrm>
            <a:off x="6038850" y="4724400"/>
            <a:ext cx="2495550" cy="1468437"/>
          </a:xfrm>
          <a:prstGeom prst="rect">
            <a:avLst/>
          </a:prstGeom>
          <a:noFill/>
          <a:ln>
            <a:noFill/>
          </a:ln>
        </p:spPr>
      </p:pic>
      <p:pic>
        <p:nvPicPr>
          <p:cNvPr id="121" name="Google Shape;121;p5"/>
          <p:cNvPicPr preferRelativeResize="0"/>
          <p:nvPr/>
        </p:nvPicPr>
        <p:blipFill rotWithShape="1">
          <a:blip r:embed="rId7">
            <a:alphaModFix/>
          </a:blip>
          <a:srcRect b="0" l="0" r="0" t="0"/>
          <a:stretch/>
        </p:blipFill>
        <p:spPr>
          <a:xfrm>
            <a:off x="2397125" y="2743200"/>
            <a:ext cx="803275" cy="1828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1000"/>
                                        <p:tgtEl>
                                          <p:spTgt spid="1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6"/>
          <p:cNvSpPr txBox="1"/>
          <p:nvPr>
            <p:ph type="title"/>
          </p:nvPr>
        </p:nvSpPr>
        <p:spPr>
          <a:xfrm>
            <a:off x="457200" y="320040"/>
            <a:ext cx="7239000" cy="1143000"/>
          </a:xfrm>
          <a:prstGeom prst="rect">
            <a:avLst/>
          </a:prstGeom>
          <a:noFill/>
          <a:ln>
            <a:noFill/>
          </a:ln>
        </p:spPr>
        <p:txBody>
          <a:bodyPr anchorCtr="0" anchor="b" bIns="0" lIns="45700" spcFirstLastPara="1" rIns="45700" wrap="square" tIns="0">
            <a:normAutofit/>
          </a:bodyPr>
          <a:lstStyle/>
          <a:p>
            <a:pPr indent="0" lvl="0" marL="0" rtl="1" algn="l">
              <a:lnSpc>
                <a:spcPct val="100000"/>
              </a:lnSpc>
              <a:spcBef>
                <a:spcPts val="0"/>
              </a:spcBef>
              <a:spcAft>
                <a:spcPts val="0"/>
              </a:spcAft>
              <a:buClr>
                <a:srgbClr val="FEF7F0"/>
              </a:buClr>
              <a:buSzPts val="3800"/>
              <a:buFont typeface="Trebuchet MS"/>
              <a:buNone/>
            </a:pPr>
            <a:r>
              <a:rPr lang="en-US"/>
              <a:t>POPULAR ROUTING PROTOCOLS</a:t>
            </a:r>
            <a:endParaRPr/>
          </a:p>
        </p:txBody>
      </p:sp>
      <p:pic>
        <p:nvPicPr>
          <p:cNvPr id="127" name="Google Shape;127;p6"/>
          <p:cNvPicPr preferRelativeResize="0"/>
          <p:nvPr/>
        </p:nvPicPr>
        <p:blipFill rotWithShape="1">
          <a:blip r:embed="rId3">
            <a:alphaModFix/>
          </a:blip>
          <a:srcRect b="0" l="0" r="0" t="0"/>
          <a:stretch/>
        </p:blipFill>
        <p:spPr>
          <a:xfrm>
            <a:off x="685800" y="1600200"/>
            <a:ext cx="6934200" cy="4267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7"/>
          <p:cNvSpPr txBox="1"/>
          <p:nvPr>
            <p:ph type="title"/>
          </p:nvPr>
        </p:nvSpPr>
        <p:spPr>
          <a:xfrm>
            <a:off x="457200" y="320045"/>
            <a:ext cx="7239000" cy="564300"/>
          </a:xfrm>
          <a:prstGeom prst="rect">
            <a:avLst/>
          </a:prstGeom>
          <a:noFill/>
          <a:ln>
            <a:noFill/>
          </a:ln>
        </p:spPr>
        <p:txBody>
          <a:bodyPr anchorCtr="0" anchor="b" bIns="0" lIns="45700" spcFirstLastPara="1" rIns="45700" wrap="square" tIns="0">
            <a:normAutofit/>
          </a:bodyPr>
          <a:lstStyle/>
          <a:p>
            <a:pPr indent="0" lvl="0" marL="0" rtl="1" algn="l">
              <a:lnSpc>
                <a:spcPct val="100000"/>
              </a:lnSpc>
              <a:spcBef>
                <a:spcPts val="0"/>
              </a:spcBef>
              <a:spcAft>
                <a:spcPts val="0"/>
              </a:spcAft>
              <a:buClr>
                <a:srgbClr val="FEF7F0"/>
              </a:buClr>
              <a:buSzPts val="3800"/>
              <a:buFont typeface="Trebuchet MS"/>
              <a:buNone/>
            </a:pPr>
            <a:r>
              <a:rPr lang="en-US"/>
              <a:t>DISTANCE-VECTOR ROUTING</a:t>
            </a:r>
            <a:endParaRPr/>
          </a:p>
        </p:txBody>
      </p:sp>
      <p:sp>
        <p:nvSpPr>
          <p:cNvPr id="133" name="Google Shape;133;p7"/>
          <p:cNvSpPr txBox="1"/>
          <p:nvPr>
            <p:ph idx="1" type="body"/>
          </p:nvPr>
        </p:nvSpPr>
        <p:spPr>
          <a:xfrm>
            <a:off x="370125" y="1078751"/>
            <a:ext cx="8202300" cy="5316600"/>
          </a:xfrm>
          <a:prstGeom prst="rect">
            <a:avLst/>
          </a:prstGeom>
          <a:noFill/>
          <a:ln>
            <a:noFill/>
          </a:ln>
        </p:spPr>
        <p:txBody>
          <a:bodyPr anchorCtr="0" anchor="t" bIns="45700" lIns="91425" spcFirstLastPara="1" rIns="91425" wrap="square" tIns="45700">
            <a:normAutofit/>
          </a:bodyPr>
          <a:lstStyle/>
          <a:p>
            <a:pPr indent="-274320" lvl="0" marL="274320" rtl="0" algn="l">
              <a:lnSpc>
                <a:spcPct val="115000"/>
              </a:lnSpc>
              <a:spcBef>
                <a:spcPts val="0"/>
              </a:spcBef>
              <a:spcAft>
                <a:spcPts val="0"/>
              </a:spcAft>
              <a:buSzPts val="1752"/>
              <a:buChar char="●"/>
            </a:pPr>
            <a:r>
              <a:rPr lang="en-US" sz="2400"/>
              <a:t>The distance-vector (DV) routing uses the goal to find the best route.</a:t>
            </a:r>
            <a:endParaRPr/>
          </a:p>
          <a:p>
            <a:pPr indent="-274320" lvl="0" marL="274320" rtl="0" algn="l">
              <a:lnSpc>
                <a:spcPct val="115000"/>
              </a:lnSpc>
              <a:spcBef>
                <a:spcPts val="600"/>
              </a:spcBef>
              <a:spcAft>
                <a:spcPts val="0"/>
              </a:spcAft>
              <a:buSzPts val="1752"/>
              <a:buChar char="●"/>
            </a:pPr>
            <a:r>
              <a:rPr lang="en-US" sz="2400"/>
              <a:t>The first thing each node creates is its own least-cost tree with the rudimentary information it has about its immediate neighbors.</a:t>
            </a:r>
            <a:endParaRPr/>
          </a:p>
          <a:p>
            <a:pPr indent="-274320" lvl="0" marL="274320" rtl="0" algn="l">
              <a:lnSpc>
                <a:spcPct val="115000"/>
              </a:lnSpc>
              <a:spcBef>
                <a:spcPts val="600"/>
              </a:spcBef>
              <a:spcAft>
                <a:spcPts val="0"/>
              </a:spcAft>
              <a:buSzPts val="1752"/>
              <a:buChar char="●"/>
            </a:pPr>
            <a:r>
              <a:rPr lang="en-US" sz="2400"/>
              <a:t>The incomplete trees are exchanged between immediate neighbors to make the trees more and more complete and to represent the whole internet.</a:t>
            </a:r>
            <a:endParaRPr/>
          </a:p>
          <a:p>
            <a:pPr indent="-274320" lvl="0" marL="274320" rtl="0" algn="l">
              <a:lnSpc>
                <a:spcPct val="115000"/>
              </a:lnSpc>
              <a:spcBef>
                <a:spcPts val="600"/>
              </a:spcBef>
              <a:spcAft>
                <a:spcPts val="0"/>
              </a:spcAft>
              <a:buSzPts val="1752"/>
              <a:buChar char="●"/>
            </a:pPr>
            <a:r>
              <a:rPr lang="en-US" sz="2400"/>
              <a:t>router continuously tells all of its neighbors what it knows about the whole internet, </a:t>
            </a:r>
            <a:endParaRPr/>
          </a:p>
          <a:p>
            <a:pPr indent="-274320" lvl="0" marL="274320" rtl="0" algn="l">
              <a:lnSpc>
                <a:spcPct val="115000"/>
              </a:lnSpc>
              <a:spcBef>
                <a:spcPts val="600"/>
              </a:spcBef>
              <a:spcAft>
                <a:spcPts val="1200"/>
              </a:spcAft>
              <a:buSzPts val="1752"/>
              <a:buNone/>
            </a:pPr>
            <a:r>
              <a:rPr lang="en-US" sz="2400"/>
              <a:t>   (although the knowledge can be incomplete).</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8"/>
          <p:cNvSpPr txBox="1"/>
          <p:nvPr>
            <p:ph type="title"/>
          </p:nvPr>
        </p:nvSpPr>
        <p:spPr>
          <a:xfrm>
            <a:off x="457200" y="320046"/>
            <a:ext cx="7239000" cy="632400"/>
          </a:xfrm>
          <a:prstGeom prst="rect">
            <a:avLst/>
          </a:prstGeom>
          <a:noFill/>
          <a:ln>
            <a:noFill/>
          </a:ln>
        </p:spPr>
        <p:txBody>
          <a:bodyPr anchorCtr="0" anchor="b" bIns="0" lIns="45700" spcFirstLastPara="1" rIns="45700" wrap="square" tIns="0">
            <a:normAutofit/>
          </a:bodyPr>
          <a:lstStyle/>
          <a:p>
            <a:pPr indent="0" lvl="0" marL="0" rtl="1" algn="l">
              <a:lnSpc>
                <a:spcPct val="100000"/>
              </a:lnSpc>
              <a:spcBef>
                <a:spcPts val="0"/>
              </a:spcBef>
              <a:spcAft>
                <a:spcPts val="0"/>
              </a:spcAft>
              <a:buClr>
                <a:srgbClr val="FEF7F0"/>
              </a:buClr>
              <a:buSzPts val="3800"/>
              <a:buFont typeface="Trebuchet MS"/>
              <a:buNone/>
            </a:pPr>
            <a:r>
              <a:rPr lang="en-US"/>
              <a:t>BELLMAN-FORD EQUATION</a:t>
            </a:r>
            <a:endParaRPr/>
          </a:p>
        </p:txBody>
      </p:sp>
      <p:sp>
        <p:nvSpPr>
          <p:cNvPr id="139" name="Google Shape;139;p8"/>
          <p:cNvSpPr txBox="1"/>
          <p:nvPr>
            <p:ph idx="1" type="body"/>
          </p:nvPr>
        </p:nvSpPr>
        <p:spPr>
          <a:xfrm>
            <a:off x="457200" y="1102175"/>
            <a:ext cx="8128800" cy="5456400"/>
          </a:xfrm>
          <a:prstGeom prst="rect">
            <a:avLst/>
          </a:prstGeom>
          <a:noFill/>
          <a:ln>
            <a:noFill/>
          </a:ln>
        </p:spPr>
        <p:txBody>
          <a:bodyPr anchorCtr="0" anchor="t" bIns="45700" lIns="91425" spcFirstLastPara="1" rIns="91425" wrap="square" tIns="45700">
            <a:normAutofit/>
          </a:bodyPr>
          <a:lstStyle/>
          <a:p>
            <a:pPr indent="-274320" lvl="0" marL="274320" rtl="0" algn="l">
              <a:lnSpc>
                <a:spcPct val="115000"/>
              </a:lnSpc>
              <a:spcBef>
                <a:spcPts val="0"/>
              </a:spcBef>
              <a:spcAft>
                <a:spcPts val="0"/>
              </a:spcAft>
              <a:buSzPts val="1460"/>
              <a:buChar char="●"/>
            </a:pPr>
            <a:r>
              <a:rPr lang="en-US" sz="2000"/>
              <a:t>Bellman-Ford equation is used to find the least cost (shortest distance) between a source node x and a destination node y through some intermediary nodes (a, b, c, . . .) when the </a:t>
            </a:r>
            <a:r>
              <a:rPr lang="en-US" sz="2000">
                <a:solidFill>
                  <a:srgbClr val="002060"/>
                </a:solidFill>
              </a:rPr>
              <a:t>costs between the source and the intermediary nodes </a:t>
            </a:r>
            <a:r>
              <a:rPr lang="en-US" sz="2000"/>
              <a:t>and the </a:t>
            </a:r>
            <a:r>
              <a:rPr lang="en-US" sz="2000">
                <a:solidFill>
                  <a:srgbClr val="002060"/>
                </a:solidFill>
              </a:rPr>
              <a:t>least costs between the intermediary nodes and the destination </a:t>
            </a:r>
            <a:r>
              <a:rPr lang="en-US" sz="2000"/>
              <a:t>are given.</a:t>
            </a:r>
            <a:endParaRPr/>
          </a:p>
          <a:p>
            <a:pPr indent="-181610" lvl="0" marL="274320" rtl="0" algn="l">
              <a:lnSpc>
                <a:spcPct val="115000"/>
              </a:lnSpc>
              <a:spcBef>
                <a:spcPts val="600"/>
              </a:spcBef>
              <a:spcAft>
                <a:spcPts val="0"/>
              </a:spcAft>
              <a:buSzPts val="1460"/>
              <a:buNone/>
            </a:pPr>
            <a:r>
              <a:t/>
            </a:r>
            <a:endParaRPr sz="2000"/>
          </a:p>
          <a:p>
            <a:pPr indent="-274320" lvl="0" marL="274320" rtl="0" algn="l">
              <a:lnSpc>
                <a:spcPct val="115000"/>
              </a:lnSpc>
              <a:spcBef>
                <a:spcPts val="600"/>
              </a:spcBef>
              <a:spcAft>
                <a:spcPts val="1200"/>
              </a:spcAft>
              <a:buSzPts val="1460"/>
              <a:buChar char="●"/>
            </a:pPr>
            <a:r>
              <a:rPr lang="en-US" sz="2000"/>
              <a:t>Equation</a:t>
            </a:r>
            <a:endParaRPr sz="2000"/>
          </a:p>
        </p:txBody>
      </p:sp>
      <p:pic>
        <p:nvPicPr>
          <p:cNvPr descr="capture1.bmp" id="140" name="Google Shape;140;p8"/>
          <p:cNvPicPr preferRelativeResize="0"/>
          <p:nvPr/>
        </p:nvPicPr>
        <p:blipFill rotWithShape="1">
          <a:blip r:embed="rId3">
            <a:alphaModFix/>
          </a:blip>
          <a:srcRect b="0" l="0" r="0" t="0"/>
          <a:stretch/>
        </p:blipFill>
        <p:spPr>
          <a:xfrm>
            <a:off x="800100" y="4566550"/>
            <a:ext cx="7543800" cy="2076450"/>
          </a:xfrm>
          <a:prstGeom prst="rect">
            <a:avLst/>
          </a:prstGeom>
          <a:noFill/>
          <a:ln>
            <a:noFill/>
          </a:ln>
        </p:spPr>
      </p:pic>
      <p:pic>
        <p:nvPicPr>
          <p:cNvPr descr="capture2.bmp" id="141" name="Google Shape;141;p8"/>
          <p:cNvPicPr preferRelativeResize="0"/>
          <p:nvPr/>
        </p:nvPicPr>
        <p:blipFill rotWithShape="1">
          <a:blip r:embed="rId4">
            <a:alphaModFix/>
          </a:blip>
          <a:srcRect b="0" l="0" r="0" t="0"/>
          <a:stretch/>
        </p:blipFill>
        <p:spPr>
          <a:xfrm>
            <a:off x="1447800" y="3876675"/>
            <a:ext cx="6591300" cy="3143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9"/>
          <p:cNvSpPr txBox="1"/>
          <p:nvPr>
            <p:ph type="title"/>
          </p:nvPr>
        </p:nvSpPr>
        <p:spPr>
          <a:xfrm>
            <a:off x="457200" y="320046"/>
            <a:ext cx="7239000" cy="645900"/>
          </a:xfrm>
          <a:prstGeom prst="rect">
            <a:avLst/>
          </a:prstGeom>
          <a:noFill/>
          <a:ln>
            <a:noFill/>
          </a:ln>
        </p:spPr>
        <p:txBody>
          <a:bodyPr anchorCtr="0" anchor="b" bIns="0" lIns="45700" spcFirstLastPara="1" rIns="45700" wrap="square" tIns="0">
            <a:normAutofit/>
          </a:bodyPr>
          <a:lstStyle/>
          <a:p>
            <a:pPr indent="0" lvl="0" marL="0" rtl="1" algn="l">
              <a:lnSpc>
                <a:spcPct val="100000"/>
              </a:lnSpc>
              <a:spcBef>
                <a:spcPts val="0"/>
              </a:spcBef>
              <a:spcAft>
                <a:spcPts val="0"/>
              </a:spcAft>
              <a:buClr>
                <a:srgbClr val="FEF7F0"/>
              </a:buClr>
              <a:buSzPts val="3800"/>
              <a:buFont typeface="Trebuchet MS"/>
              <a:buNone/>
            </a:pPr>
            <a:r>
              <a:rPr lang="en-US"/>
              <a:t>DISTANCE VECTORS</a:t>
            </a:r>
            <a:endParaRPr/>
          </a:p>
        </p:txBody>
      </p:sp>
      <p:sp>
        <p:nvSpPr>
          <p:cNvPr id="147" name="Google Shape;147;p9"/>
          <p:cNvSpPr txBox="1"/>
          <p:nvPr>
            <p:ph idx="1" type="body"/>
          </p:nvPr>
        </p:nvSpPr>
        <p:spPr>
          <a:xfrm>
            <a:off x="383700" y="1143000"/>
            <a:ext cx="8515500" cy="5279700"/>
          </a:xfrm>
          <a:prstGeom prst="rect">
            <a:avLst/>
          </a:prstGeom>
          <a:noFill/>
          <a:ln>
            <a:noFill/>
          </a:ln>
        </p:spPr>
        <p:txBody>
          <a:bodyPr anchorCtr="0" anchor="t" bIns="45700" lIns="91425" spcFirstLastPara="1" rIns="91425" wrap="square" tIns="45700">
            <a:normAutofit/>
          </a:bodyPr>
          <a:lstStyle/>
          <a:p>
            <a:pPr indent="-274320" lvl="0" marL="274320" rtl="0" algn="l">
              <a:lnSpc>
                <a:spcPct val="115000"/>
              </a:lnSpc>
              <a:spcBef>
                <a:spcPts val="0"/>
              </a:spcBef>
              <a:spcAft>
                <a:spcPts val="0"/>
              </a:spcAft>
              <a:buSzPts val="1752"/>
              <a:buChar char="●"/>
            </a:pPr>
            <a:r>
              <a:rPr lang="en-US" sz="2400"/>
              <a:t>A least-cost tree is a combination of least-cost paths from the root of the tree to all destinations.</a:t>
            </a:r>
            <a:endParaRPr/>
          </a:p>
          <a:p>
            <a:pPr indent="-274320" lvl="0" marL="274320" rtl="0" algn="l">
              <a:lnSpc>
                <a:spcPct val="115000"/>
              </a:lnSpc>
              <a:spcBef>
                <a:spcPts val="600"/>
              </a:spcBef>
              <a:spcAft>
                <a:spcPts val="0"/>
              </a:spcAft>
              <a:buSzPts val="1752"/>
              <a:buChar char="●"/>
            </a:pPr>
            <a:r>
              <a:rPr lang="en-US" sz="2400"/>
              <a:t>These paths are graphically glued together to form the tree.</a:t>
            </a:r>
            <a:endParaRPr/>
          </a:p>
          <a:p>
            <a:pPr indent="-274320" lvl="0" marL="274320" rtl="0" algn="l">
              <a:lnSpc>
                <a:spcPct val="115000"/>
              </a:lnSpc>
              <a:spcBef>
                <a:spcPts val="600"/>
              </a:spcBef>
              <a:spcAft>
                <a:spcPts val="0"/>
              </a:spcAft>
              <a:buSzPts val="1752"/>
              <a:buChar char="●"/>
            </a:pPr>
            <a:r>
              <a:rPr lang="en-US" sz="2400"/>
              <a:t>Distance-vector routing unglues these paths and creates a </a:t>
            </a:r>
            <a:r>
              <a:rPr i="1" lang="en-US" sz="2400"/>
              <a:t>distance vector, a one-dimensional array to </a:t>
            </a:r>
            <a:r>
              <a:rPr lang="en-US" sz="2400"/>
              <a:t>represent the tree.</a:t>
            </a:r>
            <a:endParaRPr/>
          </a:p>
          <a:p>
            <a:pPr indent="-163068" lvl="0" marL="274320" rtl="0" algn="l">
              <a:lnSpc>
                <a:spcPct val="115000"/>
              </a:lnSpc>
              <a:spcBef>
                <a:spcPts val="600"/>
              </a:spcBef>
              <a:spcAft>
                <a:spcPts val="1200"/>
              </a:spcAft>
              <a:buSzPts val="1752"/>
              <a:buNone/>
            </a:pPr>
            <a:r>
              <a:t/>
            </a:r>
            <a:endParaRPr sz="2400"/>
          </a:p>
        </p:txBody>
      </p:sp>
      <p:pic>
        <p:nvPicPr>
          <p:cNvPr descr="capture3.bmp" id="148" name="Google Shape;148;p9"/>
          <p:cNvPicPr preferRelativeResize="0"/>
          <p:nvPr/>
        </p:nvPicPr>
        <p:blipFill rotWithShape="1">
          <a:blip r:embed="rId3">
            <a:alphaModFix/>
          </a:blip>
          <a:srcRect b="0" l="0" r="0" t="0"/>
          <a:stretch/>
        </p:blipFill>
        <p:spPr>
          <a:xfrm>
            <a:off x="941625" y="3899825"/>
            <a:ext cx="7105650" cy="2324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0"/>
          <p:cNvSpPr txBox="1"/>
          <p:nvPr>
            <p:ph type="title"/>
          </p:nvPr>
        </p:nvSpPr>
        <p:spPr>
          <a:xfrm>
            <a:off x="457200" y="320045"/>
            <a:ext cx="7239000" cy="618900"/>
          </a:xfrm>
          <a:prstGeom prst="rect">
            <a:avLst/>
          </a:prstGeom>
          <a:noFill/>
          <a:ln>
            <a:noFill/>
          </a:ln>
        </p:spPr>
        <p:txBody>
          <a:bodyPr anchorCtr="0" anchor="b" bIns="0" lIns="45700" spcFirstLastPara="1" rIns="45700" wrap="square" tIns="0">
            <a:normAutofit/>
          </a:bodyPr>
          <a:lstStyle/>
          <a:p>
            <a:pPr indent="0" lvl="0" marL="0" rtl="1" algn="l">
              <a:lnSpc>
                <a:spcPct val="100000"/>
              </a:lnSpc>
              <a:spcBef>
                <a:spcPts val="0"/>
              </a:spcBef>
              <a:spcAft>
                <a:spcPts val="0"/>
              </a:spcAft>
              <a:buClr>
                <a:srgbClr val="FEF7F0"/>
              </a:buClr>
              <a:buSzPts val="3800"/>
              <a:buFont typeface="Trebuchet MS"/>
              <a:buNone/>
            </a:pPr>
            <a:r>
              <a:rPr lang="en-US"/>
              <a:t>DISTANCE VECTORS</a:t>
            </a:r>
            <a:endParaRPr/>
          </a:p>
        </p:txBody>
      </p:sp>
      <p:sp>
        <p:nvSpPr>
          <p:cNvPr id="154" name="Google Shape;154;p10"/>
          <p:cNvSpPr txBox="1"/>
          <p:nvPr>
            <p:ph idx="1" type="body"/>
          </p:nvPr>
        </p:nvSpPr>
        <p:spPr>
          <a:xfrm>
            <a:off x="952500" y="1282841"/>
            <a:ext cx="7239000" cy="4846200"/>
          </a:xfrm>
          <a:prstGeom prst="rect">
            <a:avLst/>
          </a:prstGeom>
          <a:noFill/>
          <a:ln>
            <a:noFill/>
          </a:ln>
        </p:spPr>
        <p:txBody>
          <a:bodyPr anchorCtr="0" anchor="t" bIns="45700" lIns="91425" spcFirstLastPara="1" rIns="91425" wrap="square" tIns="45700">
            <a:normAutofit/>
          </a:bodyPr>
          <a:lstStyle/>
          <a:p>
            <a:pPr indent="-274320" lvl="0" marL="274320" rtl="0" algn="l">
              <a:lnSpc>
                <a:spcPct val="115000"/>
              </a:lnSpc>
              <a:spcBef>
                <a:spcPts val="0"/>
              </a:spcBef>
              <a:spcAft>
                <a:spcPts val="0"/>
              </a:spcAft>
              <a:buSzPts val="1898"/>
              <a:buNone/>
            </a:pPr>
            <a:r>
              <a:rPr b="1" lang="en-US" sz="1600">
                <a:solidFill>
                  <a:srgbClr val="A24A73"/>
                </a:solidFill>
              </a:rPr>
              <a:t>Note That :</a:t>
            </a:r>
            <a:endParaRPr b="1" sz="1600"/>
          </a:p>
          <a:p>
            <a:pPr indent="-274320" lvl="0" marL="274320" rtl="0" algn="l">
              <a:lnSpc>
                <a:spcPct val="115000"/>
              </a:lnSpc>
              <a:spcBef>
                <a:spcPts val="600"/>
              </a:spcBef>
              <a:spcAft>
                <a:spcPts val="0"/>
              </a:spcAft>
              <a:buSzPts val="1460"/>
              <a:buChar char="●"/>
            </a:pPr>
            <a:r>
              <a:rPr lang="en-US" sz="2000"/>
              <a:t>The name of the distance vector defines the root. </a:t>
            </a:r>
            <a:endParaRPr/>
          </a:p>
          <a:p>
            <a:pPr indent="-274320" lvl="0" marL="274320" rtl="0" algn="l">
              <a:lnSpc>
                <a:spcPct val="115000"/>
              </a:lnSpc>
              <a:spcBef>
                <a:spcPts val="600"/>
              </a:spcBef>
              <a:spcAft>
                <a:spcPts val="0"/>
              </a:spcAft>
              <a:buSzPts val="1460"/>
              <a:buChar char="●"/>
            </a:pPr>
            <a:r>
              <a:rPr lang="en-US" sz="2000"/>
              <a:t>The indexes define the destinations.</a:t>
            </a:r>
            <a:endParaRPr/>
          </a:p>
          <a:p>
            <a:pPr indent="-274320" lvl="0" marL="274320" rtl="0" algn="l">
              <a:lnSpc>
                <a:spcPct val="115000"/>
              </a:lnSpc>
              <a:spcBef>
                <a:spcPts val="600"/>
              </a:spcBef>
              <a:spcAft>
                <a:spcPts val="1200"/>
              </a:spcAft>
              <a:buSzPts val="1460"/>
              <a:buChar char="●"/>
            </a:pPr>
            <a:r>
              <a:rPr lang="en-US" sz="2000"/>
              <a:t>The value of each cell defines the least cost from the root to the destination.</a:t>
            </a:r>
            <a:endParaRPr sz="2000"/>
          </a:p>
        </p:txBody>
      </p:sp>
      <p:pic>
        <p:nvPicPr>
          <p:cNvPr descr="capture5.bmp" id="155" name="Google Shape;155;p10"/>
          <p:cNvPicPr preferRelativeResize="0"/>
          <p:nvPr/>
        </p:nvPicPr>
        <p:blipFill rotWithShape="1">
          <a:blip r:embed="rId3">
            <a:alphaModFix/>
          </a:blip>
          <a:srcRect b="0" l="0" r="0" t="0"/>
          <a:stretch/>
        </p:blipFill>
        <p:spPr>
          <a:xfrm>
            <a:off x="1516513" y="3360975"/>
            <a:ext cx="6981825" cy="2590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1"/>
          <p:cNvSpPr txBox="1"/>
          <p:nvPr>
            <p:ph type="title"/>
          </p:nvPr>
        </p:nvSpPr>
        <p:spPr>
          <a:xfrm>
            <a:off x="457200" y="320050"/>
            <a:ext cx="7992900" cy="1108800"/>
          </a:xfrm>
          <a:prstGeom prst="rect">
            <a:avLst/>
          </a:prstGeom>
          <a:noFill/>
          <a:ln cap="flat" cmpd="sng" w="9525">
            <a:solidFill>
              <a:srgbClr val="0000FF"/>
            </a:solidFill>
            <a:prstDash val="solid"/>
            <a:round/>
            <a:headEnd len="sm" w="sm" type="none"/>
            <a:tailEnd len="sm" w="sm" type="none"/>
          </a:ln>
        </p:spPr>
        <p:txBody>
          <a:bodyPr anchorCtr="0" anchor="b" bIns="0" lIns="45700" spcFirstLastPara="1" rIns="45700" wrap="square" tIns="0">
            <a:noAutofit/>
          </a:bodyPr>
          <a:lstStyle/>
          <a:p>
            <a:pPr indent="0" lvl="0" marL="0" rtl="1" algn="l">
              <a:lnSpc>
                <a:spcPct val="100000"/>
              </a:lnSpc>
              <a:spcBef>
                <a:spcPts val="0"/>
              </a:spcBef>
              <a:spcAft>
                <a:spcPts val="0"/>
              </a:spcAft>
              <a:buClr>
                <a:schemeClr val="accent4"/>
              </a:buClr>
              <a:buSzPts val="2000"/>
              <a:buFont typeface="Trebuchet MS"/>
              <a:buNone/>
            </a:pPr>
            <a:r>
              <a:rPr lang="en-US" sz="2000">
                <a:solidFill>
                  <a:srgbClr val="0000FF"/>
                </a:solidFill>
              </a:rPr>
              <a:t>HOW EACH NODE IN AN INTERNET ORIGINALLY CREATES THE CORRESPONDING VECTOR</a:t>
            </a:r>
            <a:r>
              <a:rPr b="0" lang="en-US" sz="2000">
                <a:solidFill>
                  <a:schemeClr val="accent4"/>
                </a:solidFill>
              </a:rPr>
              <a:t> ?</a:t>
            </a:r>
            <a:br>
              <a:rPr b="0" lang="en-US" sz="2000">
                <a:solidFill>
                  <a:schemeClr val="accent4"/>
                </a:solidFill>
              </a:rPr>
            </a:br>
            <a:endParaRPr b="0" sz="2000">
              <a:solidFill>
                <a:schemeClr val="accent4"/>
              </a:solidFill>
            </a:endParaRPr>
          </a:p>
        </p:txBody>
      </p:sp>
      <p:sp>
        <p:nvSpPr>
          <p:cNvPr id="161" name="Google Shape;161;p11"/>
          <p:cNvSpPr txBox="1"/>
          <p:nvPr>
            <p:ph idx="1" type="body"/>
          </p:nvPr>
        </p:nvSpPr>
        <p:spPr>
          <a:xfrm>
            <a:off x="228600" y="1609416"/>
            <a:ext cx="7543800" cy="4846320"/>
          </a:xfrm>
          <a:prstGeom prst="rect">
            <a:avLst/>
          </a:prstGeom>
          <a:noFill/>
          <a:ln>
            <a:noFill/>
          </a:ln>
        </p:spPr>
        <p:txBody>
          <a:bodyPr anchorCtr="0" anchor="t" bIns="45700" lIns="91425" spcFirstLastPara="1" rIns="91425" wrap="square" tIns="45700">
            <a:normAutofit/>
          </a:bodyPr>
          <a:lstStyle/>
          <a:p>
            <a:pPr indent="-457200" lvl="0" marL="457200" rtl="0" algn="l">
              <a:lnSpc>
                <a:spcPct val="115000"/>
              </a:lnSpc>
              <a:spcBef>
                <a:spcPts val="0"/>
              </a:spcBef>
              <a:spcAft>
                <a:spcPts val="0"/>
              </a:spcAft>
              <a:buSzPts val="1460"/>
              <a:buNone/>
            </a:pPr>
            <a:r>
              <a:rPr lang="en-US" sz="2000">
                <a:solidFill>
                  <a:srgbClr val="A24A73"/>
                </a:solidFill>
              </a:rPr>
              <a:t>1 -  Each node in an internet, when it is booted, creates a very rudimentary distance vector with the minimum information the node can obtain from its neighborhood.</a:t>
            </a:r>
            <a:endParaRPr/>
          </a:p>
          <a:p>
            <a:pPr indent="-457200" lvl="0" marL="457200" rtl="0" algn="l">
              <a:lnSpc>
                <a:spcPct val="115000"/>
              </a:lnSpc>
              <a:spcBef>
                <a:spcPts val="600"/>
              </a:spcBef>
              <a:spcAft>
                <a:spcPts val="0"/>
              </a:spcAft>
              <a:buSzPts val="1460"/>
              <a:buNone/>
            </a:pPr>
            <a:r>
              <a:t/>
            </a:r>
            <a:endParaRPr sz="2000">
              <a:solidFill>
                <a:srgbClr val="A24A73"/>
              </a:solidFill>
            </a:endParaRPr>
          </a:p>
          <a:p>
            <a:pPr indent="-181610" lvl="0" marL="274320" rtl="0" algn="l">
              <a:lnSpc>
                <a:spcPct val="115000"/>
              </a:lnSpc>
              <a:spcBef>
                <a:spcPts val="600"/>
              </a:spcBef>
              <a:spcAft>
                <a:spcPts val="1200"/>
              </a:spcAft>
              <a:buSzPts val="1460"/>
              <a:buNone/>
            </a:pPr>
            <a:r>
              <a:t/>
            </a:r>
            <a:endParaRPr sz="2000">
              <a:solidFill>
                <a:srgbClr val="A24A73"/>
              </a:solidFill>
            </a:endParaRPr>
          </a:p>
        </p:txBody>
      </p:sp>
      <p:pic>
        <p:nvPicPr>
          <p:cNvPr descr="capture6.bmp" id="162" name="Google Shape;162;p11"/>
          <p:cNvPicPr preferRelativeResize="0"/>
          <p:nvPr/>
        </p:nvPicPr>
        <p:blipFill rotWithShape="1">
          <a:blip r:embed="rId3">
            <a:alphaModFix/>
          </a:blip>
          <a:srcRect b="0" l="0" r="0" t="0"/>
          <a:stretch/>
        </p:blipFill>
        <p:spPr>
          <a:xfrm>
            <a:off x="1676400" y="2743200"/>
            <a:ext cx="4848225" cy="3733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2"/>
          <p:cNvSpPr txBox="1"/>
          <p:nvPr>
            <p:ph type="title"/>
          </p:nvPr>
        </p:nvSpPr>
        <p:spPr>
          <a:xfrm>
            <a:off x="457200" y="320040"/>
            <a:ext cx="7239000" cy="1143000"/>
          </a:xfrm>
          <a:prstGeom prst="rect">
            <a:avLst/>
          </a:prstGeom>
          <a:noFill/>
          <a:ln>
            <a:noFill/>
          </a:ln>
        </p:spPr>
        <p:txBody>
          <a:bodyPr anchorCtr="0" anchor="b" bIns="0" lIns="45700" spcFirstLastPara="1" rIns="45700" wrap="square" tIns="0">
            <a:noAutofit/>
          </a:bodyPr>
          <a:lstStyle/>
          <a:p>
            <a:pPr indent="0" lvl="0" marL="0" rtl="1" algn="l">
              <a:lnSpc>
                <a:spcPct val="100000"/>
              </a:lnSpc>
              <a:spcBef>
                <a:spcPts val="0"/>
              </a:spcBef>
              <a:spcAft>
                <a:spcPts val="0"/>
              </a:spcAft>
              <a:buClr>
                <a:schemeClr val="accent4"/>
              </a:buClr>
              <a:buSzPts val="2000"/>
              <a:buFont typeface="Trebuchet MS"/>
              <a:buNone/>
            </a:pPr>
            <a:r>
              <a:rPr lang="en-US" sz="2000">
                <a:solidFill>
                  <a:srgbClr val="9900FF"/>
                </a:solidFill>
              </a:rPr>
              <a:t>HOW EACH NODE IN AN INTERNET ORIGINALLY CREATES THE CORRESPONDING VECTOR ?</a:t>
            </a:r>
            <a:br>
              <a:rPr lang="en-US" sz="2000">
                <a:solidFill>
                  <a:srgbClr val="9900FF"/>
                </a:solidFill>
              </a:rPr>
            </a:br>
            <a:endParaRPr sz="2000">
              <a:solidFill>
                <a:srgbClr val="9900FF"/>
              </a:solidFill>
            </a:endParaRPr>
          </a:p>
        </p:txBody>
      </p:sp>
      <p:sp>
        <p:nvSpPr>
          <p:cNvPr id="168" name="Google Shape;168;p12"/>
          <p:cNvSpPr txBox="1"/>
          <p:nvPr>
            <p:ph idx="1" type="body"/>
          </p:nvPr>
        </p:nvSpPr>
        <p:spPr>
          <a:xfrm>
            <a:off x="228600" y="1609416"/>
            <a:ext cx="7543800" cy="4846320"/>
          </a:xfrm>
          <a:prstGeom prst="rect">
            <a:avLst/>
          </a:prstGeom>
          <a:noFill/>
          <a:ln>
            <a:noFill/>
          </a:ln>
        </p:spPr>
        <p:txBody>
          <a:bodyPr anchorCtr="0" anchor="t" bIns="45700" lIns="91425" spcFirstLastPara="1" rIns="91425" wrap="square" tIns="45700">
            <a:normAutofit/>
          </a:bodyPr>
          <a:lstStyle/>
          <a:p>
            <a:pPr indent="-457200" lvl="0" marL="457200" rtl="0" algn="l">
              <a:lnSpc>
                <a:spcPct val="115000"/>
              </a:lnSpc>
              <a:spcBef>
                <a:spcPts val="0"/>
              </a:spcBef>
              <a:spcAft>
                <a:spcPts val="0"/>
              </a:spcAft>
              <a:buSzPts val="1460"/>
              <a:buFont typeface="Trebuchet MS"/>
              <a:buAutoNum type="arabicPeriod" startAt="2"/>
            </a:pPr>
            <a:r>
              <a:rPr lang="en-US" sz="2000"/>
              <a:t>The node sends some greeting messages out of its interfaces and discovers the identity of the immediate neighbors and the distance between itself and each neighbor.</a:t>
            </a:r>
            <a:endParaRPr/>
          </a:p>
          <a:p>
            <a:pPr indent="-457200" lvl="0" marL="457200" rtl="0" algn="l">
              <a:lnSpc>
                <a:spcPct val="115000"/>
              </a:lnSpc>
              <a:spcBef>
                <a:spcPts val="600"/>
              </a:spcBef>
              <a:spcAft>
                <a:spcPts val="0"/>
              </a:spcAft>
              <a:buSzPts val="1460"/>
              <a:buFont typeface="Trebuchet MS"/>
              <a:buAutoNum type="arabicPeriod" startAt="2"/>
            </a:pPr>
            <a:r>
              <a:rPr lang="en-US" sz="2000"/>
              <a:t>makes a simple distance vector by inserting the discovered distances in the corresponding cells and leaves the value of other cells as infinity. New distance to X=min(Current distance,Neighbor cost+Neighbor’s distance to X)</a:t>
            </a:r>
            <a:endParaRPr/>
          </a:p>
          <a:p>
            <a:pPr indent="-457200" lvl="0" marL="457200" rtl="0" algn="l">
              <a:lnSpc>
                <a:spcPct val="115000"/>
              </a:lnSpc>
              <a:spcBef>
                <a:spcPts val="600"/>
              </a:spcBef>
              <a:spcAft>
                <a:spcPts val="1200"/>
              </a:spcAft>
              <a:buSzPts val="1460"/>
              <a:buNone/>
            </a:pPr>
            <a:r>
              <a:t/>
            </a:r>
            <a:endParaRPr sz="2000">
              <a:solidFill>
                <a:srgbClr val="A24A73"/>
              </a:solidFill>
            </a:endParaRPr>
          </a:p>
        </p:txBody>
      </p:sp>
      <p:pic>
        <p:nvPicPr>
          <p:cNvPr descr="capture7.bmp" id="169" name="Google Shape;169;p12"/>
          <p:cNvPicPr preferRelativeResize="0"/>
          <p:nvPr/>
        </p:nvPicPr>
        <p:blipFill rotWithShape="1">
          <a:blip r:embed="rId3">
            <a:alphaModFix/>
          </a:blip>
          <a:srcRect b="0" l="0" r="0" t="0"/>
          <a:stretch/>
        </p:blipFill>
        <p:spPr>
          <a:xfrm>
            <a:off x="372700" y="4377750"/>
            <a:ext cx="7658100" cy="2895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3"/>
          <p:cNvSpPr txBox="1"/>
          <p:nvPr>
            <p:ph type="title"/>
          </p:nvPr>
        </p:nvSpPr>
        <p:spPr>
          <a:xfrm>
            <a:off x="76200" y="76200"/>
            <a:ext cx="7239000" cy="685800"/>
          </a:xfrm>
          <a:prstGeom prst="rect">
            <a:avLst/>
          </a:prstGeom>
          <a:noFill/>
          <a:ln>
            <a:noFill/>
          </a:ln>
        </p:spPr>
        <p:txBody>
          <a:bodyPr anchorCtr="0" anchor="b" bIns="0" lIns="45700" spcFirstLastPara="1" rIns="45700" wrap="square" tIns="0">
            <a:normAutofit fontScale="90000"/>
          </a:bodyPr>
          <a:lstStyle/>
          <a:p>
            <a:pPr indent="0" lvl="0" marL="0" rtl="1" algn="l">
              <a:lnSpc>
                <a:spcPct val="100000"/>
              </a:lnSpc>
              <a:spcBef>
                <a:spcPts val="0"/>
              </a:spcBef>
              <a:spcAft>
                <a:spcPts val="0"/>
              </a:spcAft>
              <a:buClr>
                <a:srgbClr val="FEF7F0"/>
              </a:buClr>
              <a:buSzPct val="100000"/>
              <a:buFont typeface="Trebuchet MS"/>
              <a:buNone/>
            </a:pPr>
            <a:r>
              <a:rPr lang="en-US" sz="2800"/>
              <a:t>DISTANCE-VECTOR ROUTING ALGORITHM</a:t>
            </a:r>
            <a:endParaRPr sz="2800"/>
          </a:p>
        </p:txBody>
      </p:sp>
      <p:pic>
        <p:nvPicPr>
          <p:cNvPr descr="capture8.bmp" id="175" name="Google Shape;175;p13"/>
          <p:cNvPicPr preferRelativeResize="0"/>
          <p:nvPr>
            <p:ph idx="1" type="body"/>
          </p:nvPr>
        </p:nvPicPr>
        <p:blipFill rotWithShape="1">
          <a:blip r:embed="rId3">
            <a:alphaModFix/>
          </a:blip>
          <a:srcRect b="0" l="0" r="0" t="0"/>
          <a:stretch/>
        </p:blipFill>
        <p:spPr>
          <a:xfrm>
            <a:off x="266700" y="-924677"/>
            <a:ext cx="6858000" cy="5890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4"/>
          <p:cNvSpPr txBox="1"/>
          <p:nvPr>
            <p:ph type="title"/>
          </p:nvPr>
        </p:nvSpPr>
        <p:spPr>
          <a:xfrm>
            <a:off x="457200" y="190500"/>
            <a:ext cx="7239000" cy="598800"/>
          </a:xfrm>
          <a:prstGeom prst="rect">
            <a:avLst/>
          </a:prstGeom>
          <a:noFill/>
          <a:ln>
            <a:noFill/>
          </a:ln>
        </p:spPr>
        <p:txBody>
          <a:bodyPr anchorCtr="0" anchor="b" bIns="0" lIns="45700" spcFirstLastPara="1" rIns="45700" wrap="square" tIns="0">
            <a:normAutofit/>
          </a:bodyPr>
          <a:lstStyle/>
          <a:p>
            <a:pPr indent="0" lvl="0" marL="0" rtl="1" algn="l">
              <a:lnSpc>
                <a:spcPct val="100000"/>
              </a:lnSpc>
              <a:spcBef>
                <a:spcPts val="0"/>
              </a:spcBef>
              <a:spcAft>
                <a:spcPts val="0"/>
              </a:spcAft>
              <a:buClr>
                <a:srgbClr val="FEF7F0"/>
              </a:buClr>
              <a:buSzPts val="3800"/>
              <a:buFont typeface="Trebuchet MS"/>
              <a:buNone/>
            </a:pPr>
            <a:r>
              <a:rPr i="1" lang="en-US"/>
              <a:t>COUNT TO INFINITY</a:t>
            </a:r>
            <a:endParaRPr/>
          </a:p>
        </p:txBody>
      </p:sp>
      <p:sp>
        <p:nvSpPr>
          <p:cNvPr id="181" name="Google Shape;181;p14"/>
          <p:cNvSpPr txBox="1"/>
          <p:nvPr>
            <p:ph idx="1" type="body"/>
          </p:nvPr>
        </p:nvSpPr>
        <p:spPr>
          <a:xfrm>
            <a:off x="381000" y="936175"/>
            <a:ext cx="8341200" cy="5527200"/>
          </a:xfrm>
          <a:prstGeom prst="rect">
            <a:avLst/>
          </a:prstGeom>
          <a:noFill/>
          <a:ln>
            <a:noFill/>
          </a:ln>
        </p:spPr>
        <p:txBody>
          <a:bodyPr anchorCtr="0" anchor="t" bIns="45700" lIns="91425" spcFirstLastPara="1" rIns="91425" wrap="square" tIns="45700">
            <a:noAutofit/>
          </a:bodyPr>
          <a:lstStyle/>
          <a:p>
            <a:pPr indent="-274320" lvl="0" marL="274320" rtl="0" algn="l">
              <a:lnSpc>
                <a:spcPct val="115000"/>
              </a:lnSpc>
              <a:spcBef>
                <a:spcPts val="0"/>
              </a:spcBef>
              <a:spcAft>
                <a:spcPts val="0"/>
              </a:spcAft>
              <a:buSzPts val="1752"/>
              <a:buChar char="●"/>
            </a:pPr>
            <a:r>
              <a:rPr lang="en-US" sz="2400"/>
              <a:t>A problem with distance-vector routing is that any decrease in cost (good news) propagates quickly, but any increase in cost (bad news) will propagate slowly. </a:t>
            </a:r>
            <a:endParaRPr/>
          </a:p>
          <a:p>
            <a:pPr indent="-274320" lvl="0" marL="274320" rtl="0" algn="l">
              <a:lnSpc>
                <a:spcPct val="115000"/>
              </a:lnSpc>
              <a:spcBef>
                <a:spcPts val="600"/>
              </a:spcBef>
              <a:spcAft>
                <a:spcPts val="0"/>
              </a:spcAft>
              <a:buSzPts val="1752"/>
              <a:buChar char="●"/>
            </a:pPr>
            <a:r>
              <a:rPr lang="en-US" sz="2400"/>
              <a:t>For a routing protocol to work properly, if a link is broken (cost becomes infinity), </a:t>
            </a:r>
            <a:endParaRPr/>
          </a:p>
          <a:p>
            <a:pPr indent="-274320" lvl="0" marL="274320" rtl="0" algn="l">
              <a:lnSpc>
                <a:spcPct val="115000"/>
              </a:lnSpc>
              <a:spcBef>
                <a:spcPts val="600"/>
              </a:spcBef>
              <a:spcAft>
                <a:spcPts val="0"/>
              </a:spcAft>
              <a:buSzPts val="1752"/>
              <a:buChar char="●"/>
            </a:pPr>
            <a:r>
              <a:rPr lang="en-US" sz="2400"/>
              <a:t>every other router should be aware of it immediately, but in distance-vector routing, this takes some time.</a:t>
            </a:r>
            <a:endParaRPr/>
          </a:p>
          <a:p>
            <a:pPr indent="-274320" lvl="0" marL="274320" rtl="0" algn="l">
              <a:lnSpc>
                <a:spcPct val="115000"/>
              </a:lnSpc>
              <a:spcBef>
                <a:spcPts val="600"/>
              </a:spcBef>
              <a:spcAft>
                <a:spcPts val="0"/>
              </a:spcAft>
              <a:buSzPts val="1752"/>
              <a:buChar char="●"/>
            </a:pPr>
            <a:r>
              <a:rPr lang="en-US" sz="2400"/>
              <a:t>The problem is referred to as count to infinity. </a:t>
            </a:r>
            <a:endParaRPr/>
          </a:p>
          <a:p>
            <a:pPr indent="-274320" lvl="0" marL="274320" rtl="0" algn="l">
              <a:lnSpc>
                <a:spcPct val="115000"/>
              </a:lnSpc>
              <a:spcBef>
                <a:spcPts val="600"/>
              </a:spcBef>
              <a:spcAft>
                <a:spcPts val="1200"/>
              </a:spcAft>
              <a:buSzPts val="1752"/>
              <a:buChar char="●"/>
            </a:pPr>
            <a:r>
              <a:rPr lang="en-US" sz="2400"/>
              <a:t>It sometimes takes several updates before the cost for a broken link is recorded as infinity by all routers.</a:t>
            </a:r>
            <a:endParaRPr sz="2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5"/>
          <p:cNvSpPr txBox="1"/>
          <p:nvPr>
            <p:ph type="title"/>
          </p:nvPr>
        </p:nvSpPr>
        <p:spPr>
          <a:xfrm>
            <a:off x="495300" y="323850"/>
            <a:ext cx="7239000" cy="762000"/>
          </a:xfrm>
          <a:prstGeom prst="rect">
            <a:avLst/>
          </a:prstGeom>
          <a:noFill/>
          <a:ln>
            <a:noFill/>
          </a:ln>
        </p:spPr>
        <p:txBody>
          <a:bodyPr anchorCtr="0" anchor="b" bIns="0" lIns="45700" spcFirstLastPara="1" rIns="45700" wrap="square" tIns="0">
            <a:normAutofit/>
          </a:bodyPr>
          <a:lstStyle/>
          <a:p>
            <a:pPr indent="0" lvl="0" marL="0" rtl="1" algn="l">
              <a:lnSpc>
                <a:spcPct val="100000"/>
              </a:lnSpc>
              <a:spcBef>
                <a:spcPts val="0"/>
              </a:spcBef>
              <a:spcAft>
                <a:spcPts val="0"/>
              </a:spcAft>
              <a:buClr>
                <a:srgbClr val="FEF7F0"/>
              </a:buClr>
              <a:buSzPts val="3800"/>
              <a:buFont typeface="Trebuchet MS"/>
              <a:buNone/>
            </a:pPr>
            <a:r>
              <a:rPr lang="en-US"/>
              <a:t>COUNT</a:t>
            </a:r>
            <a:r>
              <a:rPr i="1" lang="en-US"/>
              <a:t> TO INFINITY</a:t>
            </a:r>
            <a:endParaRPr/>
          </a:p>
        </p:txBody>
      </p:sp>
      <p:pic>
        <p:nvPicPr>
          <p:cNvPr id="187" name="Google Shape;187;p15"/>
          <p:cNvPicPr preferRelativeResize="0"/>
          <p:nvPr>
            <p:ph idx="1" type="body"/>
          </p:nvPr>
        </p:nvPicPr>
        <p:blipFill rotWithShape="1">
          <a:blip r:embed="rId3">
            <a:alphaModFix/>
          </a:blip>
          <a:srcRect b="0" l="0" r="0" t="0"/>
          <a:stretch/>
        </p:blipFill>
        <p:spPr>
          <a:xfrm>
            <a:off x="1219200" y="1371600"/>
            <a:ext cx="5791200" cy="52914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6"/>
          <p:cNvSpPr txBox="1"/>
          <p:nvPr>
            <p:ph type="title"/>
          </p:nvPr>
        </p:nvSpPr>
        <p:spPr>
          <a:xfrm>
            <a:off x="457200" y="320046"/>
            <a:ext cx="7239000" cy="632400"/>
          </a:xfrm>
          <a:prstGeom prst="rect">
            <a:avLst/>
          </a:prstGeom>
          <a:noFill/>
          <a:ln>
            <a:noFill/>
          </a:ln>
        </p:spPr>
        <p:txBody>
          <a:bodyPr anchorCtr="0" anchor="b" bIns="0" lIns="45700" spcFirstLastPara="1" rIns="45700" wrap="square" tIns="0">
            <a:normAutofit/>
          </a:bodyPr>
          <a:lstStyle/>
          <a:p>
            <a:pPr indent="0" lvl="0" marL="0" rtl="1" algn="l">
              <a:lnSpc>
                <a:spcPct val="100000"/>
              </a:lnSpc>
              <a:spcBef>
                <a:spcPts val="0"/>
              </a:spcBef>
              <a:spcAft>
                <a:spcPts val="0"/>
              </a:spcAft>
              <a:buClr>
                <a:srgbClr val="FEF7F0"/>
              </a:buClr>
              <a:buSzPts val="3800"/>
              <a:buFont typeface="Trebuchet MS"/>
              <a:buNone/>
            </a:pPr>
            <a:r>
              <a:rPr lang="en-US"/>
              <a:t>SPLIT HORIZON</a:t>
            </a:r>
            <a:endParaRPr/>
          </a:p>
        </p:txBody>
      </p:sp>
      <p:sp>
        <p:nvSpPr>
          <p:cNvPr id="193" name="Google Shape;193;p16"/>
          <p:cNvSpPr txBox="1"/>
          <p:nvPr>
            <p:ph idx="1" type="body"/>
          </p:nvPr>
        </p:nvSpPr>
        <p:spPr>
          <a:xfrm>
            <a:off x="620500" y="1119551"/>
            <a:ext cx="8101800" cy="5343900"/>
          </a:xfrm>
          <a:prstGeom prst="rect">
            <a:avLst/>
          </a:prstGeom>
          <a:noFill/>
          <a:ln>
            <a:noFill/>
          </a:ln>
        </p:spPr>
        <p:txBody>
          <a:bodyPr anchorCtr="0" anchor="t" bIns="45700" lIns="91425" spcFirstLastPara="1" rIns="91425" wrap="square" tIns="45700">
            <a:normAutofit/>
          </a:bodyPr>
          <a:lstStyle/>
          <a:p>
            <a:pPr indent="-274320" lvl="0" marL="274320" rtl="0" algn="l">
              <a:lnSpc>
                <a:spcPct val="115000"/>
              </a:lnSpc>
              <a:spcBef>
                <a:spcPts val="0"/>
              </a:spcBef>
              <a:spcAft>
                <a:spcPts val="0"/>
              </a:spcAft>
              <a:buSzPts val="1560"/>
              <a:buChar char="●"/>
            </a:pPr>
            <a:r>
              <a:rPr lang="en-US" sz="2100"/>
              <a:t>In this strategy, instead of flooding the table through each interface, each node sends only part of its table through each interface.</a:t>
            </a:r>
            <a:endParaRPr sz="1400"/>
          </a:p>
          <a:p>
            <a:pPr indent="-274320" lvl="0" marL="274320" rtl="0" algn="l">
              <a:lnSpc>
                <a:spcPct val="115000"/>
              </a:lnSpc>
              <a:spcBef>
                <a:spcPts val="600"/>
              </a:spcBef>
              <a:spcAft>
                <a:spcPts val="0"/>
              </a:spcAft>
              <a:buSzPts val="1560"/>
              <a:buChar char="●"/>
            </a:pPr>
            <a:r>
              <a:rPr lang="en-US" sz="2100"/>
              <a:t>If, according to its table, node B thinks that the optimum route to reach X is via A.</a:t>
            </a:r>
            <a:endParaRPr sz="1400"/>
          </a:p>
          <a:p>
            <a:pPr indent="-274320" lvl="0" marL="274320" rtl="0" algn="l">
              <a:lnSpc>
                <a:spcPct val="115000"/>
              </a:lnSpc>
              <a:spcBef>
                <a:spcPts val="600"/>
              </a:spcBef>
              <a:spcAft>
                <a:spcPts val="0"/>
              </a:spcAft>
              <a:buSzPts val="1560"/>
              <a:buChar char="●"/>
            </a:pPr>
            <a:r>
              <a:rPr lang="en-US" sz="2100"/>
              <a:t>Taking information from node A, modifying it, and sending it back to node A is what creates the confusion.</a:t>
            </a:r>
            <a:endParaRPr sz="1400"/>
          </a:p>
          <a:p>
            <a:pPr indent="-274320" lvl="0" marL="274320" rtl="0" algn="l">
              <a:lnSpc>
                <a:spcPct val="115000"/>
              </a:lnSpc>
              <a:spcBef>
                <a:spcPts val="600"/>
              </a:spcBef>
              <a:spcAft>
                <a:spcPts val="0"/>
              </a:spcAft>
              <a:buSzPts val="1560"/>
              <a:buChar char="●"/>
            </a:pPr>
            <a:r>
              <a:rPr lang="en-US" sz="2100"/>
              <a:t>In this case, node A keeps the value of infinity as the distance to X. </a:t>
            </a:r>
            <a:endParaRPr sz="1400"/>
          </a:p>
          <a:p>
            <a:pPr indent="-274320" lvl="0" marL="274320" rtl="0" algn="l">
              <a:lnSpc>
                <a:spcPct val="115000"/>
              </a:lnSpc>
              <a:spcBef>
                <a:spcPts val="600"/>
              </a:spcBef>
              <a:spcAft>
                <a:spcPts val="0"/>
              </a:spcAft>
              <a:buSzPts val="1560"/>
              <a:buChar char="●"/>
            </a:pPr>
            <a:r>
              <a:rPr lang="en-US" sz="2100"/>
              <a:t>Later, when node A sends its forwarding table to B, node B also corrects its forwarding table.</a:t>
            </a:r>
            <a:endParaRPr sz="1400"/>
          </a:p>
          <a:p>
            <a:pPr indent="-274320" lvl="0" marL="274320" rtl="0" algn="l">
              <a:lnSpc>
                <a:spcPct val="115000"/>
              </a:lnSpc>
              <a:spcBef>
                <a:spcPts val="600"/>
              </a:spcBef>
              <a:spcAft>
                <a:spcPts val="1200"/>
              </a:spcAft>
              <a:buSzPts val="1560"/>
              <a:buChar char="●"/>
            </a:pPr>
            <a:r>
              <a:rPr lang="en-US" sz="2100"/>
              <a:t>The system becomes stable after the first update: both node A and node B know that X is not reachable.</a:t>
            </a:r>
            <a:endParaRPr sz="21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7"/>
          <p:cNvSpPr txBox="1"/>
          <p:nvPr>
            <p:ph type="title"/>
          </p:nvPr>
        </p:nvSpPr>
        <p:spPr>
          <a:xfrm>
            <a:off x="457200" y="320040"/>
            <a:ext cx="7239000" cy="1280160"/>
          </a:xfrm>
          <a:prstGeom prst="rect">
            <a:avLst/>
          </a:prstGeom>
          <a:noFill/>
          <a:ln>
            <a:noFill/>
          </a:ln>
        </p:spPr>
        <p:txBody>
          <a:bodyPr anchorCtr="0" anchor="b" bIns="0" lIns="45700" spcFirstLastPara="1" rIns="45700" wrap="square" tIns="0">
            <a:noAutofit/>
          </a:bodyPr>
          <a:lstStyle/>
          <a:p>
            <a:pPr indent="0" lvl="0" marL="0" rtl="0" algn="l">
              <a:lnSpc>
                <a:spcPct val="100000"/>
              </a:lnSpc>
              <a:spcBef>
                <a:spcPts val="0"/>
              </a:spcBef>
              <a:spcAft>
                <a:spcPts val="0"/>
              </a:spcAft>
              <a:buClr>
                <a:srgbClr val="FEF7F0"/>
              </a:buClr>
              <a:buSzPts val="3200"/>
              <a:buFont typeface="Trebuchet MS"/>
              <a:buNone/>
            </a:pPr>
            <a:r>
              <a:rPr lang="en-US" sz="3200"/>
              <a:t>POISON REVERSE</a:t>
            </a:r>
            <a:br>
              <a:rPr lang="en-US" sz="3200"/>
            </a:br>
            <a:endParaRPr sz="3200"/>
          </a:p>
        </p:txBody>
      </p:sp>
      <p:sp>
        <p:nvSpPr>
          <p:cNvPr id="199" name="Google Shape;199;p17"/>
          <p:cNvSpPr txBox="1"/>
          <p:nvPr>
            <p:ph idx="1" type="body"/>
          </p:nvPr>
        </p:nvSpPr>
        <p:spPr>
          <a:xfrm>
            <a:off x="457200" y="1371600"/>
            <a:ext cx="7467600" cy="5257800"/>
          </a:xfrm>
          <a:prstGeom prst="rect">
            <a:avLst/>
          </a:prstGeom>
          <a:noFill/>
          <a:ln>
            <a:noFill/>
          </a:ln>
        </p:spPr>
        <p:txBody>
          <a:bodyPr anchorCtr="0" anchor="t" bIns="45700" lIns="91425" spcFirstLastPara="1" rIns="91425" wrap="square" tIns="45700">
            <a:normAutofit fontScale="92500" lnSpcReduction="10000"/>
          </a:bodyPr>
          <a:lstStyle/>
          <a:p>
            <a:pPr indent="-267366" lvl="0" marL="274320" rtl="0" algn="l">
              <a:lnSpc>
                <a:spcPct val="115000"/>
              </a:lnSpc>
              <a:spcBef>
                <a:spcPts val="0"/>
              </a:spcBef>
              <a:spcAft>
                <a:spcPts val="0"/>
              </a:spcAft>
              <a:buSzPct val="73000"/>
              <a:buChar char="●"/>
            </a:pPr>
            <a:r>
              <a:rPr lang="en-US" sz="2000"/>
              <a:t>Using the split-horizon strategy has one drawback. </a:t>
            </a:r>
            <a:endParaRPr/>
          </a:p>
          <a:p>
            <a:pPr indent="-181610" lvl="0" marL="274320" rtl="0" algn="l">
              <a:lnSpc>
                <a:spcPct val="115000"/>
              </a:lnSpc>
              <a:spcBef>
                <a:spcPts val="600"/>
              </a:spcBef>
              <a:spcAft>
                <a:spcPts val="0"/>
              </a:spcAft>
              <a:buSzPct val="73000"/>
              <a:buNone/>
            </a:pPr>
            <a:r>
              <a:t/>
            </a:r>
            <a:endParaRPr sz="2000"/>
          </a:p>
          <a:p>
            <a:pPr indent="-267366" lvl="0" marL="274320" rtl="0" algn="l">
              <a:lnSpc>
                <a:spcPct val="115000"/>
              </a:lnSpc>
              <a:spcBef>
                <a:spcPts val="600"/>
              </a:spcBef>
              <a:spcAft>
                <a:spcPts val="0"/>
              </a:spcAft>
              <a:buSzPct val="73000"/>
              <a:buChar char="●"/>
            </a:pPr>
            <a:r>
              <a:rPr lang="en-US" sz="2000"/>
              <a:t>Normally, the corresponding protocol uses a timer, and if there is no news about a route, the node deletes the route from its table. </a:t>
            </a:r>
            <a:endParaRPr/>
          </a:p>
          <a:p>
            <a:pPr indent="-181610" lvl="0" marL="274320" rtl="0" algn="l">
              <a:lnSpc>
                <a:spcPct val="115000"/>
              </a:lnSpc>
              <a:spcBef>
                <a:spcPts val="600"/>
              </a:spcBef>
              <a:spcAft>
                <a:spcPts val="0"/>
              </a:spcAft>
              <a:buSzPct val="73000"/>
              <a:buNone/>
            </a:pPr>
            <a:r>
              <a:t/>
            </a:r>
            <a:endParaRPr sz="2000"/>
          </a:p>
          <a:p>
            <a:pPr indent="-267366" lvl="0" marL="274320" rtl="0" algn="l">
              <a:lnSpc>
                <a:spcPct val="115000"/>
              </a:lnSpc>
              <a:spcBef>
                <a:spcPts val="600"/>
              </a:spcBef>
              <a:spcAft>
                <a:spcPts val="0"/>
              </a:spcAft>
              <a:buSzPct val="73000"/>
              <a:buChar char="●"/>
            </a:pPr>
            <a:r>
              <a:rPr lang="en-US" sz="2000"/>
              <a:t>When node B in the previous scenario eliminates the route to X from its advertisement to A,  B has not received any news about X recently.</a:t>
            </a:r>
            <a:endParaRPr/>
          </a:p>
          <a:p>
            <a:pPr indent="-181610" lvl="0" marL="274320" rtl="0" algn="l">
              <a:lnSpc>
                <a:spcPct val="115000"/>
              </a:lnSpc>
              <a:spcBef>
                <a:spcPts val="600"/>
              </a:spcBef>
              <a:spcAft>
                <a:spcPts val="0"/>
              </a:spcAft>
              <a:buSzPct val="73000"/>
              <a:buNone/>
            </a:pPr>
            <a:r>
              <a:t/>
            </a:r>
            <a:endParaRPr sz="2000"/>
          </a:p>
          <a:p>
            <a:pPr indent="-267366" lvl="0" marL="274320" rtl="0" algn="l">
              <a:lnSpc>
                <a:spcPct val="115000"/>
              </a:lnSpc>
              <a:spcBef>
                <a:spcPts val="600"/>
              </a:spcBef>
              <a:spcAft>
                <a:spcPts val="0"/>
              </a:spcAft>
              <a:buSzPct val="73000"/>
              <a:buChar char="●"/>
            </a:pPr>
            <a:r>
              <a:rPr lang="en-US" sz="2000"/>
              <a:t>In the poison reverse strategy B can still advertise the value for X, but if the source of information is A, it can replace the distance with infinity as a warning: “Do not use this value”.</a:t>
            </a:r>
            <a:endParaRPr/>
          </a:p>
          <a:p>
            <a:pPr indent="-181610" lvl="0" marL="274320" rtl="0" algn="l">
              <a:lnSpc>
                <a:spcPct val="115000"/>
              </a:lnSpc>
              <a:spcBef>
                <a:spcPts val="600"/>
              </a:spcBef>
              <a:spcAft>
                <a:spcPts val="0"/>
              </a:spcAft>
              <a:buSzPct val="73000"/>
              <a:buNone/>
            </a:pPr>
            <a:r>
              <a:t/>
            </a:r>
            <a:endParaRPr sz="2000"/>
          </a:p>
          <a:p>
            <a:pPr indent="-267366" lvl="0" marL="274320" rtl="0" algn="l">
              <a:lnSpc>
                <a:spcPct val="115000"/>
              </a:lnSpc>
              <a:spcBef>
                <a:spcPts val="600"/>
              </a:spcBef>
              <a:spcAft>
                <a:spcPts val="1200"/>
              </a:spcAft>
              <a:buSzPct val="73000"/>
              <a:buChar char="●"/>
            </a:pPr>
            <a:r>
              <a:rPr lang="en-US" sz="2000"/>
              <a:t>if the instability is between three nodes, stability cannot be guaranteed.</a:t>
            </a:r>
            <a:endParaRPr sz="2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8"/>
          <p:cNvSpPr txBox="1"/>
          <p:nvPr>
            <p:ph type="title"/>
          </p:nvPr>
        </p:nvSpPr>
        <p:spPr>
          <a:xfrm>
            <a:off x="457200" y="320046"/>
            <a:ext cx="7239000" cy="687000"/>
          </a:xfrm>
          <a:prstGeom prst="rect">
            <a:avLst/>
          </a:prstGeom>
          <a:noFill/>
          <a:ln>
            <a:noFill/>
          </a:ln>
        </p:spPr>
        <p:txBody>
          <a:bodyPr anchorCtr="0" anchor="b" bIns="0" lIns="45700" spcFirstLastPara="1" rIns="45700" wrap="square" tIns="0">
            <a:normAutofit/>
          </a:bodyPr>
          <a:lstStyle/>
          <a:p>
            <a:pPr indent="0" lvl="0" marL="0" rtl="1" algn="l">
              <a:lnSpc>
                <a:spcPct val="100000"/>
              </a:lnSpc>
              <a:spcBef>
                <a:spcPts val="0"/>
              </a:spcBef>
              <a:spcAft>
                <a:spcPts val="0"/>
              </a:spcAft>
              <a:buClr>
                <a:srgbClr val="FEF7F0"/>
              </a:buClr>
              <a:buSzPts val="3800"/>
              <a:buFont typeface="Trebuchet MS"/>
              <a:buNone/>
            </a:pPr>
            <a:r>
              <a:rPr lang="en-US"/>
              <a:t>LINK-STATE ROUTING</a:t>
            </a:r>
            <a:endParaRPr/>
          </a:p>
        </p:txBody>
      </p:sp>
      <p:sp>
        <p:nvSpPr>
          <p:cNvPr id="205" name="Google Shape;205;p18"/>
          <p:cNvSpPr txBox="1"/>
          <p:nvPr>
            <p:ph idx="1" type="body"/>
          </p:nvPr>
        </p:nvSpPr>
        <p:spPr>
          <a:xfrm>
            <a:off x="457200" y="1173975"/>
            <a:ext cx="8006400" cy="4976400"/>
          </a:xfrm>
          <a:prstGeom prst="rect">
            <a:avLst/>
          </a:prstGeom>
          <a:noFill/>
          <a:ln>
            <a:noFill/>
          </a:ln>
        </p:spPr>
        <p:txBody>
          <a:bodyPr anchorCtr="0" anchor="t" bIns="45700" lIns="91425" spcFirstLastPara="1" rIns="91425" wrap="square" tIns="45700">
            <a:normAutofit/>
          </a:bodyPr>
          <a:lstStyle/>
          <a:p>
            <a:pPr indent="-274320" lvl="0" marL="274320" rtl="0" algn="l">
              <a:lnSpc>
                <a:spcPct val="115000"/>
              </a:lnSpc>
              <a:spcBef>
                <a:spcPts val="0"/>
              </a:spcBef>
              <a:spcAft>
                <a:spcPts val="0"/>
              </a:spcAft>
              <a:buSzPts val="1752"/>
              <a:buChar char="●"/>
            </a:pPr>
            <a:r>
              <a:rPr lang="en-US" sz="2400"/>
              <a:t>A routing algorithm that directly follows our discussion for creating least-cost trees and forwarding tables is link-state (LS) routing.</a:t>
            </a:r>
            <a:endParaRPr/>
          </a:p>
          <a:p>
            <a:pPr indent="-274320" lvl="0" marL="274320" rtl="0" algn="l">
              <a:lnSpc>
                <a:spcPct val="115000"/>
              </a:lnSpc>
              <a:spcBef>
                <a:spcPts val="600"/>
              </a:spcBef>
              <a:spcAft>
                <a:spcPts val="0"/>
              </a:spcAft>
              <a:buSzPts val="1752"/>
              <a:buChar char="●"/>
            </a:pPr>
            <a:r>
              <a:rPr lang="en-US" sz="2400"/>
              <a:t>This method uses the term link-state to define the characteristic of a link (an edge) that represents a network in the internet.</a:t>
            </a:r>
            <a:endParaRPr/>
          </a:p>
          <a:p>
            <a:pPr indent="-274320" lvl="0" marL="274320" rtl="0" algn="l">
              <a:lnSpc>
                <a:spcPct val="115000"/>
              </a:lnSpc>
              <a:spcBef>
                <a:spcPts val="600"/>
              </a:spcBef>
              <a:spcAft>
                <a:spcPts val="0"/>
              </a:spcAft>
              <a:buSzPts val="1752"/>
              <a:buChar char="●"/>
            </a:pPr>
            <a:r>
              <a:rPr lang="en-US" sz="2400"/>
              <a:t>Links with lower costs are preferred to links with higher costs.</a:t>
            </a:r>
            <a:endParaRPr/>
          </a:p>
          <a:p>
            <a:pPr indent="-274320" lvl="0" marL="274320" rtl="0" algn="l">
              <a:lnSpc>
                <a:spcPct val="115000"/>
              </a:lnSpc>
              <a:spcBef>
                <a:spcPts val="600"/>
              </a:spcBef>
              <a:spcAft>
                <a:spcPts val="1200"/>
              </a:spcAft>
              <a:buSzPts val="1752"/>
              <a:buChar char="●"/>
            </a:pPr>
            <a:r>
              <a:rPr lang="en-US" sz="2400"/>
              <a:t>if the cost of a link is infinity, it means that the link does not exist or has been broken.</a:t>
            </a:r>
            <a:endParaRPr sz="2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9"/>
          <p:cNvSpPr txBox="1"/>
          <p:nvPr>
            <p:ph type="title"/>
          </p:nvPr>
        </p:nvSpPr>
        <p:spPr>
          <a:xfrm>
            <a:off x="457200" y="320040"/>
            <a:ext cx="7239000" cy="518160"/>
          </a:xfrm>
          <a:prstGeom prst="rect">
            <a:avLst/>
          </a:prstGeom>
          <a:noFill/>
          <a:ln>
            <a:noFill/>
          </a:ln>
        </p:spPr>
        <p:txBody>
          <a:bodyPr anchorCtr="0" anchor="b" bIns="0" lIns="45700" spcFirstLastPara="1" rIns="45700" wrap="square" tIns="0">
            <a:normAutofit/>
          </a:bodyPr>
          <a:lstStyle/>
          <a:p>
            <a:pPr indent="0" lvl="0" marL="0" rtl="1" algn="l">
              <a:lnSpc>
                <a:spcPct val="100000"/>
              </a:lnSpc>
              <a:spcBef>
                <a:spcPts val="0"/>
              </a:spcBef>
              <a:spcAft>
                <a:spcPts val="0"/>
              </a:spcAft>
              <a:buClr>
                <a:srgbClr val="FEF7F0"/>
              </a:buClr>
              <a:buSzPts val="2800"/>
              <a:buFont typeface="Trebuchet MS"/>
              <a:buNone/>
            </a:pPr>
            <a:r>
              <a:rPr lang="en-US" sz="2800"/>
              <a:t>LINK STATE ROUTING</a:t>
            </a:r>
            <a:endParaRPr sz="2800"/>
          </a:p>
        </p:txBody>
      </p:sp>
      <p:pic>
        <p:nvPicPr>
          <p:cNvPr id="211" name="Google Shape;211;p19"/>
          <p:cNvPicPr preferRelativeResize="0"/>
          <p:nvPr>
            <p:ph idx="1" type="body"/>
          </p:nvPr>
        </p:nvPicPr>
        <p:blipFill rotWithShape="1">
          <a:blip r:embed="rId3">
            <a:alphaModFix/>
          </a:blip>
          <a:srcRect b="0" l="0" r="0" t="0"/>
          <a:stretch/>
        </p:blipFill>
        <p:spPr>
          <a:xfrm>
            <a:off x="762000" y="990600"/>
            <a:ext cx="6629400" cy="561773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0"/>
          <p:cNvSpPr txBox="1"/>
          <p:nvPr>
            <p:ph type="title"/>
          </p:nvPr>
        </p:nvSpPr>
        <p:spPr>
          <a:xfrm>
            <a:off x="457200" y="320040"/>
            <a:ext cx="7239000" cy="441960"/>
          </a:xfrm>
          <a:prstGeom prst="rect">
            <a:avLst/>
          </a:prstGeom>
          <a:noFill/>
          <a:ln>
            <a:noFill/>
          </a:ln>
        </p:spPr>
        <p:txBody>
          <a:bodyPr anchorCtr="0" anchor="b" bIns="0" lIns="45700" spcFirstLastPara="1" rIns="45700" wrap="square" tIns="0">
            <a:normAutofit/>
          </a:bodyPr>
          <a:lstStyle/>
          <a:p>
            <a:pPr indent="0" lvl="0" marL="0" rtl="1" algn="l">
              <a:lnSpc>
                <a:spcPct val="100000"/>
              </a:lnSpc>
              <a:spcBef>
                <a:spcPts val="0"/>
              </a:spcBef>
              <a:spcAft>
                <a:spcPts val="0"/>
              </a:spcAft>
              <a:buClr>
                <a:srgbClr val="FEF7F0"/>
              </a:buClr>
              <a:buSzPts val="2400"/>
              <a:buFont typeface="Trebuchet MS"/>
              <a:buNone/>
            </a:pPr>
            <a:r>
              <a:rPr lang="en-US" sz="2400"/>
              <a:t>LINK STATE KNOWLEDGE</a:t>
            </a:r>
            <a:endParaRPr sz="2400"/>
          </a:p>
        </p:txBody>
      </p:sp>
      <p:pic>
        <p:nvPicPr>
          <p:cNvPr id="217" name="Google Shape;217;p20"/>
          <p:cNvPicPr preferRelativeResize="0"/>
          <p:nvPr/>
        </p:nvPicPr>
        <p:blipFill rotWithShape="1">
          <a:blip r:embed="rId3">
            <a:alphaModFix/>
          </a:blip>
          <a:srcRect b="0" l="0" r="0" t="0"/>
          <a:stretch/>
        </p:blipFill>
        <p:spPr>
          <a:xfrm>
            <a:off x="224897" y="1447800"/>
            <a:ext cx="8893703" cy="3352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1"/>
          <p:cNvSpPr txBox="1"/>
          <p:nvPr>
            <p:ph idx="1" type="body"/>
          </p:nvPr>
        </p:nvSpPr>
        <p:spPr>
          <a:xfrm>
            <a:off x="457200" y="1005838"/>
            <a:ext cx="8077200" cy="4846200"/>
          </a:xfrm>
          <a:prstGeom prst="rect">
            <a:avLst/>
          </a:prstGeom>
          <a:noFill/>
          <a:ln>
            <a:noFill/>
          </a:ln>
        </p:spPr>
        <p:txBody>
          <a:bodyPr anchorCtr="0" anchor="t" bIns="45700" lIns="91425" spcFirstLastPara="1" rIns="91425" wrap="square" tIns="45700">
            <a:normAutofit/>
          </a:bodyPr>
          <a:lstStyle/>
          <a:p>
            <a:pPr indent="-274320" lvl="0" marL="274320" rtl="0" algn="l">
              <a:lnSpc>
                <a:spcPct val="115000"/>
              </a:lnSpc>
              <a:spcBef>
                <a:spcPts val="0"/>
              </a:spcBef>
              <a:spcAft>
                <a:spcPts val="0"/>
              </a:spcAft>
              <a:buSzPts val="1752"/>
              <a:buChar char="●"/>
            </a:pPr>
            <a:r>
              <a:rPr lang="en-US" sz="2400"/>
              <a:t>To create a least-cost tree with this method, each node needs to have a complete map of the network, which means it needs to know the state of each link.</a:t>
            </a:r>
            <a:endParaRPr/>
          </a:p>
          <a:p>
            <a:pPr indent="-163068" lvl="0" marL="274320" rtl="0" algn="l">
              <a:lnSpc>
                <a:spcPct val="115000"/>
              </a:lnSpc>
              <a:spcBef>
                <a:spcPts val="600"/>
              </a:spcBef>
              <a:spcAft>
                <a:spcPts val="0"/>
              </a:spcAft>
              <a:buSzPts val="1752"/>
              <a:buNone/>
            </a:pPr>
            <a:r>
              <a:t/>
            </a:r>
            <a:endParaRPr sz="2400"/>
          </a:p>
          <a:p>
            <a:pPr indent="-274320" lvl="0" marL="274320" rtl="0" algn="l">
              <a:lnSpc>
                <a:spcPct val="115000"/>
              </a:lnSpc>
              <a:spcBef>
                <a:spcPts val="600"/>
              </a:spcBef>
              <a:spcAft>
                <a:spcPts val="0"/>
              </a:spcAft>
              <a:buSzPts val="1752"/>
              <a:buChar char="●"/>
            </a:pPr>
            <a:r>
              <a:rPr lang="en-US" sz="2400"/>
              <a:t>There is only one LSDB for the whole internet.</a:t>
            </a:r>
            <a:endParaRPr/>
          </a:p>
          <a:p>
            <a:pPr indent="-274320" lvl="0" marL="274320" rtl="0" algn="l">
              <a:lnSpc>
                <a:spcPct val="115000"/>
              </a:lnSpc>
              <a:spcBef>
                <a:spcPts val="600"/>
              </a:spcBef>
              <a:spcAft>
                <a:spcPts val="1200"/>
              </a:spcAft>
              <a:buSzPts val="1752"/>
              <a:buNone/>
            </a:pPr>
            <a:r>
              <a:t/>
            </a:r>
            <a:endParaRPr sz="2400"/>
          </a:p>
        </p:txBody>
      </p:sp>
      <p:pic>
        <p:nvPicPr>
          <p:cNvPr descr="capture13.bmp" id="223" name="Google Shape;223;p21"/>
          <p:cNvPicPr preferRelativeResize="0"/>
          <p:nvPr/>
        </p:nvPicPr>
        <p:blipFill rotWithShape="1">
          <a:blip r:embed="rId3">
            <a:alphaModFix/>
          </a:blip>
          <a:srcRect b="0" l="0" r="0" t="0"/>
          <a:stretch/>
        </p:blipFill>
        <p:spPr>
          <a:xfrm>
            <a:off x="1009650" y="3834475"/>
            <a:ext cx="6972300" cy="2257425"/>
          </a:xfrm>
          <a:prstGeom prst="rect">
            <a:avLst/>
          </a:prstGeom>
          <a:noFill/>
          <a:ln>
            <a:noFill/>
          </a:ln>
        </p:spPr>
      </p:pic>
      <p:sp>
        <p:nvSpPr>
          <p:cNvPr id="224" name="Google Shape;224;p21"/>
          <p:cNvSpPr txBox="1"/>
          <p:nvPr/>
        </p:nvSpPr>
        <p:spPr>
          <a:xfrm>
            <a:off x="367400" y="231325"/>
            <a:ext cx="75927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300"/>
              <a:buFont typeface="Arial"/>
              <a:buNone/>
            </a:pPr>
            <a:r>
              <a:rPr b="1" i="0" lang="en-US" sz="3300" u="none" cap="none" strike="noStrike">
                <a:solidFill>
                  <a:srgbClr val="000000"/>
                </a:solidFill>
                <a:latin typeface="Lato"/>
                <a:ea typeface="Lato"/>
                <a:cs typeface="Lato"/>
                <a:sym typeface="Lato"/>
              </a:rPr>
              <a:t>LINK STATE DATABASE (LSDB)</a:t>
            </a:r>
            <a:endParaRPr b="1" i="0" sz="3300" u="none" cap="none" strike="noStrike">
              <a:solidFill>
                <a:srgbClr val="000000"/>
              </a:solidFill>
              <a:latin typeface="Lato"/>
              <a:ea typeface="Lato"/>
              <a:cs typeface="Lato"/>
              <a:sym typeface="La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2"/>
          <p:cNvSpPr txBox="1"/>
          <p:nvPr>
            <p:ph idx="1" type="body"/>
          </p:nvPr>
        </p:nvSpPr>
        <p:spPr>
          <a:xfrm>
            <a:off x="650400" y="1174001"/>
            <a:ext cx="7908600" cy="5275800"/>
          </a:xfrm>
          <a:prstGeom prst="rect">
            <a:avLst/>
          </a:prstGeom>
          <a:noFill/>
          <a:ln>
            <a:noFill/>
          </a:ln>
        </p:spPr>
        <p:txBody>
          <a:bodyPr anchorCtr="0" anchor="t" bIns="45700" lIns="91425" spcFirstLastPara="1" rIns="91425" wrap="square" tIns="45700">
            <a:normAutofit/>
          </a:bodyPr>
          <a:lstStyle/>
          <a:p>
            <a:pPr indent="-274320" lvl="0" marL="274320" rtl="0" algn="l">
              <a:lnSpc>
                <a:spcPct val="115000"/>
              </a:lnSpc>
              <a:spcBef>
                <a:spcPts val="0"/>
              </a:spcBef>
              <a:spcAft>
                <a:spcPts val="0"/>
              </a:spcAft>
              <a:buSzPts val="1752"/>
              <a:buNone/>
            </a:pPr>
            <a:r>
              <a:rPr lang="en-US" sz="2400">
                <a:solidFill>
                  <a:srgbClr val="A24A73"/>
                </a:solidFill>
              </a:rPr>
              <a:t>how each node can create this LSDB that contains information about the whole internet?</a:t>
            </a:r>
            <a:endParaRPr/>
          </a:p>
          <a:p>
            <a:pPr indent="-274320" lvl="0" marL="274320" rtl="0" algn="l">
              <a:lnSpc>
                <a:spcPct val="115000"/>
              </a:lnSpc>
              <a:spcBef>
                <a:spcPts val="600"/>
              </a:spcBef>
              <a:spcAft>
                <a:spcPts val="0"/>
              </a:spcAft>
              <a:buSzPts val="1606"/>
              <a:buChar char="●"/>
            </a:pPr>
            <a:r>
              <a:rPr lang="en-US" sz="2200"/>
              <a:t>This can be done by a process called </a:t>
            </a:r>
            <a:r>
              <a:rPr b="1" lang="en-US" sz="2200"/>
              <a:t>flooding.</a:t>
            </a:r>
            <a:endParaRPr/>
          </a:p>
          <a:p>
            <a:pPr indent="-274320" lvl="0" marL="274320" rtl="0" algn="l">
              <a:lnSpc>
                <a:spcPct val="115000"/>
              </a:lnSpc>
              <a:spcBef>
                <a:spcPts val="600"/>
              </a:spcBef>
              <a:spcAft>
                <a:spcPts val="0"/>
              </a:spcAft>
              <a:buSzPts val="1606"/>
              <a:buChar char="●"/>
            </a:pPr>
            <a:r>
              <a:rPr lang="en-US" sz="2200"/>
              <a:t>Each node can send some greeting messages to all its immediate neighbors to collect two pieces of information for each neighboring node: </a:t>
            </a:r>
            <a:endParaRPr/>
          </a:p>
          <a:p>
            <a:pPr indent="-274320" lvl="0" marL="274320" rtl="0" algn="l">
              <a:lnSpc>
                <a:spcPct val="115000"/>
              </a:lnSpc>
              <a:spcBef>
                <a:spcPts val="600"/>
              </a:spcBef>
              <a:spcAft>
                <a:spcPts val="0"/>
              </a:spcAft>
              <a:buSzPts val="1752"/>
              <a:buNone/>
            </a:pPr>
            <a:r>
              <a:rPr lang="en-US" sz="2400"/>
              <a:t>         </a:t>
            </a:r>
            <a:r>
              <a:rPr lang="en-US" sz="2000"/>
              <a:t>-The identity of the node. </a:t>
            </a:r>
            <a:endParaRPr/>
          </a:p>
          <a:p>
            <a:pPr indent="-274320" lvl="0" marL="274320" rtl="0" algn="l">
              <a:lnSpc>
                <a:spcPct val="115000"/>
              </a:lnSpc>
              <a:spcBef>
                <a:spcPts val="600"/>
              </a:spcBef>
              <a:spcAft>
                <a:spcPts val="0"/>
              </a:spcAft>
              <a:buSzPts val="1460"/>
              <a:buNone/>
            </a:pPr>
            <a:r>
              <a:rPr lang="en-US" sz="2000"/>
              <a:t>           -The cost of the link.</a:t>
            </a:r>
            <a:endParaRPr/>
          </a:p>
          <a:p>
            <a:pPr indent="-274320" lvl="0" marL="274320" rtl="0" algn="l">
              <a:lnSpc>
                <a:spcPct val="115000"/>
              </a:lnSpc>
              <a:spcBef>
                <a:spcPts val="600"/>
              </a:spcBef>
              <a:spcAft>
                <a:spcPts val="0"/>
              </a:spcAft>
              <a:buSzPts val="1460"/>
              <a:buChar char="●"/>
            </a:pPr>
            <a:r>
              <a:rPr lang="en-US" sz="2000"/>
              <a:t>The combination of these two pieces of information is called the LS packet (LSP).</a:t>
            </a:r>
            <a:endParaRPr/>
          </a:p>
          <a:p>
            <a:pPr indent="-274320" lvl="0" marL="274320" rtl="0" algn="l">
              <a:lnSpc>
                <a:spcPct val="115000"/>
              </a:lnSpc>
              <a:spcBef>
                <a:spcPts val="600"/>
              </a:spcBef>
              <a:spcAft>
                <a:spcPts val="1200"/>
              </a:spcAft>
              <a:buSzPts val="1460"/>
              <a:buChar char="●"/>
            </a:pPr>
            <a:r>
              <a:rPr lang="en-US" sz="2000"/>
              <a:t>The LSP is sent out of each interface, as shown in Figure 20.9 for our internet in Figure 20.</a:t>
            </a:r>
            <a:endParaRPr sz="2000"/>
          </a:p>
        </p:txBody>
      </p:sp>
      <p:sp>
        <p:nvSpPr>
          <p:cNvPr id="230" name="Google Shape;230;p22"/>
          <p:cNvSpPr txBox="1"/>
          <p:nvPr/>
        </p:nvSpPr>
        <p:spPr>
          <a:xfrm>
            <a:off x="367400" y="231325"/>
            <a:ext cx="75927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300"/>
              <a:buFont typeface="Arial"/>
              <a:buNone/>
            </a:pPr>
            <a:r>
              <a:rPr b="1" i="0" lang="en-US" sz="3300" u="none" cap="none" strike="noStrike">
                <a:solidFill>
                  <a:srgbClr val="000000"/>
                </a:solidFill>
                <a:latin typeface="Lato"/>
                <a:ea typeface="Lato"/>
                <a:cs typeface="Lato"/>
                <a:sym typeface="Lato"/>
              </a:rPr>
              <a:t>LINK STATE DATABASE (LSDB)</a:t>
            </a:r>
            <a:endParaRPr b="1" i="0" sz="3300" u="none" cap="none" strike="noStrike">
              <a:solidFill>
                <a:srgbClr val="000000"/>
              </a:solidFill>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descr="capture14.bmp" id="235" name="Google Shape;235;p23"/>
          <p:cNvPicPr preferRelativeResize="0"/>
          <p:nvPr>
            <p:ph idx="1" type="body"/>
          </p:nvPr>
        </p:nvPicPr>
        <p:blipFill rotWithShape="1">
          <a:blip r:embed="rId3">
            <a:alphaModFix/>
          </a:blip>
          <a:srcRect b="0" l="0" r="0" t="0"/>
          <a:stretch/>
        </p:blipFill>
        <p:spPr>
          <a:xfrm>
            <a:off x="952500" y="1159325"/>
            <a:ext cx="7239000" cy="4800600"/>
          </a:xfrm>
          <a:prstGeom prst="rect">
            <a:avLst/>
          </a:prstGeom>
          <a:noFill/>
          <a:ln>
            <a:noFill/>
          </a:ln>
        </p:spPr>
      </p:pic>
      <p:sp>
        <p:nvSpPr>
          <p:cNvPr id="236" name="Google Shape;236;p23"/>
          <p:cNvSpPr txBox="1"/>
          <p:nvPr/>
        </p:nvSpPr>
        <p:spPr>
          <a:xfrm>
            <a:off x="367400" y="231325"/>
            <a:ext cx="75927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300"/>
              <a:buFont typeface="Arial"/>
              <a:buNone/>
            </a:pPr>
            <a:r>
              <a:rPr b="1" i="0" lang="en-US" sz="3300" u="none" cap="none" strike="noStrike">
                <a:solidFill>
                  <a:srgbClr val="000000"/>
                </a:solidFill>
                <a:latin typeface="Lato"/>
                <a:ea typeface="Lato"/>
                <a:cs typeface="Lato"/>
                <a:sym typeface="Lato"/>
              </a:rPr>
              <a:t>LINK STATE DATABASE (LSDB)</a:t>
            </a:r>
            <a:endParaRPr b="1" i="0" sz="3300" u="none" cap="none" strike="noStrike">
              <a:solidFill>
                <a:srgbClr val="000000"/>
              </a:solidFill>
              <a:latin typeface="Lato"/>
              <a:ea typeface="Lato"/>
              <a:cs typeface="Lato"/>
              <a:sym typeface="La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4"/>
          <p:cNvSpPr txBox="1"/>
          <p:nvPr>
            <p:ph idx="1" type="body"/>
          </p:nvPr>
        </p:nvSpPr>
        <p:spPr>
          <a:xfrm>
            <a:off x="609600" y="1078741"/>
            <a:ext cx="7924800" cy="4846200"/>
          </a:xfrm>
          <a:prstGeom prst="rect">
            <a:avLst/>
          </a:prstGeom>
          <a:noFill/>
          <a:ln>
            <a:noFill/>
          </a:ln>
        </p:spPr>
        <p:txBody>
          <a:bodyPr anchorCtr="0" anchor="t" bIns="45700" lIns="91425" spcFirstLastPara="1" rIns="91425" wrap="square" tIns="45700">
            <a:normAutofit/>
          </a:bodyPr>
          <a:lstStyle/>
          <a:p>
            <a:pPr indent="-274320" lvl="0" marL="274320" rtl="0" algn="l">
              <a:lnSpc>
                <a:spcPct val="115000"/>
              </a:lnSpc>
              <a:spcBef>
                <a:spcPts val="0"/>
              </a:spcBef>
              <a:spcAft>
                <a:spcPts val="0"/>
              </a:spcAft>
              <a:buSzPts val="1606"/>
              <a:buChar char="●"/>
            </a:pPr>
            <a:r>
              <a:rPr lang="en-US" sz="2200"/>
              <a:t>When a node receives an LSP from one of its interfaces, it compares the LSP with the copy it may already have.</a:t>
            </a:r>
            <a:endParaRPr/>
          </a:p>
          <a:p>
            <a:pPr indent="-274320" lvl="0" marL="274320" rtl="0" algn="l">
              <a:lnSpc>
                <a:spcPct val="115000"/>
              </a:lnSpc>
              <a:spcBef>
                <a:spcPts val="600"/>
              </a:spcBef>
              <a:spcAft>
                <a:spcPts val="0"/>
              </a:spcAft>
              <a:buSzPts val="1606"/>
              <a:buChar char="●"/>
            </a:pPr>
            <a:r>
              <a:rPr lang="en-US" sz="2200"/>
              <a:t>If the arrived LSP is older than the one it has, it discards the arrived LSP. </a:t>
            </a:r>
            <a:endParaRPr/>
          </a:p>
          <a:p>
            <a:pPr indent="-274320" lvl="0" marL="274320" rtl="0" algn="l">
              <a:lnSpc>
                <a:spcPct val="115000"/>
              </a:lnSpc>
              <a:spcBef>
                <a:spcPts val="600"/>
              </a:spcBef>
              <a:spcAft>
                <a:spcPts val="0"/>
              </a:spcAft>
              <a:buSzPts val="1606"/>
              <a:buChar char="●"/>
            </a:pPr>
            <a:r>
              <a:rPr lang="en-US" sz="2200"/>
              <a:t>If it is newer than the one it has, the node discards the old LSP and keeps the received one.</a:t>
            </a:r>
            <a:endParaRPr/>
          </a:p>
          <a:p>
            <a:pPr indent="-274320" lvl="0" marL="274320" rtl="0" algn="l">
              <a:lnSpc>
                <a:spcPct val="115000"/>
              </a:lnSpc>
              <a:spcBef>
                <a:spcPts val="600"/>
              </a:spcBef>
              <a:spcAft>
                <a:spcPts val="0"/>
              </a:spcAft>
              <a:buSzPts val="1606"/>
              <a:buChar char="●"/>
            </a:pPr>
            <a:r>
              <a:rPr lang="en-US" sz="2200"/>
              <a:t>It then sends a copy of it out of each interface except the one from which the packet arrived.</a:t>
            </a:r>
            <a:endParaRPr sz="2200"/>
          </a:p>
        </p:txBody>
      </p:sp>
      <p:sp>
        <p:nvSpPr>
          <p:cNvPr id="242" name="Google Shape;242;p24"/>
          <p:cNvSpPr txBox="1"/>
          <p:nvPr/>
        </p:nvSpPr>
        <p:spPr>
          <a:xfrm>
            <a:off x="367400" y="231325"/>
            <a:ext cx="75927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300"/>
              <a:buFont typeface="Arial"/>
              <a:buNone/>
            </a:pPr>
            <a:r>
              <a:rPr b="1" i="0" lang="en-US" sz="3300" u="none" cap="none" strike="noStrike">
                <a:solidFill>
                  <a:srgbClr val="000000"/>
                </a:solidFill>
                <a:latin typeface="Lato"/>
                <a:ea typeface="Lato"/>
                <a:cs typeface="Lato"/>
                <a:sym typeface="Lato"/>
              </a:rPr>
              <a:t>LINK STATE DATABASE (LSDB)</a:t>
            </a:r>
            <a:endParaRPr b="1" i="0" sz="3300" u="none" cap="none" strike="noStrike">
              <a:solidFill>
                <a:srgbClr val="000000"/>
              </a:solidFill>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5"/>
          <p:cNvSpPr txBox="1"/>
          <p:nvPr>
            <p:ph type="title"/>
          </p:nvPr>
        </p:nvSpPr>
        <p:spPr>
          <a:xfrm>
            <a:off x="457200" y="320040"/>
            <a:ext cx="7239000" cy="518160"/>
          </a:xfrm>
          <a:prstGeom prst="rect">
            <a:avLst/>
          </a:prstGeom>
          <a:noFill/>
          <a:ln>
            <a:noFill/>
          </a:ln>
        </p:spPr>
        <p:txBody>
          <a:bodyPr anchorCtr="0" anchor="b" bIns="0" lIns="45700" spcFirstLastPara="1" rIns="45700" wrap="square" tIns="0">
            <a:normAutofit/>
          </a:bodyPr>
          <a:lstStyle/>
          <a:p>
            <a:pPr indent="0" lvl="0" marL="0" rtl="1" algn="l">
              <a:lnSpc>
                <a:spcPct val="100000"/>
              </a:lnSpc>
              <a:spcBef>
                <a:spcPts val="0"/>
              </a:spcBef>
              <a:spcAft>
                <a:spcPts val="0"/>
              </a:spcAft>
              <a:buClr>
                <a:srgbClr val="FEF7F0"/>
              </a:buClr>
              <a:buSzPts val="3800"/>
              <a:buFont typeface="Trebuchet MS"/>
              <a:buNone/>
            </a:pPr>
            <a:r>
              <a:rPr lang="en-US"/>
              <a:t>FORMATION OF LEAST-COST TREES</a:t>
            </a:r>
            <a:endParaRPr/>
          </a:p>
        </p:txBody>
      </p:sp>
      <p:sp>
        <p:nvSpPr>
          <p:cNvPr id="248" name="Google Shape;248;p25"/>
          <p:cNvSpPr txBox="1"/>
          <p:nvPr>
            <p:ph idx="1" type="body"/>
          </p:nvPr>
        </p:nvSpPr>
        <p:spPr>
          <a:xfrm>
            <a:off x="228600" y="990600"/>
            <a:ext cx="8507100" cy="5791200"/>
          </a:xfrm>
          <a:prstGeom prst="rect">
            <a:avLst/>
          </a:prstGeom>
          <a:noFill/>
          <a:ln>
            <a:noFill/>
          </a:ln>
        </p:spPr>
        <p:txBody>
          <a:bodyPr anchorCtr="0" anchor="t" bIns="45700" lIns="91425" spcFirstLastPara="1" rIns="91425" wrap="square" tIns="45700">
            <a:normAutofit/>
          </a:bodyPr>
          <a:lstStyle/>
          <a:p>
            <a:pPr indent="-274320" lvl="0" marL="274320" rtl="0" algn="l">
              <a:lnSpc>
                <a:spcPct val="115000"/>
              </a:lnSpc>
              <a:spcBef>
                <a:spcPts val="0"/>
              </a:spcBef>
              <a:spcAft>
                <a:spcPts val="0"/>
              </a:spcAft>
              <a:buSzPts val="1898"/>
              <a:buNone/>
            </a:pPr>
            <a:r>
              <a:rPr b="1" lang="en-US" sz="1500">
                <a:solidFill>
                  <a:srgbClr val="9900FF"/>
                </a:solidFill>
              </a:rPr>
              <a:t>To create a least-cost tree for itself, using the shared LSDB, each node needs to run the famous Dijkstra Algorithm. </a:t>
            </a:r>
            <a:endParaRPr b="1" sz="1500">
              <a:solidFill>
                <a:srgbClr val="9900FF"/>
              </a:solidFill>
            </a:endParaRPr>
          </a:p>
          <a:p>
            <a:pPr indent="-274320" lvl="0" marL="274320" rtl="0" algn="l">
              <a:lnSpc>
                <a:spcPct val="115000"/>
              </a:lnSpc>
              <a:spcBef>
                <a:spcPts val="600"/>
              </a:spcBef>
              <a:spcAft>
                <a:spcPts val="0"/>
              </a:spcAft>
              <a:buSzPts val="1898"/>
              <a:buNone/>
            </a:pPr>
            <a:r>
              <a:t/>
            </a:r>
            <a:endParaRPr>
              <a:solidFill>
                <a:srgbClr val="A24A73"/>
              </a:solidFill>
            </a:endParaRPr>
          </a:p>
          <a:p>
            <a:pPr indent="-274320" lvl="0" marL="274320" rtl="0" algn="l">
              <a:lnSpc>
                <a:spcPct val="115000"/>
              </a:lnSpc>
              <a:spcBef>
                <a:spcPts val="600"/>
              </a:spcBef>
              <a:spcAft>
                <a:spcPts val="0"/>
              </a:spcAft>
              <a:buSzPts val="1898"/>
              <a:buNone/>
            </a:pPr>
            <a:r>
              <a:rPr lang="en-US" sz="1900"/>
              <a:t>This iterative algorithm uses the following steps:</a:t>
            </a:r>
            <a:endParaRPr sz="1900"/>
          </a:p>
          <a:p>
            <a:pPr indent="-274320" lvl="0" marL="274320" rtl="0" algn="l">
              <a:lnSpc>
                <a:spcPct val="115000"/>
              </a:lnSpc>
              <a:spcBef>
                <a:spcPts val="600"/>
              </a:spcBef>
              <a:spcAft>
                <a:spcPts val="0"/>
              </a:spcAft>
              <a:buSzPts val="1898"/>
              <a:buNone/>
            </a:pPr>
            <a:r>
              <a:rPr lang="en-US" sz="1900"/>
              <a:t>1. The node chooses itself as the root of the tree, creating a tree with a single node, and sets the total cost of each node based on the information in the LSDB.</a:t>
            </a:r>
            <a:endParaRPr sz="1900"/>
          </a:p>
          <a:p>
            <a:pPr indent="-274320" lvl="0" marL="274320" rtl="0" algn="l">
              <a:lnSpc>
                <a:spcPct val="115000"/>
              </a:lnSpc>
              <a:spcBef>
                <a:spcPts val="600"/>
              </a:spcBef>
              <a:spcAft>
                <a:spcPts val="0"/>
              </a:spcAft>
              <a:buSzPts val="1898"/>
              <a:buNone/>
            </a:pPr>
            <a:r>
              <a:t/>
            </a:r>
            <a:endParaRPr sz="1900"/>
          </a:p>
          <a:p>
            <a:pPr indent="-274320" lvl="0" marL="274320" rtl="0" algn="l">
              <a:lnSpc>
                <a:spcPct val="115000"/>
              </a:lnSpc>
              <a:spcBef>
                <a:spcPts val="600"/>
              </a:spcBef>
              <a:spcAft>
                <a:spcPts val="0"/>
              </a:spcAft>
              <a:buSzPts val="1898"/>
              <a:buNone/>
            </a:pPr>
            <a:r>
              <a:rPr lang="en-US" sz="1900"/>
              <a:t>2. The node selects one node, among all nodes not in the tree, which is closest to the root, and adds this to the tree. </a:t>
            </a:r>
            <a:endParaRPr sz="1900"/>
          </a:p>
          <a:p>
            <a:pPr indent="-274320" lvl="0" marL="274320" rtl="0" algn="l">
              <a:lnSpc>
                <a:spcPct val="115000"/>
              </a:lnSpc>
              <a:spcBef>
                <a:spcPts val="600"/>
              </a:spcBef>
              <a:spcAft>
                <a:spcPts val="0"/>
              </a:spcAft>
              <a:buSzPts val="1898"/>
              <a:buNone/>
            </a:pPr>
            <a:r>
              <a:rPr lang="en-US" sz="1900"/>
              <a:t>After this node is added to the tree, the cost of all other nodes not in the tree needs to be updated because the paths may have been changed.</a:t>
            </a:r>
            <a:endParaRPr sz="1900"/>
          </a:p>
          <a:p>
            <a:pPr indent="-274320" lvl="0" marL="274320" rtl="0" algn="l">
              <a:lnSpc>
                <a:spcPct val="115000"/>
              </a:lnSpc>
              <a:spcBef>
                <a:spcPts val="600"/>
              </a:spcBef>
              <a:spcAft>
                <a:spcPts val="0"/>
              </a:spcAft>
              <a:buSzPts val="1898"/>
              <a:buNone/>
            </a:pPr>
            <a:r>
              <a:t/>
            </a:r>
            <a:endParaRPr sz="1900"/>
          </a:p>
          <a:p>
            <a:pPr indent="-274320" lvl="0" marL="274320" rtl="0" algn="l">
              <a:lnSpc>
                <a:spcPct val="115000"/>
              </a:lnSpc>
              <a:spcBef>
                <a:spcPts val="600"/>
              </a:spcBef>
              <a:spcAft>
                <a:spcPts val="0"/>
              </a:spcAft>
              <a:buSzPts val="1898"/>
              <a:buNone/>
            </a:pPr>
            <a:r>
              <a:rPr lang="en-US" sz="1900"/>
              <a:t>3. The node repeats step 2 until all nodes are added to the tree. </a:t>
            </a:r>
            <a:endParaRPr sz="1900"/>
          </a:p>
          <a:p>
            <a:pPr indent="-274320" lvl="0" marL="274320" rtl="0" algn="l">
              <a:lnSpc>
                <a:spcPct val="115000"/>
              </a:lnSpc>
              <a:spcBef>
                <a:spcPts val="600"/>
              </a:spcBef>
              <a:spcAft>
                <a:spcPts val="0"/>
              </a:spcAft>
              <a:buSzPts val="1898"/>
              <a:buNone/>
            </a:pPr>
            <a:r>
              <a:t/>
            </a:r>
            <a:endParaRPr/>
          </a:p>
          <a:p>
            <a:pPr indent="-274320" lvl="0" marL="274320" rtl="0" algn="l">
              <a:lnSpc>
                <a:spcPct val="115000"/>
              </a:lnSpc>
              <a:spcBef>
                <a:spcPts val="600"/>
              </a:spcBef>
              <a:spcAft>
                <a:spcPts val="1200"/>
              </a:spcAft>
              <a:buSzPts val="1898"/>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6"/>
          <p:cNvSpPr txBox="1"/>
          <p:nvPr>
            <p:ph type="title"/>
          </p:nvPr>
        </p:nvSpPr>
        <p:spPr>
          <a:xfrm>
            <a:off x="76200" y="-304800"/>
            <a:ext cx="7239000" cy="767400"/>
          </a:xfrm>
          <a:prstGeom prst="rect">
            <a:avLst/>
          </a:prstGeom>
          <a:noFill/>
          <a:ln>
            <a:noFill/>
          </a:ln>
        </p:spPr>
        <p:txBody>
          <a:bodyPr anchorCtr="0" anchor="b" bIns="0" lIns="45700" spcFirstLastPara="1" rIns="45700" wrap="square" tIns="0">
            <a:normAutofit/>
          </a:bodyPr>
          <a:lstStyle/>
          <a:p>
            <a:pPr indent="0" lvl="0" marL="0" rtl="1" algn="l">
              <a:lnSpc>
                <a:spcPct val="100000"/>
              </a:lnSpc>
              <a:spcBef>
                <a:spcPts val="0"/>
              </a:spcBef>
              <a:spcAft>
                <a:spcPts val="0"/>
              </a:spcAft>
              <a:buClr>
                <a:srgbClr val="FEF7F0"/>
              </a:buClr>
              <a:buSzPts val="3800"/>
              <a:buFont typeface="Trebuchet MS"/>
              <a:buNone/>
            </a:pPr>
            <a:r>
              <a:rPr lang="en-US"/>
              <a:t>DIJKSTRA’S ALGORITHM</a:t>
            </a:r>
            <a:endParaRPr/>
          </a:p>
        </p:txBody>
      </p:sp>
      <p:pic>
        <p:nvPicPr>
          <p:cNvPr descr="capture2.bmp" id="254" name="Google Shape;254;p26"/>
          <p:cNvPicPr preferRelativeResize="0"/>
          <p:nvPr>
            <p:ph idx="1" type="body"/>
          </p:nvPr>
        </p:nvPicPr>
        <p:blipFill rotWithShape="1">
          <a:blip r:embed="rId3">
            <a:alphaModFix/>
          </a:blip>
          <a:srcRect b="0" l="0" r="0" t="0"/>
          <a:stretch/>
        </p:blipFill>
        <p:spPr>
          <a:xfrm>
            <a:off x="1412425" y="767450"/>
            <a:ext cx="5841300" cy="57054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7"/>
          <p:cNvSpPr txBox="1"/>
          <p:nvPr>
            <p:ph type="title"/>
          </p:nvPr>
        </p:nvSpPr>
        <p:spPr>
          <a:xfrm>
            <a:off x="457200" y="320040"/>
            <a:ext cx="7239000" cy="441960"/>
          </a:xfrm>
          <a:prstGeom prst="rect">
            <a:avLst/>
          </a:prstGeom>
          <a:noFill/>
          <a:ln>
            <a:noFill/>
          </a:ln>
        </p:spPr>
        <p:txBody>
          <a:bodyPr anchorCtr="0" anchor="b" bIns="0" lIns="45700" spcFirstLastPara="1" rIns="45700" wrap="square" tIns="0">
            <a:normAutofit/>
          </a:bodyPr>
          <a:lstStyle/>
          <a:p>
            <a:pPr indent="0" lvl="0" marL="0" rtl="1" algn="l">
              <a:lnSpc>
                <a:spcPct val="100000"/>
              </a:lnSpc>
              <a:spcBef>
                <a:spcPts val="0"/>
              </a:spcBef>
              <a:spcAft>
                <a:spcPts val="0"/>
              </a:spcAft>
              <a:buClr>
                <a:srgbClr val="FEF7F0"/>
              </a:buClr>
              <a:buSzPts val="3800"/>
              <a:buFont typeface="Trebuchet MS"/>
              <a:buNone/>
            </a:pPr>
            <a:r>
              <a:rPr lang="en-US"/>
              <a:t>FORMATION OF LEAST-COST TREES</a:t>
            </a:r>
            <a:endParaRPr/>
          </a:p>
        </p:txBody>
      </p:sp>
      <p:pic>
        <p:nvPicPr>
          <p:cNvPr id="260" name="Google Shape;260;p27"/>
          <p:cNvPicPr preferRelativeResize="0"/>
          <p:nvPr/>
        </p:nvPicPr>
        <p:blipFill rotWithShape="1">
          <a:blip r:embed="rId3">
            <a:alphaModFix/>
          </a:blip>
          <a:srcRect b="0" l="0" r="0" t="0"/>
          <a:stretch/>
        </p:blipFill>
        <p:spPr>
          <a:xfrm>
            <a:off x="786286" y="990600"/>
            <a:ext cx="6580827" cy="544629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8"/>
          <p:cNvSpPr txBox="1"/>
          <p:nvPr>
            <p:ph type="title"/>
          </p:nvPr>
        </p:nvSpPr>
        <p:spPr>
          <a:xfrm>
            <a:off x="457200" y="320040"/>
            <a:ext cx="7239000" cy="518160"/>
          </a:xfrm>
          <a:prstGeom prst="rect">
            <a:avLst/>
          </a:prstGeom>
          <a:noFill/>
          <a:ln>
            <a:noFill/>
          </a:ln>
        </p:spPr>
        <p:txBody>
          <a:bodyPr anchorCtr="0" anchor="b" bIns="0" lIns="45700" spcFirstLastPara="1" rIns="45700" wrap="square" tIns="0">
            <a:normAutofit/>
          </a:bodyPr>
          <a:lstStyle/>
          <a:p>
            <a:pPr indent="0" lvl="0" marL="0" rtl="1" algn="l">
              <a:lnSpc>
                <a:spcPct val="100000"/>
              </a:lnSpc>
              <a:spcBef>
                <a:spcPts val="0"/>
              </a:spcBef>
              <a:spcAft>
                <a:spcPts val="0"/>
              </a:spcAft>
              <a:buClr>
                <a:srgbClr val="FEF7F0"/>
              </a:buClr>
              <a:buSzPts val="3800"/>
              <a:buFont typeface="Trebuchet MS"/>
              <a:buNone/>
            </a:pPr>
            <a:r>
              <a:rPr lang="en-US"/>
              <a:t>CALCULATION OF ROUTING TABLE</a:t>
            </a:r>
            <a:endParaRPr/>
          </a:p>
        </p:txBody>
      </p:sp>
      <p:pic>
        <p:nvPicPr>
          <p:cNvPr id="266" name="Google Shape;266;p28"/>
          <p:cNvPicPr preferRelativeResize="0"/>
          <p:nvPr/>
        </p:nvPicPr>
        <p:blipFill rotWithShape="1">
          <a:blip r:embed="rId3">
            <a:alphaModFix/>
          </a:blip>
          <a:srcRect b="0" l="0" r="0" t="0"/>
          <a:stretch/>
        </p:blipFill>
        <p:spPr>
          <a:xfrm>
            <a:off x="1371600" y="1524000"/>
            <a:ext cx="5872633" cy="447916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9"/>
          <p:cNvSpPr txBox="1"/>
          <p:nvPr>
            <p:ph type="title"/>
          </p:nvPr>
        </p:nvSpPr>
        <p:spPr>
          <a:xfrm>
            <a:off x="457200" y="320046"/>
            <a:ext cx="7239000" cy="727800"/>
          </a:xfrm>
          <a:prstGeom prst="rect">
            <a:avLst/>
          </a:prstGeom>
          <a:noFill/>
          <a:ln>
            <a:noFill/>
          </a:ln>
        </p:spPr>
        <p:txBody>
          <a:bodyPr anchorCtr="0" anchor="b" bIns="0" lIns="45700" spcFirstLastPara="1" rIns="45700" wrap="square" tIns="0">
            <a:normAutofit/>
          </a:bodyPr>
          <a:lstStyle/>
          <a:p>
            <a:pPr indent="0" lvl="0" marL="0" rtl="1" algn="l">
              <a:lnSpc>
                <a:spcPct val="100000"/>
              </a:lnSpc>
              <a:spcBef>
                <a:spcPts val="0"/>
              </a:spcBef>
              <a:spcAft>
                <a:spcPts val="0"/>
              </a:spcAft>
              <a:buClr>
                <a:srgbClr val="FEF7F0"/>
              </a:buClr>
              <a:buSzPts val="3800"/>
              <a:buFont typeface="Trebuchet MS"/>
              <a:buNone/>
            </a:pPr>
            <a:r>
              <a:rPr lang="en-US"/>
              <a:t>PATH-VECTOR ROUTING</a:t>
            </a:r>
            <a:endParaRPr/>
          </a:p>
        </p:txBody>
      </p:sp>
      <p:sp>
        <p:nvSpPr>
          <p:cNvPr id="272" name="Google Shape;272;p29"/>
          <p:cNvSpPr txBox="1"/>
          <p:nvPr>
            <p:ph idx="1" type="body"/>
          </p:nvPr>
        </p:nvSpPr>
        <p:spPr>
          <a:xfrm>
            <a:off x="952500" y="1119576"/>
            <a:ext cx="7660800" cy="5330100"/>
          </a:xfrm>
          <a:prstGeom prst="rect">
            <a:avLst/>
          </a:prstGeom>
          <a:noFill/>
          <a:ln>
            <a:noFill/>
          </a:ln>
        </p:spPr>
        <p:txBody>
          <a:bodyPr anchorCtr="0" anchor="t" bIns="45700" lIns="91425" spcFirstLastPara="1" rIns="91425" wrap="square" tIns="45700">
            <a:normAutofit fontScale="92500"/>
          </a:bodyPr>
          <a:lstStyle/>
          <a:p>
            <a:pPr indent="-274320" lvl="0" marL="274320" rtl="0" algn="l">
              <a:lnSpc>
                <a:spcPct val="115000"/>
              </a:lnSpc>
              <a:spcBef>
                <a:spcPts val="0"/>
              </a:spcBef>
              <a:spcAft>
                <a:spcPts val="0"/>
              </a:spcAft>
              <a:buSzPct val="78918"/>
              <a:buChar char="●"/>
            </a:pPr>
            <a:r>
              <a:rPr lang="en-US" sz="2400"/>
              <a:t>Both link-state and distance-vector routing are based on the least-cost goal.</a:t>
            </a:r>
            <a:endParaRPr/>
          </a:p>
          <a:p>
            <a:pPr indent="0" lvl="0" marL="0" rtl="0" algn="ctr">
              <a:lnSpc>
                <a:spcPct val="115000"/>
              </a:lnSpc>
              <a:spcBef>
                <a:spcPts val="600"/>
              </a:spcBef>
              <a:spcAft>
                <a:spcPts val="0"/>
              </a:spcAft>
              <a:buSzPct val="78918"/>
              <a:buNone/>
            </a:pPr>
            <a:r>
              <a:t/>
            </a:r>
            <a:endParaRPr sz="2400">
              <a:solidFill>
                <a:srgbClr val="FF0000"/>
              </a:solidFill>
            </a:endParaRPr>
          </a:p>
          <a:p>
            <a:pPr indent="0" lvl="0" marL="0" rtl="0" algn="ctr">
              <a:lnSpc>
                <a:spcPct val="115000"/>
              </a:lnSpc>
              <a:spcBef>
                <a:spcPts val="600"/>
              </a:spcBef>
              <a:spcAft>
                <a:spcPts val="0"/>
              </a:spcAft>
              <a:buSzPct val="78918"/>
              <a:buNone/>
            </a:pPr>
            <a:r>
              <a:rPr lang="en-US" sz="2400">
                <a:solidFill>
                  <a:srgbClr val="FF0000"/>
                </a:solidFill>
              </a:rPr>
              <a:t>Least cost goal is not a priority</a:t>
            </a:r>
            <a:endParaRPr sz="2400">
              <a:solidFill>
                <a:srgbClr val="FF0000"/>
              </a:solidFill>
            </a:endParaRPr>
          </a:p>
          <a:p>
            <a:pPr indent="-274320" lvl="0" marL="274320" rtl="0" algn="l">
              <a:lnSpc>
                <a:spcPct val="115000"/>
              </a:lnSpc>
              <a:spcBef>
                <a:spcPts val="600"/>
              </a:spcBef>
              <a:spcAft>
                <a:spcPts val="0"/>
              </a:spcAft>
              <a:buSzPct val="78918"/>
              <a:buNone/>
            </a:pPr>
            <a:r>
              <a:t/>
            </a:r>
            <a:endParaRPr sz="2400"/>
          </a:p>
          <a:p>
            <a:pPr indent="-274320" lvl="0" marL="274320" rtl="0" algn="l">
              <a:lnSpc>
                <a:spcPct val="115000"/>
              </a:lnSpc>
              <a:spcBef>
                <a:spcPts val="600"/>
              </a:spcBef>
              <a:spcAft>
                <a:spcPts val="0"/>
              </a:spcAft>
              <a:buSzPct val="78918"/>
              <a:buChar char="●"/>
            </a:pPr>
            <a:r>
              <a:rPr lang="en-US" sz="2400"/>
              <a:t>router may belong to an organization that does not provide enough security, or it may belong to a commercial rival of the sender which might inspect the packets for obtaining information.</a:t>
            </a:r>
            <a:endParaRPr/>
          </a:p>
          <a:p>
            <a:pPr indent="-274320" lvl="0" marL="274320" rtl="0" algn="l">
              <a:lnSpc>
                <a:spcPct val="115000"/>
              </a:lnSpc>
              <a:spcBef>
                <a:spcPts val="600"/>
              </a:spcBef>
              <a:spcAft>
                <a:spcPts val="0"/>
              </a:spcAft>
              <a:buSzPct val="78918"/>
              <a:buNone/>
            </a:pPr>
            <a:r>
              <a:t/>
            </a:r>
            <a:endParaRPr sz="2400"/>
          </a:p>
          <a:p>
            <a:pPr indent="-274320" lvl="0" marL="274320" rtl="0" algn="l">
              <a:lnSpc>
                <a:spcPct val="115000"/>
              </a:lnSpc>
              <a:spcBef>
                <a:spcPts val="600"/>
              </a:spcBef>
              <a:spcAft>
                <a:spcPts val="1200"/>
              </a:spcAft>
              <a:buSzPct val="78918"/>
              <a:buChar char="●"/>
            </a:pPr>
            <a:r>
              <a:rPr lang="en-US" sz="2400"/>
              <a:t>Least-cost routing does not prevent a packet from passing through an area when that area is in the least-cost path.</a:t>
            </a:r>
            <a:endParaRPr sz="24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0"/>
          <p:cNvSpPr txBox="1"/>
          <p:nvPr>
            <p:ph type="title"/>
          </p:nvPr>
        </p:nvSpPr>
        <p:spPr>
          <a:xfrm>
            <a:off x="457200" y="320046"/>
            <a:ext cx="7239000" cy="632400"/>
          </a:xfrm>
          <a:prstGeom prst="rect">
            <a:avLst/>
          </a:prstGeom>
          <a:noFill/>
          <a:ln>
            <a:noFill/>
          </a:ln>
        </p:spPr>
        <p:txBody>
          <a:bodyPr anchorCtr="0" anchor="b" bIns="0" lIns="45700" spcFirstLastPara="1" rIns="45700" wrap="square" tIns="0">
            <a:normAutofit/>
          </a:bodyPr>
          <a:lstStyle/>
          <a:p>
            <a:pPr indent="0" lvl="0" marL="0" rtl="1" algn="l">
              <a:lnSpc>
                <a:spcPct val="100000"/>
              </a:lnSpc>
              <a:spcBef>
                <a:spcPts val="0"/>
              </a:spcBef>
              <a:spcAft>
                <a:spcPts val="0"/>
              </a:spcAft>
              <a:buClr>
                <a:srgbClr val="FEF7F0"/>
              </a:buClr>
              <a:buSzPts val="3800"/>
              <a:buFont typeface="Trebuchet MS"/>
              <a:buNone/>
            </a:pPr>
            <a:r>
              <a:rPr lang="en-US"/>
              <a:t>PATH-VECTOR ROUTING</a:t>
            </a:r>
            <a:endParaRPr/>
          </a:p>
        </p:txBody>
      </p:sp>
      <p:sp>
        <p:nvSpPr>
          <p:cNvPr id="278" name="Google Shape;278;p30"/>
          <p:cNvSpPr txBox="1"/>
          <p:nvPr>
            <p:ph idx="1" type="body"/>
          </p:nvPr>
        </p:nvSpPr>
        <p:spPr>
          <a:xfrm>
            <a:off x="702125" y="1146776"/>
            <a:ext cx="8047200" cy="5357400"/>
          </a:xfrm>
          <a:prstGeom prst="rect">
            <a:avLst/>
          </a:prstGeom>
          <a:noFill/>
          <a:ln>
            <a:noFill/>
          </a:ln>
        </p:spPr>
        <p:txBody>
          <a:bodyPr anchorCtr="0" anchor="t" bIns="45700" lIns="91425" spcFirstLastPara="1" rIns="91425" wrap="square" tIns="45700">
            <a:normAutofit/>
          </a:bodyPr>
          <a:lstStyle/>
          <a:p>
            <a:pPr indent="-274320" lvl="0" marL="274320" rtl="0" algn="l">
              <a:lnSpc>
                <a:spcPct val="115000"/>
              </a:lnSpc>
              <a:spcBef>
                <a:spcPts val="0"/>
              </a:spcBef>
              <a:spcAft>
                <a:spcPts val="0"/>
              </a:spcAft>
              <a:buSzPts val="3198"/>
              <a:buChar char="●"/>
            </a:pPr>
            <a:r>
              <a:rPr lang="en-US" sz="2600"/>
              <a:t>Path-vector routing does not have the drawbacks of LS or DV routing as described above because it is not based on least-cost routing.</a:t>
            </a:r>
            <a:endParaRPr sz="2600"/>
          </a:p>
          <a:p>
            <a:pPr indent="-274320" lvl="0" marL="274320" rtl="0" algn="l">
              <a:lnSpc>
                <a:spcPct val="115000"/>
              </a:lnSpc>
              <a:spcBef>
                <a:spcPts val="600"/>
              </a:spcBef>
              <a:spcAft>
                <a:spcPts val="0"/>
              </a:spcAft>
              <a:buSzPts val="3198"/>
              <a:buChar char="●"/>
            </a:pPr>
            <a:r>
              <a:rPr lang="en-US" sz="2600"/>
              <a:t>The best route is </a:t>
            </a:r>
            <a:r>
              <a:rPr lang="en-US" sz="2600" u="sng"/>
              <a:t>determined by the source </a:t>
            </a:r>
            <a:r>
              <a:rPr lang="en-US" sz="2600"/>
              <a:t>using the policy it imposes on the route.</a:t>
            </a:r>
            <a:endParaRPr sz="2600"/>
          </a:p>
          <a:p>
            <a:pPr indent="-274320" lvl="0" marL="274320" rtl="0" algn="l">
              <a:lnSpc>
                <a:spcPct val="115000"/>
              </a:lnSpc>
              <a:spcBef>
                <a:spcPts val="600"/>
              </a:spcBef>
              <a:spcAft>
                <a:spcPts val="0"/>
              </a:spcAft>
              <a:buSzPts val="3198"/>
              <a:buChar char="●"/>
            </a:pPr>
            <a:r>
              <a:rPr lang="en-US" sz="2600"/>
              <a:t>In other words, the </a:t>
            </a:r>
            <a:r>
              <a:rPr lang="en-US" sz="2600">
                <a:solidFill>
                  <a:srgbClr val="FF0000"/>
                </a:solidFill>
              </a:rPr>
              <a:t>source</a:t>
            </a:r>
            <a:r>
              <a:rPr lang="en-US" sz="2600"/>
              <a:t> can control the path.</a:t>
            </a:r>
            <a:endParaRPr sz="2600"/>
          </a:p>
          <a:p>
            <a:pPr indent="-274320" lvl="0" marL="274320" rtl="0" algn="l">
              <a:lnSpc>
                <a:spcPct val="115000"/>
              </a:lnSpc>
              <a:spcBef>
                <a:spcPts val="600"/>
              </a:spcBef>
              <a:spcAft>
                <a:spcPts val="1200"/>
              </a:spcAft>
              <a:buSzPts val="3198"/>
              <a:buChar char="●"/>
            </a:pPr>
            <a:r>
              <a:rPr lang="en-US" sz="2600"/>
              <a:t>path-vector routing is not actually used in an internet, and is mostly designed to route a packet between ISPs</a:t>
            </a:r>
            <a:endParaRPr sz="26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1"/>
          <p:cNvSpPr txBox="1"/>
          <p:nvPr>
            <p:ph type="title"/>
          </p:nvPr>
        </p:nvSpPr>
        <p:spPr>
          <a:xfrm>
            <a:off x="457200" y="320046"/>
            <a:ext cx="7239000" cy="659700"/>
          </a:xfrm>
          <a:prstGeom prst="rect">
            <a:avLst/>
          </a:prstGeom>
          <a:noFill/>
          <a:ln>
            <a:noFill/>
          </a:ln>
        </p:spPr>
        <p:txBody>
          <a:bodyPr anchorCtr="0" anchor="b" bIns="0" lIns="45700" spcFirstLastPara="1" rIns="45700" wrap="square" tIns="0">
            <a:normAutofit/>
          </a:bodyPr>
          <a:lstStyle/>
          <a:p>
            <a:pPr indent="0" lvl="0" marL="0" rtl="1" algn="l">
              <a:lnSpc>
                <a:spcPct val="100000"/>
              </a:lnSpc>
              <a:spcBef>
                <a:spcPts val="0"/>
              </a:spcBef>
              <a:spcAft>
                <a:spcPts val="0"/>
              </a:spcAft>
              <a:buClr>
                <a:srgbClr val="FEF7F0"/>
              </a:buClr>
              <a:buSzPts val="3800"/>
              <a:buFont typeface="Trebuchet MS"/>
              <a:buNone/>
            </a:pPr>
            <a:r>
              <a:rPr i="1" lang="en-US"/>
              <a:t>SPANNING TREES</a:t>
            </a:r>
            <a:endParaRPr/>
          </a:p>
        </p:txBody>
      </p:sp>
      <p:sp>
        <p:nvSpPr>
          <p:cNvPr id="284" name="Google Shape;284;p31"/>
          <p:cNvSpPr txBox="1"/>
          <p:nvPr>
            <p:ph idx="1" type="body"/>
          </p:nvPr>
        </p:nvSpPr>
        <p:spPr>
          <a:xfrm>
            <a:off x="457200" y="1174001"/>
            <a:ext cx="8346600" cy="5221500"/>
          </a:xfrm>
          <a:prstGeom prst="rect">
            <a:avLst/>
          </a:prstGeom>
          <a:noFill/>
          <a:ln>
            <a:noFill/>
          </a:ln>
        </p:spPr>
        <p:txBody>
          <a:bodyPr anchorCtr="0" anchor="t" bIns="45700" lIns="91425" spcFirstLastPara="1" rIns="91425" wrap="square" tIns="45700">
            <a:normAutofit/>
          </a:bodyPr>
          <a:lstStyle/>
          <a:p>
            <a:pPr indent="-274320" lvl="0" marL="274320" rtl="0" algn="l">
              <a:lnSpc>
                <a:spcPct val="115000"/>
              </a:lnSpc>
              <a:spcBef>
                <a:spcPts val="0"/>
              </a:spcBef>
              <a:spcAft>
                <a:spcPts val="0"/>
              </a:spcAft>
              <a:buSzPts val="2898"/>
              <a:buChar char="●"/>
            </a:pPr>
            <a:r>
              <a:rPr lang="en-US" sz="2300"/>
              <a:t>The tree determined by the source when it imposes its own policy. </a:t>
            </a:r>
            <a:endParaRPr sz="2300"/>
          </a:p>
          <a:p>
            <a:pPr indent="-274320" lvl="0" marL="274320" rtl="0" algn="l">
              <a:lnSpc>
                <a:spcPct val="115000"/>
              </a:lnSpc>
              <a:spcBef>
                <a:spcPts val="600"/>
              </a:spcBef>
              <a:spcAft>
                <a:spcPts val="0"/>
              </a:spcAft>
              <a:buSzPts val="2898"/>
              <a:buChar char="●"/>
            </a:pPr>
            <a:r>
              <a:rPr lang="en-US" sz="2300"/>
              <a:t>If there is more than one route to a destination, the source can choose the route that meets its policy best.</a:t>
            </a:r>
            <a:endParaRPr sz="2300"/>
          </a:p>
          <a:p>
            <a:pPr indent="-274320" lvl="0" marL="274320" rtl="0" algn="l">
              <a:lnSpc>
                <a:spcPct val="115000"/>
              </a:lnSpc>
              <a:spcBef>
                <a:spcPts val="600"/>
              </a:spcBef>
              <a:spcAft>
                <a:spcPts val="0"/>
              </a:spcAft>
              <a:buSzPts val="2898"/>
              <a:buChar char="●"/>
            </a:pPr>
            <a:r>
              <a:rPr lang="en-US" sz="2300"/>
              <a:t>A source may apply several policies at the same time.</a:t>
            </a:r>
            <a:endParaRPr sz="2300"/>
          </a:p>
          <a:p>
            <a:pPr indent="-274320" lvl="0" marL="274320" rtl="0" algn="l">
              <a:lnSpc>
                <a:spcPct val="115000"/>
              </a:lnSpc>
              <a:spcBef>
                <a:spcPts val="600"/>
              </a:spcBef>
              <a:spcAft>
                <a:spcPts val="0"/>
              </a:spcAft>
              <a:buSzPts val="2898"/>
              <a:buChar char="●"/>
            </a:pPr>
            <a:r>
              <a:rPr lang="en-US" sz="2300"/>
              <a:t>One of the common policies uses the minimum number of nodes to be visited.</a:t>
            </a:r>
            <a:endParaRPr sz="2300"/>
          </a:p>
          <a:p>
            <a:pPr indent="-274320" lvl="0" marL="274320" rtl="0" algn="l">
              <a:lnSpc>
                <a:spcPct val="115000"/>
              </a:lnSpc>
              <a:spcBef>
                <a:spcPts val="600"/>
              </a:spcBef>
              <a:spcAft>
                <a:spcPts val="1200"/>
              </a:spcAft>
              <a:buSzPts val="2898"/>
              <a:buChar char="●"/>
            </a:pPr>
            <a:r>
              <a:rPr lang="en-US" sz="2300"/>
              <a:t>common policy is to avoid some nodes as the middle node in a route.</a:t>
            </a:r>
            <a:endParaRPr sz="23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2"/>
          <p:cNvSpPr txBox="1"/>
          <p:nvPr>
            <p:ph type="title"/>
          </p:nvPr>
        </p:nvSpPr>
        <p:spPr>
          <a:xfrm>
            <a:off x="457200" y="320045"/>
            <a:ext cx="7239000" cy="550800"/>
          </a:xfrm>
          <a:prstGeom prst="rect">
            <a:avLst/>
          </a:prstGeom>
          <a:noFill/>
          <a:ln>
            <a:noFill/>
          </a:ln>
        </p:spPr>
        <p:txBody>
          <a:bodyPr anchorCtr="0" anchor="b" bIns="0" lIns="45700" spcFirstLastPara="1" rIns="45700" wrap="square" tIns="0">
            <a:normAutofit/>
          </a:bodyPr>
          <a:lstStyle/>
          <a:p>
            <a:pPr indent="0" lvl="0" marL="0" rtl="1" algn="l">
              <a:lnSpc>
                <a:spcPct val="100000"/>
              </a:lnSpc>
              <a:spcBef>
                <a:spcPts val="0"/>
              </a:spcBef>
              <a:spcAft>
                <a:spcPts val="0"/>
              </a:spcAft>
              <a:buClr>
                <a:srgbClr val="FEF7F0"/>
              </a:buClr>
              <a:buSzPts val="2400"/>
              <a:buFont typeface="Trebuchet MS"/>
              <a:buNone/>
            </a:pPr>
            <a:r>
              <a:rPr i="1" lang="en-US" sz="2400"/>
              <a:t>SPANNING TREES IN PATH-VECTOR ROUTING</a:t>
            </a:r>
            <a:endParaRPr sz="2400"/>
          </a:p>
        </p:txBody>
      </p:sp>
      <p:sp>
        <p:nvSpPr>
          <p:cNvPr id="290" name="Google Shape;290;p32"/>
          <p:cNvSpPr txBox="1"/>
          <p:nvPr>
            <p:ph idx="1" type="body"/>
          </p:nvPr>
        </p:nvSpPr>
        <p:spPr>
          <a:xfrm>
            <a:off x="457200" y="1133166"/>
            <a:ext cx="8001000" cy="4846200"/>
          </a:xfrm>
          <a:prstGeom prst="rect">
            <a:avLst/>
          </a:prstGeom>
          <a:noFill/>
          <a:ln>
            <a:noFill/>
          </a:ln>
        </p:spPr>
        <p:txBody>
          <a:bodyPr anchorCtr="0" anchor="t" bIns="45700" lIns="91425" spcFirstLastPara="1" rIns="91425" wrap="square" tIns="45700">
            <a:normAutofit/>
          </a:bodyPr>
          <a:lstStyle/>
          <a:p>
            <a:pPr indent="-274320" lvl="0" marL="274320" rtl="0" algn="l">
              <a:lnSpc>
                <a:spcPct val="115000"/>
              </a:lnSpc>
              <a:spcBef>
                <a:spcPts val="0"/>
              </a:spcBef>
              <a:spcAft>
                <a:spcPts val="0"/>
              </a:spcAft>
              <a:buSzPts val="1460"/>
              <a:buChar char="●"/>
            </a:pPr>
            <a:r>
              <a:rPr lang="en-US" sz="2000"/>
              <a:t>The policy imposed by all sources is to use the minimum number of nodes to reach a destination.</a:t>
            </a:r>
            <a:endParaRPr/>
          </a:p>
          <a:p>
            <a:pPr indent="-274320" lvl="0" marL="274320" rtl="0" algn="l">
              <a:lnSpc>
                <a:spcPct val="115000"/>
              </a:lnSpc>
              <a:spcBef>
                <a:spcPts val="600"/>
              </a:spcBef>
              <a:spcAft>
                <a:spcPts val="1200"/>
              </a:spcAft>
              <a:buSzPts val="1460"/>
              <a:buChar char="●"/>
            </a:pPr>
            <a:r>
              <a:rPr lang="en-US" sz="2000"/>
              <a:t>The spanning tree selected by </a:t>
            </a:r>
            <a:r>
              <a:rPr lang="en-US" sz="2000">
                <a:solidFill>
                  <a:srgbClr val="A24A73"/>
                </a:solidFill>
              </a:rPr>
              <a:t>A</a:t>
            </a:r>
            <a:r>
              <a:rPr lang="en-US" sz="2000"/>
              <a:t> and </a:t>
            </a:r>
            <a:r>
              <a:rPr lang="en-US" sz="2000">
                <a:solidFill>
                  <a:srgbClr val="A24A73"/>
                </a:solidFill>
              </a:rPr>
              <a:t>E</a:t>
            </a:r>
            <a:r>
              <a:rPr lang="en-US" sz="2000"/>
              <a:t> is such that the communication does not pass through D as a middle node.</a:t>
            </a:r>
            <a:endParaRPr sz="2000"/>
          </a:p>
        </p:txBody>
      </p:sp>
      <p:pic>
        <p:nvPicPr>
          <p:cNvPr descr="capture7.bmp" id="291" name="Google Shape;291;p32"/>
          <p:cNvPicPr preferRelativeResize="0"/>
          <p:nvPr/>
        </p:nvPicPr>
        <p:blipFill rotWithShape="1">
          <a:blip r:embed="rId3">
            <a:alphaModFix/>
          </a:blip>
          <a:srcRect b="0" l="0" r="0" t="0"/>
          <a:stretch/>
        </p:blipFill>
        <p:spPr>
          <a:xfrm>
            <a:off x="742950" y="2936425"/>
            <a:ext cx="7715250" cy="34290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5"/>
          <p:cNvSpPr txBox="1"/>
          <p:nvPr>
            <p:ph type="title"/>
          </p:nvPr>
        </p:nvSpPr>
        <p:spPr>
          <a:xfrm>
            <a:off x="457200" y="320046"/>
            <a:ext cx="7239000" cy="659700"/>
          </a:xfrm>
          <a:prstGeom prst="rect">
            <a:avLst/>
          </a:prstGeom>
          <a:noFill/>
          <a:ln>
            <a:noFill/>
          </a:ln>
        </p:spPr>
        <p:txBody>
          <a:bodyPr anchorCtr="0" anchor="b" bIns="0" lIns="45700" spcFirstLastPara="1" rIns="45700" wrap="square" tIns="0">
            <a:normAutofit/>
          </a:bodyPr>
          <a:lstStyle/>
          <a:p>
            <a:pPr indent="0" lvl="0" marL="0" rtl="1" algn="l">
              <a:lnSpc>
                <a:spcPct val="100000"/>
              </a:lnSpc>
              <a:spcBef>
                <a:spcPts val="0"/>
              </a:spcBef>
              <a:spcAft>
                <a:spcPts val="0"/>
              </a:spcAft>
              <a:buClr>
                <a:srgbClr val="FEF7F0"/>
              </a:buClr>
              <a:buSzPts val="3800"/>
              <a:buFont typeface="Trebuchet MS"/>
              <a:buNone/>
            </a:pPr>
            <a:r>
              <a:rPr i="1" lang="en-US"/>
              <a:t>UPDATING PATH VECTORS</a:t>
            </a:r>
            <a:endParaRPr/>
          </a:p>
        </p:txBody>
      </p:sp>
      <p:pic>
        <p:nvPicPr>
          <p:cNvPr descr="capture9.bmp" id="297" name="Google Shape;297;p35"/>
          <p:cNvPicPr preferRelativeResize="0"/>
          <p:nvPr>
            <p:ph idx="1" type="body"/>
          </p:nvPr>
        </p:nvPicPr>
        <p:blipFill rotWithShape="1">
          <a:blip r:embed="rId3">
            <a:alphaModFix/>
          </a:blip>
          <a:srcRect b="0" l="0" r="0" t="0"/>
          <a:stretch/>
        </p:blipFill>
        <p:spPr>
          <a:xfrm>
            <a:off x="952500" y="1428750"/>
            <a:ext cx="7239000" cy="47244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3"/>
          <p:cNvSpPr txBox="1"/>
          <p:nvPr>
            <p:ph type="title"/>
          </p:nvPr>
        </p:nvSpPr>
        <p:spPr>
          <a:xfrm>
            <a:off x="457200" y="320046"/>
            <a:ext cx="7239000" cy="632400"/>
          </a:xfrm>
          <a:prstGeom prst="rect">
            <a:avLst/>
          </a:prstGeom>
          <a:noFill/>
          <a:ln>
            <a:noFill/>
          </a:ln>
        </p:spPr>
        <p:txBody>
          <a:bodyPr anchorCtr="0" anchor="b" bIns="0" lIns="45700" spcFirstLastPara="1" rIns="45700" wrap="square" tIns="0">
            <a:normAutofit/>
          </a:bodyPr>
          <a:lstStyle/>
          <a:p>
            <a:pPr indent="0" lvl="0" marL="0" rtl="1" algn="l">
              <a:lnSpc>
                <a:spcPct val="100000"/>
              </a:lnSpc>
              <a:spcBef>
                <a:spcPts val="0"/>
              </a:spcBef>
              <a:spcAft>
                <a:spcPts val="0"/>
              </a:spcAft>
              <a:buClr>
                <a:srgbClr val="FEF7F0"/>
              </a:buClr>
              <a:buSzPts val="3800"/>
              <a:buFont typeface="Trebuchet MS"/>
              <a:buNone/>
            </a:pPr>
            <a:r>
              <a:rPr lang="en-US"/>
              <a:t>CREATION OF SPANNING TREES</a:t>
            </a:r>
            <a:endParaRPr/>
          </a:p>
        </p:txBody>
      </p:sp>
      <p:sp>
        <p:nvSpPr>
          <p:cNvPr id="303" name="Google Shape;303;p33"/>
          <p:cNvSpPr txBox="1"/>
          <p:nvPr>
            <p:ph idx="1" type="body"/>
          </p:nvPr>
        </p:nvSpPr>
        <p:spPr>
          <a:xfrm>
            <a:off x="647700" y="1160366"/>
            <a:ext cx="7848600" cy="4846200"/>
          </a:xfrm>
          <a:prstGeom prst="rect">
            <a:avLst/>
          </a:prstGeom>
          <a:noFill/>
          <a:ln>
            <a:noFill/>
          </a:ln>
        </p:spPr>
        <p:txBody>
          <a:bodyPr anchorCtr="0" anchor="t" bIns="45700" lIns="91425" spcFirstLastPara="1" rIns="91425" wrap="square" tIns="45700">
            <a:normAutofit/>
          </a:bodyPr>
          <a:lstStyle/>
          <a:p>
            <a:pPr indent="-274320" lvl="0" marL="274320" rtl="0" algn="l">
              <a:lnSpc>
                <a:spcPct val="115000"/>
              </a:lnSpc>
              <a:spcBef>
                <a:spcPts val="0"/>
              </a:spcBef>
              <a:spcAft>
                <a:spcPts val="0"/>
              </a:spcAft>
              <a:buSzPts val="1752"/>
              <a:buChar char="●"/>
            </a:pPr>
            <a:r>
              <a:rPr lang="en-US" sz="2400"/>
              <a:t>When a node is booted, it creates a path vector based on the information it can obtain about its immediate neighbor.</a:t>
            </a:r>
            <a:endParaRPr/>
          </a:p>
          <a:p>
            <a:pPr indent="-274320" lvl="0" marL="274320" rtl="0" algn="l">
              <a:lnSpc>
                <a:spcPct val="115000"/>
              </a:lnSpc>
              <a:spcBef>
                <a:spcPts val="600"/>
              </a:spcBef>
              <a:spcAft>
                <a:spcPts val="0"/>
              </a:spcAft>
              <a:buSzPts val="1752"/>
              <a:buChar char="●"/>
            </a:pPr>
            <a:r>
              <a:rPr lang="en-US" sz="2400"/>
              <a:t>A node sends greeting messages to its immediate neighbors to collect these pieces of information.</a:t>
            </a:r>
            <a:endParaRPr/>
          </a:p>
          <a:p>
            <a:pPr indent="-163068" lvl="0" marL="274320" rtl="0" algn="l">
              <a:lnSpc>
                <a:spcPct val="115000"/>
              </a:lnSpc>
              <a:spcBef>
                <a:spcPts val="600"/>
              </a:spcBef>
              <a:spcAft>
                <a:spcPts val="1200"/>
              </a:spcAft>
              <a:buSzPts val="1752"/>
              <a:buNone/>
            </a:pPr>
            <a:r>
              <a:t/>
            </a:r>
            <a:endParaRPr sz="2400"/>
          </a:p>
        </p:txBody>
      </p:sp>
      <p:pic>
        <p:nvPicPr>
          <p:cNvPr descr="capture8.bmp" id="304" name="Google Shape;304;p33"/>
          <p:cNvPicPr preferRelativeResize="0"/>
          <p:nvPr/>
        </p:nvPicPr>
        <p:blipFill rotWithShape="1">
          <a:blip r:embed="rId3">
            <a:alphaModFix/>
          </a:blip>
          <a:srcRect b="0" l="0" r="0" t="0"/>
          <a:stretch/>
        </p:blipFill>
        <p:spPr>
          <a:xfrm>
            <a:off x="819150" y="3494325"/>
            <a:ext cx="7924800" cy="31242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4"/>
          <p:cNvSpPr txBox="1"/>
          <p:nvPr>
            <p:ph type="title"/>
          </p:nvPr>
        </p:nvSpPr>
        <p:spPr>
          <a:xfrm>
            <a:off x="457200" y="320046"/>
            <a:ext cx="7239000" cy="687000"/>
          </a:xfrm>
          <a:prstGeom prst="rect">
            <a:avLst/>
          </a:prstGeom>
          <a:noFill/>
          <a:ln>
            <a:noFill/>
          </a:ln>
        </p:spPr>
        <p:txBody>
          <a:bodyPr anchorCtr="0" anchor="b" bIns="0" lIns="45700" spcFirstLastPara="1" rIns="45700" wrap="square" tIns="0">
            <a:normAutofit/>
          </a:bodyPr>
          <a:lstStyle/>
          <a:p>
            <a:pPr indent="0" lvl="0" marL="0" rtl="1" algn="l">
              <a:lnSpc>
                <a:spcPct val="100000"/>
              </a:lnSpc>
              <a:spcBef>
                <a:spcPts val="0"/>
              </a:spcBef>
              <a:spcAft>
                <a:spcPts val="0"/>
              </a:spcAft>
              <a:buClr>
                <a:srgbClr val="FEF7F0"/>
              </a:buClr>
              <a:buSzPts val="3800"/>
              <a:buFont typeface="Trebuchet MS"/>
              <a:buNone/>
            </a:pPr>
            <a:r>
              <a:rPr lang="en-US"/>
              <a:t>CREATION OF SPANNING TREES</a:t>
            </a:r>
            <a:endParaRPr/>
          </a:p>
        </p:txBody>
      </p:sp>
      <p:sp>
        <p:nvSpPr>
          <p:cNvPr id="310" name="Google Shape;310;p34"/>
          <p:cNvSpPr txBox="1"/>
          <p:nvPr>
            <p:ph idx="1" type="body"/>
          </p:nvPr>
        </p:nvSpPr>
        <p:spPr>
          <a:xfrm>
            <a:off x="824575" y="1105975"/>
            <a:ext cx="7884000" cy="4846200"/>
          </a:xfrm>
          <a:prstGeom prst="rect">
            <a:avLst/>
          </a:prstGeom>
          <a:noFill/>
          <a:ln>
            <a:noFill/>
          </a:ln>
        </p:spPr>
        <p:txBody>
          <a:bodyPr anchorCtr="0" anchor="t" bIns="45700" lIns="91425" spcFirstLastPara="1" rIns="91425" wrap="square" tIns="45700">
            <a:normAutofit/>
          </a:bodyPr>
          <a:lstStyle/>
          <a:p>
            <a:pPr indent="-274320" lvl="0" marL="274320" rtl="0" algn="l">
              <a:lnSpc>
                <a:spcPct val="115000"/>
              </a:lnSpc>
              <a:spcBef>
                <a:spcPts val="0"/>
              </a:spcBef>
              <a:spcAft>
                <a:spcPts val="0"/>
              </a:spcAft>
              <a:buSzPts val="1660"/>
              <a:buChar char="●"/>
            </a:pPr>
            <a:r>
              <a:rPr lang="en-US" sz="2200"/>
              <a:t>The policy is defined by selecting the best of multiple paths. </a:t>
            </a:r>
            <a:endParaRPr sz="1500"/>
          </a:p>
          <a:p>
            <a:pPr indent="-181610" lvl="0" marL="274320" rtl="0" algn="l">
              <a:lnSpc>
                <a:spcPct val="115000"/>
              </a:lnSpc>
              <a:spcBef>
                <a:spcPts val="600"/>
              </a:spcBef>
              <a:spcAft>
                <a:spcPts val="0"/>
              </a:spcAft>
              <a:buSzPts val="1460"/>
              <a:buNone/>
            </a:pPr>
            <a:r>
              <a:t/>
            </a:r>
            <a:endParaRPr sz="2200"/>
          </a:p>
          <a:p>
            <a:pPr indent="-274320" lvl="0" marL="274320" rtl="0" algn="l">
              <a:lnSpc>
                <a:spcPct val="115000"/>
              </a:lnSpc>
              <a:spcBef>
                <a:spcPts val="600"/>
              </a:spcBef>
              <a:spcAft>
                <a:spcPts val="0"/>
              </a:spcAft>
              <a:buSzPts val="1660"/>
              <a:buChar char="●"/>
            </a:pPr>
            <a:r>
              <a:rPr lang="en-US" sz="2200"/>
              <a:t>Path-vector routing also imposes one more condition on this equation: If Path (x, y) includes x, that path is discarded to avoid a loop in the path.</a:t>
            </a:r>
            <a:endParaRPr sz="1500"/>
          </a:p>
          <a:p>
            <a:pPr indent="-181610" lvl="0" marL="274320" rtl="0" algn="l">
              <a:lnSpc>
                <a:spcPct val="115000"/>
              </a:lnSpc>
              <a:spcBef>
                <a:spcPts val="600"/>
              </a:spcBef>
              <a:spcAft>
                <a:spcPts val="0"/>
              </a:spcAft>
              <a:buSzPts val="1460"/>
              <a:buNone/>
            </a:pPr>
            <a:r>
              <a:t/>
            </a:r>
            <a:endParaRPr sz="2200"/>
          </a:p>
          <a:p>
            <a:pPr indent="-274320" lvl="0" marL="274320" rtl="0" algn="l">
              <a:lnSpc>
                <a:spcPct val="115000"/>
              </a:lnSpc>
              <a:spcBef>
                <a:spcPts val="600"/>
              </a:spcBef>
              <a:spcAft>
                <a:spcPts val="1200"/>
              </a:spcAft>
              <a:buSzPts val="1660"/>
              <a:buChar char="●"/>
            </a:pPr>
            <a:r>
              <a:rPr lang="en-US" sz="2200"/>
              <a:t> In other words, x does not want to visit itself when it selects a path to y.</a:t>
            </a:r>
            <a:endParaRPr sz="22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6"/>
          <p:cNvSpPr txBox="1"/>
          <p:nvPr>
            <p:ph type="title"/>
          </p:nvPr>
        </p:nvSpPr>
        <p:spPr>
          <a:xfrm>
            <a:off x="457200" y="-76200"/>
            <a:ext cx="7239000" cy="838200"/>
          </a:xfrm>
          <a:prstGeom prst="rect">
            <a:avLst/>
          </a:prstGeom>
          <a:noFill/>
          <a:ln>
            <a:noFill/>
          </a:ln>
        </p:spPr>
        <p:txBody>
          <a:bodyPr anchorCtr="0" anchor="b" bIns="0" lIns="45700" spcFirstLastPara="1" rIns="45700" wrap="square" tIns="0">
            <a:normAutofit/>
          </a:bodyPr>
          <a:lstStyle/>
          <a:p>
            <a:pPr indent="0" lvl="0" marL="0" rtl="1" algn="l">
              <a:lnSpc>
                <a:spcPct val="100000"/>
              </a:lnSpc>
              <a:spcBef>
                <a:spcPts val="0"/>
              </a:spcBef>
              <a:spcAft>
                <a:spcPts val="0"/>
              </a:spcAft>
              <a:buClr>
                <a:srgbClr val="FEF7F0"/>
              </a:buClr>
              <a:buSzPts val="3800"/>
              <a:buFont typeface="Trebuchet MS"/>
              <a:buNone/>
            </a:pPr>
            <a:r>
              <a:rPr lang="en-US"/>
              <a:t>PATH-VECTOR ALGORITHM</a:t>
            </a:r>
            <a:endParaRPr/>
          </a:p>
        </p:txBody>
      </p:sp>
      <p:pic>
        <p:nvPicPr>
          <p:cNvPr descr="capture10.bmp" id="316" name="Google Shape;316;p36"/>
          <p:cNvPicPr preferRelativeResize="0"/>
          <p:nvPr>
            <p:ph idx="1" type="body"/>
          </p:nvPr>
        </p:nvPicPr>
        <p:blipFill rotWithShape="1">
          <a:blip r:embed="rId3">
            <a:alphaModFix/>
          </a:blip>
          <a:srcRect b="0" l="0" r="0" t="0"/>
          <a:stretch/>
        </p:blipFill>
        <p:spPr>
          <a:xfrm>
            <a:off x="685800" y="788826"/>
            <a:ext cx="6248400" cy="6069174"/>
          </a:xfrm>
          <a:prstGeom prst="rect">
            <a:avLst/>
          </a:prstGeom>
          <a:noFill/>
          <a:ln>
            <a:noFill/>
          </a:ln>
        </p:spPr>
      </p:pic>
      <p:sp>
        <p:nvSpPr>
          <p:cNvPr id="317" name="Google Shape;317;p36"/>
          <p:cNvSpPr txBox="1"/>
          <p:nvPr/>
        </p:nvSpPr>
        <p:spPr>
          <a:xfrm>
            <a:off x="7162800" y="6400800"/>
            <a:ext cx="9144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dk1"/>
                </a:solidFill>
                <a:latin typeface="Trebuchet MS"/>
                <a:ea typeface="Trebuchet MS"/>
                <a:cs typeface="Trebuchet MS"/>
                <a:sym typeface="Trebuchet MS"/>
                <a:hlinkClick r:id="rId4">
                  <a:extLst>
                    <a:ext uri="{A12FA001-AC4F-418D-AE19-62706E023703}">
                      <ahyp:hlinkClr val="tx"/>
                    </a:ext>
                  </a:extLst>
                </a:hlinkClick>
              </a:rPr>
              <a:t>NEXT</a:t>
            </a:r>
            <a:endParaRPr b="0" i="0" sz="1800" u="none" cap="none" strike="noStrike">
              <a:solidFill>
                <a:schemeClr val="dk1"/>
              </a:solidFill>
              <a:latin typeface="Trebuchet MS"/>
              <a:ea typeface="Trebuchet MS"/>
              <a:cs typeface="Trebuchet MS"/>
              <a:sym typeface="Trebuchet M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Abu Sayed</dc:creator>
</cp:coreProperties>
</file>