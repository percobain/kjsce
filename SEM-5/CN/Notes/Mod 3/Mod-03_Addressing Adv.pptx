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2.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1" r:id="rId5"/>
    <p:sldMasterId id="2147483653" r:id="rId6"/>
    <p:sldMasterId id="2147483656" r:id="rId7"/>
    <p:sldMasterId id="2147483657" r:id="rId8"/>
    <p:sldMasterId id="2147483659" r:id="rId9"/>
    <p:sldMasterId id="2147483661" r:id="rId10"/>
    <p:sldMasterId id="2147483663" r:id="rId11"/>
    <p:sldMasterId id="2147483665" r:id="rId12"/>
    <p:sldMasterId id="2147483667" r:id="rId13"/>
    <p:sldMasterId id="2147483669" r:id="rId14"/>
    <p:sldMasterId id="2147483671" r:id="rId15"/>
    <p:sldMasterId id="2147483673" r:id="rId16"/>
  </p:sldMasterIdLst>
  <p:notesMasterIdLst>
    <p:notesMasterId r:id="rId17"/>
  </p:notesMasterIdLst>
  <p:sldIdLst>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285" r:id="rId47"/>
    <p:sldId id="286" r:id="rId48"/>
    <p:sldId id="287" r:id="rId49"/>
    <p:sldId id="288" r:id="rId50"/>
    <p:sldId id="289" r:id="rId51"/>
    <p:sldId id="290" r:id="rId52"/>
    <p:sldId id="291" r:id="rId53"/>
    <p:sldId id="292" r:id="rId54"/>
    <p:sldId id="293" r:id="rId55"/>
    <p:sldId id="294" r:id="rId56"/>
    <p:sldId id="295" r:id="rId57"/>
    <p:sldId id="296" r:id="rId58"/>
    <p:sldId id="297" r:id="rId59"/>
    <p:sldId id="298" r:id="rId60"/>
    <p:sldId id="299" r:id="rId61"/>
    <p:sldId id="300" r:id="rId62"/>
    <p:sldId id="301" r:id="rId63"/>
    <p:sldId id="302" r:id="rId64"/>
    <p:sldId id="303" r:id="rId65"/>
    <p:sldId id="304" r:id="rId66"/>
    <p:sldId id="305" r:id="rId67"/>
    <p:sldId id="306" r:id="rId68"/>
    <p:sldId id="307" r:id="rId69"/>
    <p:sldId id="308" r:id="rId70"/>
    <p:sldId id="309" r:id="rId71"/>
    <p:sldId id="310" r:id="rId72"/>
    <p:sldId id="311" r:id="rId73"/>
    <p:sldId id="312" r:id="rId74"/>
    <p:sldId id="313" r:id="rId75"/>
    <p:sldId id="314" r:id="rId76"/>
    <p:sldId id="315" r:id="rId77"/>
    <p:sldId id="316" r:id="rId78"/>
    <p:sldId id="317" r:id="rId79"/>
    <p:sldId id="318" r:id="rId80"/>
    <p:sldId id="319" r:id="rId81"/>
    <p:sldId id="320" r:id="rId82"/>
    <p:sldId id="321" r:id="rId83"/>
    <p:sldId id="322" r:id="rId84"/>
    <p:sldId id="323" r:id="rId85"/>
    <p:sldId id="324" r:id="rId86"/>
    <p:sldId id="325" r:id="rId87"/>
    <p:sldId id="326" r:id="rId88"/>
    <p:sldId id="327" r:id="rId89"/>
    <p:sldId id="328" r:id="rId90"/>
    <p:sldId id="329" r:id="rId91"/>
    <p:sldId id="330" r:id="rId92"/>
    <p:sldId id="331" r:id="rId93"/>
  </p:sldIdLst>
  <p:sldSz cy="6858000" cx="9144000"/>
  <p:notesSz cx="6858000" cy="9144000"/>
  <p:embeddedFontLst>
    <p:embeddedFont>
      <p:font typeface="Arimo"/>
      <p:regular r:id="rId94"/>
      <p:bold r:id="rId95"/>
      <p:italic r:id="rId96"/>
      <p:boldItalic r:id="rId97"/>
    </p:embeddedFont>
    <p:embeddedFont>
      <p:font typeface="Noto Sans Symbols"/>
      <p:regular r:id="rId98"/>
      <p:bold r:id="rId9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00" roundtripDataSignature="AMtx7miyWCevBMMboUX4u6ph2+otSImf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3.xml"/><Relationship Id="rId42" Type="http://schemas.openxmlformats.org/officeDocument/2006/relationships/slide" Target="slides/slide25.xml"/><Relationship Id="rId41" Type="http://schemas.openxmlformats.org/officeDocument/2006/relationships/slide" Target="slides/slide24.xml"/><Relationship Id="rId44" Type="http://schemas.openxmlformats.org/officeDocument/2006/relationships/slide" Target="slides/slide27.xml"/><Relationship Id="rId43" Type="http://schemas.openxmlformats.org/officeDocument/2006/relationships/slide" Target="slides/slide26.xml"/><Relationship Id="rId46" Type="http://schemas.openxmlformats.org/officeDocument/2006/relationships/slide" Target="slides/slide29.xml"/><Relationship Id="rId45" Type="http://schemas.openxmlformats.org/officeDocument/2006/relationships/slide" Target="slides/slide28.xml"/><Relationship Id="rId48" Type="http://schemas.openxmlformats.org/officeDocument/2006/relationships/slide" Target="slides/slide31.xml"/><Relationship Id="rId47" Type="http://schemas.openxmlformats.org/officeDocument/2006/relationships/slide" Target="slides/slide30.xml"/><Relationship Id="rId49" Type="http://schemas.openxmlformats.org/officeDocument/2006/relationships/slide" Target="slides/slide32.xml"/><Relationship Id="rId100" Type="http://customschemas.google.com/relationships/presentationmetadata" Target="metadata"/><Relationship Id="rId31" Type="http://schemas.openxmlformats.org/officeDocument/2006/relationships/slide" Target="slides/slide14.xml"/><Relationship Id="rId30" Type="http://schemas.openxmlformats.org/officeDocument/2006/relationships/slide" Target="slides/slide13.xml"/><Relationship Id="rId33" Type="http://schemas.openxmlformats.org/officeDocument/2006/relationships/slide" Target="slides/slide16.xml"/><Relationship Id="rId32" Type="http://schemas.openxmlformats.org/officeDocument/2006/relationships/slide" Target="slides/slide15.xml"/><Relationship Id="rId35" Type="http://schemas.openxmlformats.org/officeDocument/2006/relationships/slide" Target="slides/slide18.xml"/><Relationship Id="rId34" Type="http://schemas.openxmlformats.org/officeDocument/2006/relationships/slide" Target="slides/slide17.xml"/><Relationship Id="rId37" Type="http://schemas.openxmlformats.org/officeDocument/2006/relationships/slide" Target="slides/slide20.xml"/><Relationship Id="rId36" Type="http://schemas.openxmlformats.org/officeDocument/2006/relationships/slide" Target="slides/slide19.xml"/><Relationship Id="rId39" Type="http://schemas.openxmlformats.org/officeDocument/2006/relationships/slide" Target="slides/slide22.xml"/><Relationship Id="rId38" Type="http://schemas.openxmlformats.org/officeDocument/2006/relationships/slide" Target="slides/slide21.xml"/><Relationship Id="rId20" Type="http://schemas.openxmlformats.org/officeDocument/2006/relationships/slide" Target="slides/slide3.xml"/><Relationship Id="rId22" Type="http://schemas.openxmlformats.org/officeDocument/2006/relationships/slide" Target="slides/slide5.xml"/><Relationship Id="rId21" Type="http://schemas.openxmlformats.org/officeDocument/2006/relationships/slide" Target="slides/slide4.xml"/><Relationship Id="rId24" Type="http://schemas.openxmlformats.org/officeDocument/2006/relationships/slide" Target="slides/slide7.xml"/><Relationship Id="rId23" Type="http://schemas.openxmlformats.org/officeDocument/2006/relationships/slide" Target="slides/slide6.xml"/><Relationship Id="rId26" Type="http://schemas.openxmlformats.org/officeDocument/2006/relationships/slide" Target="slides/slide9.xml"/><Relationship Id="rId25" Type="http://schemas.openxmlformats.org/officeDocument/2006/relationships/slide" Target="slides/slide8.xml"/><Relationship Id="rId28" Type="http://schemas.openxmlformats.org/officeDocument/2006/relationships/slide" Target="slides/slide11.xml"/><Relationship Id="rId27" Type="http://schemas.openxmlformats.org/officeDocument/2006/relationships/slide" Target="slides/slide10.xml"/><Relationship Id="rId29" Type="http://schemas.openxmlformats.org/officeDocument/2006/relationships/slide" Target="slides/slide12.xml"/><Relationship Id="rId95" Type="http://schemas.openxmlformats.org/officeDocument/2006/relationships/font" Target="fonts/Arimo-bold.fntdata"/><Relationship Id="rId94" Type="http://schemas.openxmlformats.org/officeDocument/2006/relationships/font" Target="fonts/Arimo-regular.fntdata"/><Relationship Id="rId97" Type="http://schemas.openxmlformats.org/officeDocument/2006/relationships/font" Target="fonts/Arimo-boldItalic.fntdata"/><Relationship Id="rId96" Type="http://schemas.openxmlformats.org/officeDocument/2006/relationships/font" Target="fonts/Arimo-italic.fntdata"/><Relationship Id="rId11" Type="http://schemas.openxmlformats.org/officeDocument/2006/relationships/slideMaster" Target="slideMasters/slideMaster8.xml"/><Relationship Id="rId99" Type="http://schemas.openxmlformats.org/officeDocument/2006/relationships/font" Target="fonts/NotoSansSymbols-bold.fntdata"/><Relationship Id="rId10" Type="http://schemas.openxmlformats.org/officeDocument/2006/relationships/slideMaster" Target="slideMasters/slideMaster7.xml"/><Relationship Id="rId98" Type="http://schemas.openxmlformats.org/officeDocument/2006/relationships/font" Target="fonts/NotoSansSymbols-regular.fntdata"/><Relationship Id="rId13" Type="http://schemas.openxmlformats.org/officeDocument/2006/relationships/slideMaster" Target="slideMasters/slideMaster10.xml"/><Relationship Id="rId12" Type="http://schemas.openxmlformats.org/officeDocument/2006/relationships/slideMaster" Target="slideMasters/slideMaster9.xml"/><Relationship Id="rId91" Type="http://schemas.openxmlformats.org/officeDocument/2006/relationships/slide" Target="slides/slide74.xml"/><Relationship Id="rId90" Type="http://schemas.openxmlformats.org/officeDocument/2006/relationships/slide" Target="slides/slide73.xml"/><Relationship Id="rId93" Type="http://schemas.openxmlformats.org/officeDocument/2006/relationships/slide" Target="slides/slide76.xml"/><Relationship Id="rId92" Type="http://schemas.openxmlformats.org/officeDocument/2006/relationships/slide" Target="slides/slide75.xml"/><Relationship Id="rId15" Type="http://schemas.openxmlformats.org/officeDocument/2006/relationships/slideMaster" Target="slideMasters/slideMaster12.xml"/><Relationship Id="rId14" Type="http://schemas.openxmlformats.org/officeDocument/2006/relationships/slideMaster" Target="slideMasters/slideMaster11.xml"/><Relationship Id="rId17" Type="http://schemas.openxmlformats.org/officeDocument/2006/relationships/notesMaster" Target="notesMasters/notesMaster1.xml"/><Relationship Id="rId16" Type="http://schemas.openxmlformats.org/officeDocument/2006/relationships/slideMaster" Target="slideMasters/slideMaster13.xml"/><Relationship Id="rId19" Type="http://schemas.openxmlformats.org/officeDocument/2006/relationships/slide" Target="slides/slide2.xml"/><Relationship Id="rId18" Type="http://schemas.openxmlformats.org/officeDocument/2006/relationships/slide" Target="slides/slide1.xml"/><Relationship Id="rId84" Type="http://schemas.openxmlformats.org/officeDocument/2006/relationships/slide" Target="slides/slide67.xml"/><Relationship Id="rId83" Type="http://schemas.openxmlformats.org/officeDocument/2006/relationships/slide" Target="slides/slide66.xml"/><Relationship Id="rId86" Type="http://schemas.openxmlformats.org/officeDocument/2006/relationships/slide" Target="slides/slide69.xml"/><Relationship Id="rId85" Type="http://schemas.openxmlformats.org/officeDocument/2006/relationships/slide" Target="slides/slide68.xml"/><Relationship Id="rId88" Type="http://schemas.openxmlformats.org/officeDocument/2006/relationships/slide" Target="slides/slide71.xml"/><Relationship Id="rId87" Type="http://schemas.openxmlformats.org/officeDocument/2006/relationships/slide" Target="slides/slide70.xml"/><Relationship Id="rId89" Type="http://schemas.openxmlformats.org/officeDocument/2006/relationships/slide" Target="slides/slide72.xml"/><Relationship Id="rId80" Type="http://schemas.openxmlformats.org/officeDocument/2006/relationships/slide" Target="slides/slide63.xml"/><Relationship Id="rId82" Type="http://schemas.openxmlformats.org/officeDocument/2006/relationships/slide" Target="slides/slide65.xml"/><Relationship Id="rId81" Type="http://schemas.openxmlformats.org/officeDocument/2006/relationships/slide" Target="slides/slide64.xml"/><Relationship Id="rId1" Type="http://schemas.openxmlformats.org/officeDocument/2006/relationships/theme" Target="theme/theme1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73" Type="http://schemas.openxmlformats.org/officeDocument/2006/relationships/slide" Target="slides/slide56.xml"/><Relationship Id="rId72" Type="http://schemas.openxmlformats.org/officeDocument/2006/relationships/slide" Target="slides/slide55.xml"/><Relationship Id="rId75" Type="http://schemas.openxmlformats.org/officeDocument/2006/relationships/slide" Target="slides/slide58.xml"/><Relationship Id="rId74" Type="http://schemas.openxmlformats.org/officeDocument/2006/relationships/slide" Target="slides/slide57.xml"/><Relationship Id="rId77" Type="http://schemas.openxmlformats.org/officeDocument/2006/relationships/slide" Target="slides/slide60.xml"/><Relationship Id="rId76" Type="http://schemas.openxmlformats.org/officeDocument/2006/relationships/slide" Target="slides/slide59.xml"/><Relationship Id="rId79" Type="http://schemas.openxmlformats.org/officeDocument/2006/relationships/slide" Target="slides/slide62.xml"/><Relationship Id="rId78" Type="http://schemas.openxmlformats.org/officeDocument/2006/relationships/slide" Target="slides/slide61.xml"/><Relationship Id="rId71" Type="http://schemas.openxmlformats.org/officeDocument/2006/relationships/slide" Target="slides/slide54.xml"/><Relationship Id="rId70" Type="http://schemas.openxmlformats.org/officeDocument/2006/relationships/slide" Target="slides/slide53.xml"/><Relationship Id="rId62" Type="http://schemas.openxmlformats.org/officeDocument/2006/relationships/slide" Target="slides/slide45.xml"/><Relationship Id="rId61" Type="http://schemas.openxmlformats.org/officeDocument/2006/relationships/slide" Target="slides/slide44.xml"/><Relationship Id="rId64" Type="http://schemas.openxmlformats.org/officeDocument/2006/relationships/slide" Target="slides/slide47.xml"/><Relationship Id="rId63" Type="http://schemas.openxmlformats.org/officeDocument/2006/relationships/slide" Target="slides/slide46.xml"/><Relationship Id="rId66" Type="http://schemas.openxmlformats.org/officeDocument/2006/relationships/slide" Target="slides/slide49.xml"/><Relationship Id="rId65" Type="http://schemas.openxmlformats.org/officeDocument/2006/relationships/slide" Target="slides/slide48.xml"/><Relationship Id="rId68" Type="http://schemas.openxmlformats.org/officeDocument/2006/relationships/slide" Target="slides/slide51.xml"/><Relationship Id="rId67" Type="http://schemas.openxmlformats.org/officeDocument/2006/relationships/slide" Target="slides/slide50.xml"/><Relationship Id="rId60" Type="http://schemas.openxmlformats.org/officeDocument/2006/relationships/slide" Target="slides/slide43.xml"/><Relationship Id="rId69" Type="http://schemas.openxmlformats.org/officeDocument/2006/relationships/slide" Target="slides/slide52.xml"/><Relationship Id="rId51" Type="http://schemas.openxmlformats.org/officeDocument/2006/relationships/slide" Target="slides/slide34.xml"/><Relationship Id="rId50" Type="http://schemas.openxmlformats.org/officeDocument/2006/relationships/slide" Target="slides/slide33.xml"/><Relationship Id="rId53" Type="http://schemas.openxmlformats.org/officeDocument/2006/relationships/slide" Target="slides/slide36.xml"/><Relationship Id="rId52" Type="http://schemas.openxmlformats.org/officeDocument/2006/relationships/slide" Target="slides/slide35.xml"/><Relationship Id="rId55" Type="http://schemas.openxmlformats.org/officeDocument/2006/relationships/slide" Target="slides/slide38.xml"/><Relationship Id="rId54" Type="http://schemas.openxmlformats.org/officeDocument/2006/relationships/slide" Target="slides/slide37.xml"/><Relationship Id="rId57" Type="http://schemas.openxmlformats.org/officeDocument/2006/relationships/slide" Target="slides/slide40.xml"/><Relationship Id="rId56" Type="http://schemas.openxmlformats.org/officeDocument/2006/relationships/slide" Target="slides/slide39.xml"/><Relationship Id="rId59" Type="http://schemas.openxmlformats.org/officeDocument/2006/relationships/slide" Target="slides/slide42.xml"/><Relationship Id="rId5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1" name="Shape 11"/>
        <p:cNvGrpSpPr/>
        <p:nvPr/>
      </p:nvGrpSpPr>
      <p:grpSpPr>
        <a:xfrm>
          <a:off x="0" y="0"/>
          <a:ext cx="0" cy="0"/>
          <a:chOff x="0" y="0"/>
          <a:chExt cx="0" cy="0"/>
        </a:xfrm>
      </p:grpSpPr>
      <p:sp>
        <p:nvSpPr>
          <p:cNvPr id="12" name="Google Shape;12;p7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7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7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spTree>
      <p:nvGrpSpPr>
        <p:cNvPr id="15" name="Shape 15"/>
        <p:cNvGrpSpPr/>
        <p:nvPr/>
      </p:nvGrpSpPr>
      <p:grpSpPr>
        <a:xfrm>
          <a:off x="0" y="0"/>
          <a:ext cx="0" cy="0"/>
          <a:chOff x="0" y="0"/>
          <a:chExt cx="0" cy="0"/>
        </a:xfrm>
      </p:grpSpPr>
      <p:sp>
        <p:nvSpPr>
          <p:cNvPr id="16" name="Google Shape;16;p78_34uhpue0kc"/>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8_34uhpue0kc"/>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8_34uhpue0kc"/>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80"/>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7" name="Google Shape;27;p80"/>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8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8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8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7" name="Shape 37"/>
        <p:cNvGrpSpPr/>
        <p:nvPr/>
      </p:nvGrpSpPr>
      <p:grpSpPr>
        <a:xfrm>
          <a:off x="0" y="0"/>
          <a:ext cx="0" cy="0"/>
          <a:chOff x="0" y="0"/>
          <a:chExt cx="0" cy="0"/>
        </a:xfrm>
      </p:grpSpPr>
      <p:sp>
        <p:nvSpPr>
          <p:cNvPr id="38" name="Google Shape;38;p8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8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8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spTree>
      <p:nvGrpSpPr>
        <p:cNvPr id="41" name="Shape 41"/>
        <p:cNvGrpSpPr/>
        <p:nvPr/>
      </p:nvGrpSpPr>
      <p:grpSpPr>
        <a:xfrm>
          <a:off x="0" y="0"/>
          <a:ext cx="0" cy="0"/>
          <a:chOff x="0" y="0"/>
          <a:chExt cx="0" cy="0"/>
        </a:xfrm>
      </p:grpSpPr>
      <p:sp>
        <p:nvSpPr>
          <p:cNvPr id="42" name="Google Shape;42;p82_1s0m899cj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82_1s0m899cj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82_1s0m899cj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9" name="Shape 59"/>
        <p:cNvGrpSpPr/>
        <p:nvPr/>
      </p:nvGrpSpPr>
      <p:grpSpPr>
        <a:xfrm>
          <a:off x="0" y="0"/>
          <a:ext cx="0" cy="0"/>
          <a:chOff x="0" y="0"/>
          <a:chExt cx="0" cy="0"/>
        </a:xfrm>
      </p:grpSpPr>
      <p:sp>
        <p:nvSpPr>
          <p:cNvPr id="60" name="Google Shape;60;p85"/>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1" name="Google Shape;61;p85"/>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2" name="Google Shape;62;p8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8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8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71" name="Shape 71"/>
        <p:cNvGrpSpPr/>
        <p:nvPr/>
      </p:nvGrpSpPr>
      <p:grpSpPr>
        <a:xfrm>
          <a:off x="0" y="0"/>
          <a:ext cx="0" cy="0"/>
          <a:chOff x="0" y="0"/>
          <a:chExt cx="0" cy="0"/>
        </a:xfrm>
      </p:grpSpPr>
      <p:sp>
        <p:nvSpPr>
          <p:cNvPr id="72" name="Google Shape;72;p87"/>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3" name="Google Shape;73;p87"/>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74" name="Google Shape;74;p8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8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8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83" name="Shape 83"/>
        <p:cNvGrpSpPr/>
        <p:nvPr/>
      </p:nvGrpSpPr>
      <p:grpSpPr>
        <a:xfrm>
          <a:off x="0" y="0"/>
          <a:ext cx="0" cy="0"/>
          <a:chOff x="0" y="0"/>
          <a:chExt cx="0" cy="0"/>
        </a:xfrm>
      </p:grpSpPr>
      <p:sp>
        <p:nvSpPr>
          <p:cNvPr id="84" name="Google Shape;84;p89"/>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5" name="Google Shape;85;p89"/>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89"/>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8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8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8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96" name="Shape 96"/>
        <p:cNvGrpSpPr/>
        <p:nvPr/>
      </p:nvGrpSpPr>
      <p:grpSpPr>
        <a:xfrm>
          <a:off x="0" y="0"/>
          <a:ext cx="0" cy="0"/>
          <a:chOff x="0" y="0"/>
          <a:chExt cx="0" cy="0"/>
        </a:xfrm>
      </p:grpSpPr>
      <p:sp>
        <p:nvSpPr>
          <p:cNvPr id="97" name="Google Shape;97;p91"/>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8" name="Google Shape;98;p91"/>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9" name="Google Shape;99;p91"/>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91"/>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1" name="Google Shape;101;p91"/>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9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9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9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111" name="Shape 111"/>
        <p:cNvGrpSpPr/>
        <p:nvPr/>
      </p:nvGrpSpPr>
      <p:grpSpPr>
        <a:xfrm>
          <a:off x="0" y="0"/>
          <a:ext cx="0" cy="0"/>
          <a:chOff x="0" y="0"/>
          <a:chExt cx="0" cy="0"/>
        </a:xfrm>
      </p:grpSpPr>
      <p:sp>
        <p:nvSpPr>
          <p:cNvPr id="112" name="Google Shape;112;p93"/>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13" name="Google Shape;113;p9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9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9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22" name="Shape 122"/>
        <p:cNvGrpSpPr/>
        <p:nvPr/>
      </p:nvGrpSpPr>
      <p:grpSpPr>
        <a:xfrm>
          <a:off x="0" y="0"/>
          <a:ext cx="0" cy="0"/>
          <a:chOff x="0" y="0"/>
          <a:chExt cx="0" cy="0"/>
        </a:xfrm>
      </p:grpSpPr>
      <p:sp>
        <p:nvSpPr>
          <p:cNvPr id="123" name="Google Shape;123;p95"/>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24" name="Google Shape;124;p95"/>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25" name="Google Shape;125;p95"/>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6" name="Google Shape;126;p9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9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9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35" name="Shape 135"/>
        <p:cNvGrpSpPr/>
        <p:nvPr/>
      </p:nvGrpSpPr>
      <p:grpSpPr>
        <a:xfrm>
          <a:off x="0" y="0"/>
          <a:ext cx="0" cy="0"/>
          <a:chOff x="0" y="0"/>
          <a:chExt cx="0" cy="0"/>
        </a:xfrm>
      </p:grpSpPr>
      <p:sp>
        <p:nvSpPr>
          <p:cNvPr id="136" name="Google Shape;136;p97"/>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37" name="Google Shape;137;p97"/>
          <p:cNvSpPr/>
          <p:nvPr>
            <p:ph idx="2" type="pic"/>
          </p:nvPr>
        </p:nvSpPr>
        <p:spPr>
          <a:xfrm>
            <a:off x="3887391" y="987426"/>
            <a:ext cx="4629150" cy="4873625"/>
          </a:xfrm>
          <a:prstGeom prst="rect">
            <a:avLst/>
          </a:prstGeom>
          <a:noFill/>
          <a:ln>
            <a:noFill/>
          </a:ln>
        </p:spPr>
      </p:sp>
      <p:sp>
        <p:nvSpPr>
          <p:cNvPr id="138" name="Google Shape;138;p97"/>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9" name="Google Shape;139;p9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9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9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148" name="Shape 148"/>
        <p:cNvGrpSpPr/>
        <p:nvPr/>
      </p:nvGrpSpPr>
      <p:grpSpPr>
        <a:xfrm>
          <a:off x="0" y="0"/>
          <a:ext cx="0" cy="0"/>
          <a:chOff x="0" y="0"/>
          <a:chExt cx="0" cy="0"/>
        </a:xfrm>
      </p:grpSpPr>
      <p:sp>
        <p:nvSpPr>
          <p:cNvPr id="149" name="Google Shape;149;p99"/>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50" name="Google Shape;150;p99"/>
          <p:cNvSpPr txBox="1"/>
          <p:nvPr>
            <p:ph idx="1" type="body"/>
          </p:nvPr>
        </p:nvSpPr>
        <p:spPr>
          <a:xfrm rot="5400000">
            <a:off x="2396332" y="57943"/>
            <a:ext cx="4351337" cy="78867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9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9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9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60" name="Shape 160"/>
        <p:cNvGrpSpPr/>
        <p:nvPr/>
      </p:nvGrpSpPr>
      <p:grpSpPr>
        <a:xfrm>
          <a:off x="0" y="0"/>
          <a:ext cx="0" cy="0"/>
          <a:chOff x="0" y="0"/>
          <a:chExt cx="0" cy="0"/>
        </a:xfrm>
      </p:grpSpPr>
      <p:sp>
        <p:nvSpPr>
          <p:cNvPr id="161" name="Google Shape;161;p101"/>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62" name="Google Shape;162;p101"/>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 name="Google Shape;163;p10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10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10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1.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7.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10.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11.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13.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8.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3.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9.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5.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1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77"/>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7" name="Google Shape;7;p77"/>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7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9" name="Google Shape;9;p7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0" name="Google Shape;10;p7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 name="Shape 19"/>
        <p:cNvGrpSpPr/>
        <p:nvPr/>
      </p:nvGrpSpPr>
      <p:grpSpPr>
        <a:xfrm>
          <a:off x="0" y="0"/>
          <a:ext cx="0" cy="0"/>
          <a:chOff x="0" y="0"/>
          <a:chExt cx="0" cy="0"/>
        </a:xfrm>
      </p:grpSpPr>
      <p:sp>
        <p:nvSpPr>
          <p:cNvPr id="20" name="Google Shape;20;p79"/>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1" name="Google Shape;21;p79"/>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 name="Google Shape;22;p7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23" name="Google Shape;23;p7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24" name="Google Shape;24;p7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81"/>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3" name="Google Shape;33;p81"/>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8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35" name="Google Shape;35;p8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36" name="Google Shape;36;p8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1"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83"/>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47" name="Google Shape;47;p83"/>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8" name="Google Shape;48;p8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49" name="Google Shape;49;p8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50" name="Google Shape;50;p8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
        <p:nvSpPr>
          <p:cNvPr id="51" name="Google Shape;51;p83"/>
          <p:cNvSpPr txBox="1"/>
          <p:nvPr/>
        </p:nvSpPr>
        <p:spPr>
          <a:xfrm>
            <a:off x="0" y="6553200"/>
            <a:ext cx="22098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McGraw-Hill</a:t>
            </a:r>
            <a:endParaRPr/>
          </a:p>
        </p:txBody>
      </p:sp>
      <p:sp>
        <p:nvSpPr>
          <p:cNvPr id="52" name="Google Shape;52;p83"/>
          <p:cNvSpPr txBox="1"/>
          <p:nvPr/>
        </p:nvSpPr>
        <p:spPr>
          <a:xfrm>
            <a:off x="4572000" y="6553200"/>
            <a:ext cx="4572000" cy="304800"/>
          </a:xfrm>
          <a:prstGeom prst="rect">
            <a:avLst/>
          </a:prstGeom>
          <a:noFill/>
          <a:ln>
            <a:noFill/>
          </a:ln>
        </p:spPr>
        <p:txBody>
          <a:bodyPr anchorCtr="0" anchor="t" bIns="45700" lIns="91425" spcFirstLastPara="1" rIns="91425" wrap="square" tIns="45700">
            <a:spAutoFit/>
          </a:bodyPr>
          <a:lstStyle/>
          <a:p>
            <a:pPr indent="-88900" lvl="0" marL="0" marR="0" rtl="0" algn="r">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The McGraw-Hill Companies, Inc., 2000</a:t>
            </a:r>
            <a:endParaRPr/>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84"/>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55" name="Google Shape;55;p84"/>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8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57" name="Google Shape;57;p8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58" name="Google Shape;58;p8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86"/>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67" name="Google Shape;67;p86"/>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8" name="Google Shape;68;p8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69" name="Google Shape;69;p8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70" name="Google Shape;70;p8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8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79" name="Google Shape;79;p88"/>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0" name="Google Shape;80;p8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81" name="Google Shape;81;p8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82" name="Google Shape;82;p8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90"/>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92" name="Google Shape;92;p90"/>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3" name="Google Shape;93;p9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94" name="Google Shape;94;p9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95" name="Google Shape;95;p9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4"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92"/>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07" name="Google Shape;107;p92"/>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8" name="Google Shape;108;p9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09" name="Google Shape;109;p9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10" name="Google Shape;110;p9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sp>
        <p:nvSpPr>
          <p:cNvPr id="117" name="Google Shape;117;p94"/>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8" name="Google Shape;118;p94"/>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9" name="Google Shape;119;p9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20" name="Google Shape;120;p9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21" name="Google Shape;121;p9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96"/>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31" name="Google Shape;131;p96"/>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2" name="Google Shape;132;p9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33" name="Google Shape;133;p9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34" name="Google Shape;134;p9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9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44" name="Google Shape;144;p98"/>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5" name="Google Shape;145;p9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46" name="Google Shape;146;p9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47" name="Google Shape;147;p9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100"/>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56" name="Google Shape;156;p100"/>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10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58" name="Google Shape;158;p10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1"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59" name="Google Shape;159;p10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1"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4"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2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9" name="Shape 169"/>
        <p:cNvGrpSpPr/>
        <p:nvPr/>
      </p:nvGrpSpPr>
      <p:grpSpPr>
        <a:xfrm>
          <a:off x="0" y="0"/>
          <a:ext cx="0" cy="0"/>
          <a:chOff x="0" y="0"/>
          <a:chExt cx="0" cy="0"/>
        </a:xfrm>
      </p:grpSpPr>
      <p:sp>
        <p:nvSpPr>
          <p:cNvPr id="170" name="Google Shape;170;p1"/>
          <p:cNvSpPr txBox="1"/>
          <p:nvPr/>
        </p:nvSpPr>
        <p:spPr>
          <a:xfrm>
            <a:off x="725487" y="2209800"/>
            <a:ext cx="7888287" cy="28352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66"/>
              </a:buClr>
              <a:buSzPts val="6000"/>
              <a:buFont typeface="Times New Roman"/>
              <a:buNone/>
            </a:pPr>
            <a:r>
              <a:rPr b="1" i="1" lang="en-US" sz="6000" u="none" cap="none" strike="noStrike">
                <a:solidFill>
                  <a:srgbClr val="FF0066"/>
                </a:solidFill>
                <a:latin typeface="Times New Roman"/>
                <a:ea typeface="Times New Roman"/>
                <a:cs typeface="Times New Roman"/>
                <a:sym typeface="Times New Roman"/>
              </a:rPr>
              <a:t>Subnetting/Supernetting</a:t>
            </a:r>
            <a:br>
              <a:rPr b="1" i="1" lang="en-US" sz="6000" u="none" cap="none" strike="noStrike">
                <a:solidFill>
                  <a:srgbClr val="FF0066"/>
                </a:solidFill>
                <a:latin typeface="Times New Roman"/>
                <a:ea typeface="Times New Roman"/>
                <a:cs typeface="Times New Roman"/>
                <a:sym typeface="Times New Roman"/>
              </a:rPr>
            </a:br>
            <a:r>
              <a:rPr b="1" i="1" lang="en-US" sz="6000" u="none" cap="none" strike="noStrike">
                <a:solidFill>
                  <a:srgbClr val="FF0066"/>
                </a:solidFill>
                <a:latin typeface="Times New Roman"/>
                <a:ea typeface="Times New Roman"/>
                <a:cs typeface="Times New Roman"/>
                <a:sym typeface="Times New Roman"/>
              </a:rPr>
              <a:t>and</a:t>
            </a:r>
            <a:br>
              <a:rPr b="1" i="1" lang="en-US" sz="6000" u="none" cap="none" strike="noStrike">
                <a:solidFill>
                  <a:srgbClr val="FF0066"/>
                </a:solidFill>
                <a:latin typeface="Times New Roman"/>
                <a:ea typeface="Times New Roman"/>
                <a:cs typeface="Times New Roman"/>
                <a:sym typeface="Times New Roman"/>
              </a:rPr>
            </a:br>
            <a:r>
              <a:rPr b="1" i="1" lang="en-US" sz="6000" u="none" cap="none" strike="noStrike">
                <a:solidFill>
                  <a:srgbClr val="FF0066"/>
                </a:solidFill>
                <a:latin typeface="Times New Roman"/>
                <a:ea typeface="Times New Roman"/>
                <a:cs typeface="Times New Roman"/>
                <a:sym typeface="Times New Roman"/>
              </a:rPr>
              <a:t>Classless Addressing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
          <p:cNvSpPr txBox="1"/>
          <p:nvPr>
            <p:ph type="title"/>
          </p:nvPr>
        </p:nvSpPr>
        <p:spPr>
          <a:xfrm>
            <a:off x="628650" y="365125"/>
            <a:ext cx="7886700" cy="7778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Address Depletion</a:t>
            </a:r>
            <a:endParaRPr/>
          </a:p>
        </p:txBody>
      </p:sp>
      <p:sp>
        <p:nvSpPr>
          <p:cNvPr id="176" name="Google Shape;176;p2"/>
          <p:cNvSpPr txBox="1"/>
          <p:nvPr>
            <p:ph idx="1" type="body"/>
          </p:nvPr>
        </p:nvSpPr>
        <p:spPr>
          <a:xfrm>
            <a:off x="628650" y="1295400"/>
            <a:ext cx="7886700" cy="9144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What is Address Deletion Problem in Classful Addressing?</a:t>
            </a:r>
            <a:endParaRPr/>
          </a:p>
        </p:txBody>
      </p:sp>
      <p:sp>
        <p:nvSpPr>
          <p:cNvPr id="177" name="Google Shape;177;p2"/>
          <p:cNvSpPr txBox="1"/>
          <p:nvPr/>
        </p:nvSpPr>
        <p:spPr>
          <a:xfrm>
            <a:off x="762000" y="2362200"/>
            <a:ext cx="7753350" cy="3786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Solutions:</a:t>
            </a:r>
            <a:endParaRPr/>
          </a:p>
          <a:p>
            <a:pPr indent="0" lvl="1" marL="457200" marR="0" rtl="0" algn="l">
              <a:lnSpc>
                <a:spcPct val="10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Short term Solution</a:t>
            </a:r>
            <a:endParaRPr/>
          </a:p>
          <a:p>
            <a:pPr indent="-342900" lvl="2" marL="12573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Use of Private Addresses</a:t>
            </a:r>
            <a:endParaRPr/>
          </a:p>
          <a:p>
            <a:pPr indent="-342900" lvl="2" marL="12573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Subnetting</a:t>
            </a:r>
            <a:endParaRPr/>
          </a:p>
          <a:p>
            <a:pPr indent="-342900" lvl="2" marL="12573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Supernetting</a:t>
            </a:r>
            <a:endParaRPr/>
          </a:p>
          <a:p>
            <a:pPr indent="-342900" lvl="2" marL="12573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Use of NAT and DHCP</a:t>
            </a:r>
            <a:endParaRPr/>
          </a:p>
          <a:p>
            <a:pPr indent="-342900" lvl="2" marL="12573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Classless Addressing</a:t>
            </a:r>
            <a:endParaRPr/>
          </a:p>
          <a:p>
            <a:pPr indent="-342900" lvl="2" marL="1257300" marR="0" rtl="0" algn="l">
              <a:lnSpc>
                <a:spcPct val="100000"/>
              </a:lnSpc>
              <a:spcBef>
                <a:spcPts val="0"/>
              </a:spcBef>
              <a:spcAft>
                <a:spcPts val="0"/>
              </a:spcAft>
              <a:buClr>
                <a:schemeClr val="dk1"/>
              </a:buClr>
              <a:buSzPts val="2400"/>
              <a:buFont typeface="Times New Roman"/>
              <a:buNone/>
            </a:pPr>
            <a:r>
              <a:t/>
            </a:r>
            <a:endParaRPr b="1" i="0" sz="2400" u="none" cap="none" strike="noStrike">
              <a:solidFill>
                <a:schemeClr val="dk1"/>
              </a:solidFill>
              <a:latin typeface="Calibri"/>
              <a:ea typeface="Calibri"/>
              <a:cs typeface="Calibri"/>
              <a:sym typeface="Calibri"/>
            </a:endParaRPr>
          </a:p>
          <a:p>
            <a:pPr indent="0" lvl="1" marL="457200" marR="0" rtl="0" algn="l">
              <a:lnSpc>
                <a:spcPct val="10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Long term Solution</a:t>
            </a:r>
            <a:endParaRPr/>
          </a:p>
          <a:p>
            <a:pPr indent="-342900" lvl="2" marL="12573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IPv6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
          <p:cNvSpPr txBox="1"/>
          <p:nvPr>
            <p:ph type="title"/>
          </p:nvPr>
        </p:nvSpPr>
        <p:spPr>
          <a:xfrm>
            <a:off x="628650" y="365125"/>
            <a:ext cx="7886700" cy="5492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Prefix Length: Slash Notation </a:t>
            </a:r>
            <a:endParaRPr/>
          </a:p>
        </p:txBody>
      </p:sp>
      <p:sp>
        <p:nvSpPr>
          <p:cNvPr id="183" name="Google Shape;183;p3"/>
          <p:cNvSpPr txBox="1"/>
          <p:nvPr>
            <p:ph idx="1" type="body"/>
          </p:nvPr>
        </p:nvSpPr>
        <p:spPr>
          <a:xfrm>
            <a:off x="628650" y="914400"/>
            <a:ext cx="7886700" cy="526256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 classless addressing, Prefix length need to be passed separately.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Prefix length is added to the address.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Notation is informally referred as </a:t>
            </a:r>
            <a:r>
              <a:rPr b="0" i="1" lang="en-US" sz="2800" u="none" cap="none" strike="noStrike">
                <a:solidFill>
                  <a:srgbClr val="FF0000"/>
                </a:solidFill>
                <a:latin typeface="Calibri"/>
                <a:ea typeface="Calibri"/>
                <a:cs typeface="Calibri"/>
                <a:sym typeface="Calibri"/>
              </a:rPr>
              <a:t>slash notation </a:t>
            </a:r>
            <a:r>
              <a:rPr b="0" i="0" lang="en-US" sz="2800" u="none" cap="none" strike="noStrike">
                <a:solidFill>
                  <a:schemeClr val="dk1"/>
                </a:solidFill>
                <a:latin typeface="Calibri"/>
                <a:ea typeface="Calibri"/>
                <a:cs typeface="Calibri"/>
                <a:sym typeface="Calibri"/>
              </a:rPr>
              <a:t>and formally CIDR (</a:t>
            </a:r>
            <a:r>
              <a:rPr b="0" i="1" lang="en-US" sz="2800" u="none" cap="none" strike="noStrike">
                <a:solidFill>
                  <a:srgbClr val="FF0000"/>
                </a:solidFill>
                <a:latin typeface="Calibri"/>
                <a:ea typeface="Calibri"/>
                <a:cs typeface="Calibri"/>
                <a:sym typeface="Calibri"/>
              </a:rPr>
              <a:t>Classless Inter-domain Routing</a:t>
            </a:r>
            <a:r>
              <a:rPr b="0" i="0" lang="en-US" sz="2800" u="none" cap="none" strike="noStrike">
                <a:solidFill>
                  <a:schemeClr val="dk1"/>
                </a:solidFill>
                <a:latin typeface="Calibri"/>
                <a:ea typeface="Calibri"/>
                <a:cs typeface="Calibri"/>
                <a:sym typeface="Calibri"/>
              </a:rPr>
              <a:t>)</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 classless addressing, we need to know one of the addresses in the block and the prefix length to define the block.</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pic>
        <p:nvPicPr>
          <p:cNvPr id="184" name="Google Shape;184;p3"/>
          <p:cNvPicPr preferRelativeResize="0"/>
          <p:nvPr/>
        </p:nvPicPr>
        <p:blipFill rotWithShape="1">
          <a:blip r:embed="rId3">
            <a:alphaModFix/>
          </a:blip>
          <a:srcRect b="0" l="0" r="0" t="0"/>
          <a:stretch/>
        </p:blipFill>
        <p:spPr>
          <a:xfrm>
            <a:off x="2133600" y="4606925"/>
            <a:ext cx="4445000" cy="157003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4"/>
          <p:cNvPicPr preferRelativeResize="0"/>
          <p:nvPr>
            <p:ph idx="1" type="body"/>
          </p:nvPr>
        </p:nvPicPr>
        <p:blipFill rotWithShape="1">
          <a:blip r:embed="rId3">
            <a:alphaModFix/>
          </a:blip>
          <a:srcRect b="16165" l="0" r="0" t="0"/>
          <a:stretch/>
        </p:blipFill>
        <p:spPr>
          <a:xfrm>
            <a:off x="533400" y="914400"/>
            <a:ext cx="8053387" cy="50625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3" name="Shape 193"/>
        <p:cNvGrpSpPr/>
        <p:nvPr/>
      </p:nvGrpSpPr>
      <p:grpSpPr>
        <a:xfrm>
          <a:off x="0" y="0"/>
          <a:ext cx="0" cy="0"/>
          <a:chOff x="0" y="0"/>
          <a:chExt cx="0" cy="0"/>
        </a:xfrm>
      </p:grpSpPr>
      <p:sp>
        <p:nvSpPr>
          <p:cNvPr id="194" name="Google Shape;194;p5"/>
          <p:cNvSpPr txBox="1"/>
          <p:nvPr/>
        </p:nvSpPr>
        <p:spPr>
          <a:xfrm>
            <a:off x="1219200" y="2133600"/>
            <a:ext cx="6629400" cy="762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a:buNone/>
            </a:pPr>
            <a:r>
              <a:rPr b="1" i="0" lang="en-US" sz="4400" u="none" cap="none" strike="noStrike">
                <a:solidFill>
                  <a:schemeClr val="dk1"/>
                </a:solidFill>
                <a:latin typeface="Times"/>
                <a:ea typeface="Times"/>
                <a:cs typeface="Times"/>
                <a:sym typeface="Times"/>
              </a:rPr>
              <a:t>SUBNETTING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8" name="Shape 198"/>
        <p:cNvGrpSpPr/>
        <p:nvPr/>
      </p:nvGrpSpPr>
      <p:grpSpPr>
        <a:xfrm>
          <a:off x="0" y="0"/>
          <a:ext cx="0" cy="0"/>
          <a:chOff x="0" y="0"/>
          <a:chExt cx="0" cy="0"/>
        </a:xfrm>
      </p:grpSpPr>
      <p:sp>
        <p:nvSpPr>
          <p:cNvPr id="199" name="Google Shape;199;p6"/>
          <p:cNvSpPr txBox="1"/>
          <p:nvPr/>
        </p:nvSpPr>
        <p:spPr>
          <a:xfrm>
            <a:off x="685800" y="2562225"/>
            <a:ext cx="7391400" cy="1247775"/>
          </a:xfrm>
          <a:prstGeom prst="rect">
            <a:avLst/>
          </a:prstGeom>
          <a:noFill/>
          <a:ln cap="flat" cmpd="sng" w="5715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a:buNone/>
            </a:pPr>
            <a:r>
              <a:rPr b="1" i="1" lang="en-US" sz="3600" u="none" cap="none" strike="noStrike">
                <a:solidFill>
                  <a:schemeClr val="dk1"/>
                </a:solidFill>
                <a:latin typeface="Times"/>
                <a:ea typeface="Times"/>
                <a:cs typeface="Times"/>
                <a:sym typeface="Times"/>
              </a:rPr>
              <a:t>IP addresses are designed with </a:t>
            </a:r>
            <a:br>
              <a:rPr b="1" i="1" lang="en-US" sz="3600" u="none" cap="none" strike="noStrike">
                <a:solidFill>
                  <a:schemeClr val="dk1"/>
                </a:solidFill>
                <a:latin typeface="Times"/>
                <a:ea typeface="Times"/>
                <a:cs typeface="Times"/>
                <a:sym typeface="Times"/>
              </a:rPr>
            </a:br>
            <a:r>
              <a:rPr b="1" i="1" lang="en-US" sz="3600" u="none" cap="none" strike="noStrike">
                <a:solidFill>
                  <a:schemeClr val="dk1"/>
                </a:solidFill>
                <a:latin typeface="Times"/>
                <a:ea typeface="Times"/>
                <a:cs typeface="Times"/>
                <a:sym typeface="Times"/>
              </a:rPr>
              <a:t>two levels of hierarchy.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3" name="Shape 203"/>
        <p:cNvGrpSpPr/>
        <p:nvPr/>
      </p:nvGrpSpPr>
      <p:grpSpPr>
        <a:xfrm>
          <a:off x="0" y="0"/>
          <a:ext cx="0" cy="0"/>
          <a:chOff x="0" y="0"/>
          <a:chExt cx="0" cy="0"/>
        </a:xfrm>
      </p:grpSpPr>
      <p:pic>
        <p:nvPicPr>
          <p:cNvPr id="204" name="Google Shape;204;p7"/>
          <p:cNvPicPr preferRelativeResize="0"/>
          <p:nvPr/>
        </p:nvPicPr>
        <p:blipFill rotWithShape="1">
          <a:blip r:embed="rId3">
            <a:alphaModFix/>
          </a:blip>
          <a:srcRect b="0" l="0" r="0" t="0"/>
          <a:stretch/>
        </p:blipFill>
        <p:spPr>
          <a:xfrm>
            <a:off x="411162" y="2790825"/>
            <a:ext cx="8199437" cy="2162175"/>
          </a:xfrm>
          <a:prstGeom prst="rect">
            <a:avLst/>
          </a:prstGeom>
          <a:noFill/>
          <a:ln>
            <a:noFill/>
          </a:ln>
        </p:spPr>
      </p:pic>
      <p:sp>
        <p:nvSpPr>
          <p:cNvPr id="205" name="Google Shape;205;p7"/>
          <p:cNvSpPr txBox="1"/>
          <p:nvPr/>
        </p:nvSpPr>
        <p:spPr>
          <a:xfrm>
            <a:off x="2057400" y="95250"/>
            <a:ext cx="5116512" cy="1066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A network with two levels of</a:t>
            </a:r>
            <a:br>
              <a:rPr b="1" i="0" lang="en-US" sz="3200" u="none" cap="none" strike="noStrike">
                <a:solidFill>
                  <a:schemeClr val="accent2"/>
                </a:solidFill>
                <a:latin typeface="Times New Roman"/>
                <a:ea typeface="Times New Roman"/>
                <a:cs typeface="Times New Roman"/>
                <a:sym typeface="Times New Roman"/>
              </a:rPr>
            </a:br>
            <a:r>
              <a:rPr b="1" i="0" lang="en-US" sz="3200" u="none" cap="none" strike="noStrike">
                <a:solidFill>
                  <a:schemeClr val="accent2"/>
                </a:solidFill>
                <a:latin typeface="Times New Roman"/>
                <a:ea typeface="Times New Roman"/>
                <a:cs typeface="Times New Roman"/>
                <a:sym typeface="Times New Roman"/>
              </a:rPr>
              <a:t>hierarchy (not subnetted)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8"/>
          <p:cNvSpPr txBox="1"/>
          <p:nvPr>
            <p:ph type="title"/>
          </p:nvPr>
        </p:nvSpPr>
        <p:spPr>
          <a:xfrm>
            <a:off x="628650" y="1219200"/>
            <a:ext cx="7886700" cy="7921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Example of Multi-Level Hierarchy</a:t>
            </a:r>
            <a:endParaRPr/>
          </a:p>
        </p:txBody>
      </p:sp>
      <p:pic>
        <p:nvPicPr>
          <p:cNvPr id="211" name="Google Shape;211;p8"/>
          <p:cNvPicPr preferRelativeResize="0"/>
          <p:nvPr>
            <p:ph idx="1" type="body"/>
          </p:nvPr>
        </p:nvPicPr>
        <p:blipFill rotWithShape="1">
          <a:blip r:embed="rId3">
            <a:alphaModFix/>
          </a:blip>
          <a:srcRect b="0" l="0" r="0" t="0"/>
          <a:stretch/>
        </p:blipFill>
        <p:spPr>
          <a:xfrm>
            <a:off x="1871662" y="2579687"/>
            <a:ext cx="5400675" cy="28432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5" name="Shape 215"/>
        <p:cNvGrpSpPr/>
        <p:nvPr/>
      </p:nvGrpSpPr>
      <p:grpSpPr>
        <a:xfrm>
          <a:off x="0" y="0"/>
          <a:ext cx="0" cy="0"/>
          <a:chOff x="0" y="0"/>
          <a:chExt cx="0" cy="0"/>
        </a:xfrm>
      </p:grpSpPr>
      <p:pic>
        <p:nvPicPr>
          <p:cNvPr id="216" name="Google Shape;216;p9"/>
          <p:cNvPicPr preferRelativeResize="0"/>
          <p:nvPr/>
        </p:nvPicPr>
        <p:blipFill rotWithShape="1">
          <a:blip r:embed="rId3">
            <a:alphaModFix/>
          </a:blip>
          <a:srcRect b="0" l="0" r="0" t="0"/>
          <a:stretch/>
        </p:blipFill>
        <p:spPr>
          <a:xfrm>
            <a:off x="1392237" y="1252537"/>
            <a:ext cx="6380162" cy="5300662"/>
          </a:xfrm>
          <a:prstGeom prst="rect">
            <a:avLst/>
          </a:prstGeom>
          <a:noFill/>
          <a:ln>
            <a:noFill/>
          </a:ln>
        </p:spPr>
      </p:pic>
      <p:sp>
        <p:nvSpPr>
          <p:cNvPr id="217" name="Google Shape;217;p9"/>
          <p:cNvSpPr txBox="1"/>
          <p:nvPr/>
        </p:nvSpPr>
        <p:spPr>
          <a:xfrm>
            <a:off x="1981200" y="0"/>
            <a:ext cx="5387975" cy="1066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A network with three levels of</a:t>
            </a:r>
            <a:endParaRPr/>
          </a:p>
          <a:p>
            <a:pPr indent="0" lvl="0" marL="0" marR="0" rtl="0" algn="ctr">
              <a:lnSpc>
                <a:spcPct val="100000"/>
              </a:lnSpc>
              <a:spcBef>
                <a:spcPts val="0"/>
              </a:spcBef>
              <a:spcAft>
                <a:spcPts val="0"/>
              </a:spcAft>
              <a:buClr>
                <a:schemeClr val="accent2"/>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hierarchy (subnetted)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1" name="Shape 221"/>
        <p:cNvGrpSpPr/>
        <p:nvPr/>
      </p:nvGrpSpPr>
      <p:grpSpPr>
        <a:xfrm>
          <a:off x="0" y="0"/>
          <a:ext cx="0" cy="0"/>
          <a:chOff x="0" y="0"/>
          <a:chExt cx="0" cy="0"/>
        </a:xfrm>
      </p:grpSpPr>
      <p:pic>
        <p:nvPicPr>
          <p:cNvPr id="222" name="Google Shape;222;p10"/>
          <p:cNvPicPr preferRelativeResize="0"/>
          <p:nvPr/>
        </p:nvPicPr>
        <p:blipFill rotWithShape="1">
          <a:blip r:embed="rId3">
            <a:alphaModFix/>
          </a:blip>
          <a:srcRect b="0" l="0" r="0" t="0"/>
          <a:stretch/>
        </p:blipFill>
        <p:spPr>
          <a:xfrm>
            <a:off x="2076450" y="2286000"/>
            <a:ext cx="5162550" cy="3330575"/>
          </a:xfrm>
          <a:prstGeom prst="rect">
            <a:avLst/>
          </a:prstGeom>
          <a:noFill/>
          <a:ln>
            <a:noFill/>
          </a:ln>
        </p:spPr>
      </p:pic>
      <p:sp>
        <p:nvSpPr>
          <p:cNvPr id="223" name="Google Shape;223;p10"/>
          <p:cNvSpPr txBox="1"/>
          <p:nvPr/>
        </p:nvSpPr>
        <p:spPr>
          <a:xfrm>
            <a:off x="1981200" y="95250"/>
            <a:ext cx="5106987" cy="1066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Addresses in a network with</a:t>
            </a:r>
            <a:br>
              <a:rPr b="1" i="0" lang="en-US" sz="3200" u="none" cap="none" strike="noStrike">
                <a:solidFill>
                  <a:schemeClr val="accent2"/>
                </a:solidFill>
                <a:latin typeface="Times New Roman"/>
                <a:ea typeface="Times New Roman"/>
                <a:cs typeface="Times New Roman"/>
                <a:sym typeface="Times New Roman"/>
              </a:rPr>
            </a:br>
            <a:r>
              <a:rPr b="1" i="0" lang="en-US" sz="3200" u="none" cap="none" strike="noStrike">
                <a:solidFill>
                  <a:schemeClr val="accent2"/>
                </a:solidFill>
                <a:latin typeface="Times New Roman"/>
                <a:ea typeface="Times New Roman"/>
                <a:cs typeface="Times New Roman"/>
                <a:sym typeface="Times New Roman"/>
              </a:rPr>
              <a:t>and without subnetting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7" name="Shape 227"/>
        <p:cNvGrpSpPr/>
        <p:nvPr/>
      </p:nvGrpSpPr>
      <p:grpSpPr>
        <a:xfrm>
          <a:off x="0" y="0"/>
          <a:ext cx="0" cy="0"/>
          <a:chOff x="0" y="0"/>
          <a:chExt cx="0" cy="0"/>
        </a:xfrm>
      </p:grpSpPr>
      <p:pic>
        <p:nvPicPr>
          <p:cNvPr id="228" name="Google Shape;228;p11"/>
          <p:cNvPicPr preferRelativeResize="0"/>
          <p:nvPr/>
        </p:nvPicPr>
        <p:blipFill rotWithShape="1">
          <a:blip r:embed="rId3">
            <a:alphaModFix/>
          </a:blip>
          <a:srcRect b="0" l="0" r="0" t="0"/>
          <a:stretch/>
        </p:blipFill>
        <p:spPr>
          <a:xfrm>
            <a:off x="1287462" y="1138237"/>
            <a:ext cx="6567487" cy="5110162"/>
          </a:xfrm>
          <a:prstGeom prst="rect">
            <a:avLst/>
          </a:prstGeom>
          <a:noFill/>
          <a:ln>
            <a:noFill/>
          </a:ln>
        </p:spPr>
      </p:pic>
      <p:sp>
        <p:nvSpPr>
          <p:cNvPr id="229" name="Google Shape;229;p11"/>
          <p:cNvSpPr txBox="1"/>
          <p:nvPr/>
        </p:nvSpPr>
        <p:spPr>
          <a:xfrm>
            <a:off x="1676400" y="95250"/>
            <a:ext cx="55324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Default mask and subnet mask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spTree>
      <p:nvGrpSpPr>
        <p:cNvPr id="233" name="Shape 233"/>
        <p:cNvGrpSpPr/>
        <p:nvPr/>
      </p:nvGrpSpPr>
      <p:grpSpPr>
        <a:xfrm>
          <a:off x="0" y="0"/>
          <a:ext cx="0" cy="0"/>
          <a:chOff x="0" y="0"/>
          <a:chExt cx="0" cy="0"/>
        </a:xfrm>
      </p:grpSpPr>
      <p:sp>
        <p:nvSpPr>
          <p:cNvPr id="234" name="Google Shape;234;p12"/>
          <p:cNvSpPr txBox="1"/>
          <p:nvPr/>
        </p:nvSpPr>
        <p:spPr>
          <a:xfrm>
            <a:off x="381000" y="1703387"/>
            <a:ext cx="8077200" cy="3240087"/>
          </a:xfrm>
          <a:prstGeom prst="rect">
            <a:avLst/>
          </a:prstGeom>
          <a:noFill/>
          <a:ln cap="flat" cmpd="sng" w="5715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4000"/>
              <a:buFont typeface="Times"/>
              <a:buNone/>
            </a:pPr>
            <a:r>
              <a:rPr b="1" i="0" lang="en-US" sz="4000" u="none" cap="none" strike="noStrike">
                <a:solidFill>
                  <a:srgbClr val="FF3300"/>
                </a:solidFill>
                <a:latin typeface="Times"/>
                <a:ea typeface="Times"/>
                <a:cs typeface="Times"/>
                <a:sym typeface="Times"/>
              </a:rPr>
              <a:t>Finding the Subnet Address</a:t>
            </a:r>
            <a:endParaRPr b="0" i="0" sz="4000" u="none" cap="none" strike="noStrike">
              <a:solidFill>
                <a:srgbClr val="FF3300"/>
              </a:solidFill>
              <a:latin typeface="Times"/>
              <a:ea typeface="Times"/>
              <a:cs typeface="Times"/>
              <a:sym typeface="Times"/>
            </a:endParaRPr>
          </a:p>
          <a:p>
            <a:pPr indent="0" lvl="0" marL="0" marR="0" rtl="0" algn="l">
              <a:lnSpc>
                <a:spcPct val="100000"/>
              </a:lnSpc>
              <a:spcBef>
                <a:spcPts val="2100"/>
              </a:spcBef>
              <a:spcAft>
                <a:spcPts val="0"/>
              </a:spcAft>
              <a:buClr>
                <a:srgbClr val="000000"/>
              </a:buClr>
              <a:buSzPts val="3600"/>
              <a:buFont typeface="Times"/>
              <a:buNone/>
            </a:pPr>
            <a:r>
              <a:rPr b="0" i="0" lang="en-US" sz="3600" u="none" cap="none" strike="noStrike">
                <a:solidFill>
                  <a:srgbClr val="000000"/>
                </a:solidFill>
                <a:latin typeface="Times"/>
                <a:ea typeface="Times"/>
                <a:cs typeface="Times"/>
                <a:sym typeface="Times"/>
              </a:rPr>
              <a:t>Given an IP address, we can find the subnet address the same way we found the network address in the previous chapter. We apply the mask to the address.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spTree>
      <p:nvGrpSpPr>
        <p:cNvPr id="238" name="Shape 238"/>
        <p:cNvGrpSpPr/>
        <p:nvPr/>
      </p:nvGrpSpPr>
      <p:grpSpPr>
        <a:xfrm>
          <a:off x="0" y="0"/>
          <a:ext cx="0" cy="0"/>
          <a:chOff x="0" y="0"/>
          <a:chExt cx="0" cy="0"/>
        </a:xfrm>
      </p:grpSpPr>
      <p:sp>
        <p:nvSpPr>
          <p:cNvPr id="239" name="Google Shape;239;p13"/>
          <p:cNvSpPr txBox="1"/>
          <p:nvPr/>
        </p:nvSpPr>
        <p:spPr>
          <a:xfrm>
            <a:off x="381000" y="1143000"/>
            <a:ext cx="7620000" cy="31130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a:buNone/>
            </a:pPr>
            <a:r>
              <a:rPr b="1" i="0" lang="en-US" sz="3600" u="sng" cap="none" strike="noStrike">
                <a:solidFill>
                  <a:srgbClr val="002060"/>
                </a:solidFill>
                <a:latin typeface="Times"/>
                <a:ea typeface="Times"/>
                <a:cs typeface="Times"/>
                <a:sym typeface="Times"/>
              </a:rPr>
              <a:t>Straight Method</a:t>
            </a:r>
            <a:endParaRPr b="0" i="0" sz="3600" u="sng" cap="none" strike="noStrike">
              <a:solidFill>
                <a:srgbClr val="002060"/>
              </a:solidFill>
              <a:latin typeface="Times"/>
              <a:ea typeface="Times"/>
              <a:cs typeface="Times"/>
              <a:sym typeface="Times"/>
            </a:endParaRPr>
          </a:p>
          <a:p>
            <a:pPr indent="0" lvl="0" marL="0" marR="0" rtl="0" algn="l">
              <a:lnSpc>
                <a:spcPct val="100000"/>
              </a:lnSpc>
              <a:spcBef>
                <a:spcPts val="1800"/>
              </a:spcBef>
              <a:spcAft>
                <a:spcPts val="0"/>
              </a:spcAft>
              <a:buClr>
                <a:srgbClr val="002060"/>
              </a:buClr>
              <a:buSzPts val="3600"/>
              <a:buFont typeface="Times"/>
              <a:buNone/>
            </a:pPr>
            <a:r>
              <a:rPr b="0" i="0" lang="en-US" sz="3600" u="none" cap="none" strike="noStrike">
                <a:solidFill>
                  <a:srgbClr val="002060"/>
                </a:solidFill>
                <a:latin typeface="Times"/>
                <a:ea typeface="Times"/>
                <a:cs typeface="Times"/>
                <a:sym typeface="Times"/>
              </a:rPr>
              <a:t>In the straight method, we use binary notation for both the address and the mask and then apply the AND operation to find the subnet address.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43" name="Shape 243"/>
        <p:cNvGrpSpPr/>
        <p:nvPr/>
      </p:nvGrpSpPr>
      <p:grpSpPr>
        <a:xfrm>
          <a:off x="0" y="0"/>
          <a:ext cx="0" cy="0"/>
          <a:chOff x="0" y="0"/>
          <a:chExt cx="0" cy="0"/>
        </a:xfrm>
      </p:grpSpPr>
      <p:sp>
        <p:nvSpPr>
          <p:cNvPr id="244" name="Google Shape;244;p14"/>
          <p:cNvSpPr txBox="1"/>
          <p:nvPr/>
        </p:nvSpPr>
        <p:spPr>
          <a:xfrm>
            <a:off x="144462" y="249237"/>
            <a:ext cx="201771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Example 1</a:t>
            </a:r>
            <a:endParaRPr/>
          </a:p>
        </p:txBody>
      </p:sp>
      <p:sp>
        <p:nvSpPr>
          <p:cNvPr id="245" name="Google Shape;245;p14"/>
          <p:cNvSpPr txBox="1"/>
          <p:nvPr/>
        </p:nvSpPr>
        <p:spPr>
          <a:xfrm>
            <a:off x="457200" y="1393825"/>
            <a:ext cx="8458200" cy="1739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a:buNone/>
            </a:pPr>
            <a:r>
              <a:rPr b="0" i="0" lang="en-US" sz="3600" u="none" cap="none" strike="noStrike">
                <a:solidFill>
                  <a:srgbClr val="002060"/>
                </a:solidFill>
                <a:latin typeface="Times"/>
                <a:ea typeface="Times"/>
                <a:cs typeface="Times"/>
                <a:sym typeface="Times"/>
              </a:rPr>
              <a:t>What is the subnetwork address if the destination address is 200.45.34.56 and the subnet mask is 255.255.240.0?</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49" name="Shape 249"/>
        <p:cNvGrpSpPr/>
        <p:nvPr/>
      </p:nvGrpSpPr>
      <p:grpSpPr>
        <a:xfrm>
          <a:off x="0" y="0"/>
          <a:ext cx="0" cy="0"/>
          <a:chOff x="0" y="0"/>
          <a:chExt cx="0" cy="0"/>
        </a:xfrm>
      </p:grpSpPr>
      <p:sp>
        <p:nvSpPr>
          <p:cNvPr id="250" name="Google Shape;250;p15"/>
          <p:cNvSpPr txBox="1"/>
          <p:nvPr/>
        </p:nvSpPr>
        <p:spPr>
          <a:xfrm>
            <a:off x="228600" y="228600"/>
            <a:ext cx="164306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Solution</a:t>
            </a:r>
            <a:endParaRPr/>
          </a:p>
        </p:txBody>
      </p:sp>
      <p:sp>
        <p:nvSpPr>
          <p:cNvPr id="251" name="Google Shape;251;p15"/>
          <p:cNvSpPr txBox="1"/>
          <p:nvPr/>
        </p:nvSpPr>
        <p:spPr>
          <a:xfrm>
            <a:off x="304800" y="1101725"/>
            <a:ext cx="8610600" cy="36623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3600"/>
              <a:buFont typeface="Times"/>
              <a:buNone/>
            </a:pPr>
            <a:r>
              <a:rPr b="0" i="0" lang="en-US" sz="3600" u="none" cap="none" strike="noStrike">
                <a:solidFill>
                  <a:schemeClr val="lt2"/>
                </a:solidFill>
                <a:latin typeface="Times"/>
                <a:ea typeface="Times"/>
                <a:cs typeface="Times"/>
                <a:sym typeface="Times"/>
              </a:rPr>
              <a:t>11001000  00101101  00100010  00111000</a:t>
            </a:r>
            <a:endParaRPr/>
          </a:p>
          <a:p>
            <a:pPr indent="0" lvl="0" marL="0" marR="0" rtl="0" algn="l">
              <a:lnSpc>
                <a:spcPct val="100000"/>
              </a:lnSpc>
              <a:spcBef>
                <a:spcPts val="1800"/>
              </a:spcBef>
              <a:spcAft>
                <a:spcPts val="0"/>
              </a:spcAft>
              <a:buClr>
                <a:schemeClr val="lt2"/>
              </a:buClr>
              <a:buSzPts val="3600"/>
              <a:buFont typeface="Times"/>
              <a:buNone/>
            </a:pPr>
            <a:r>
              <a:rPr b="0" i="0" lang="en-US" sz="3600" u="none" cap="none" strike="noStrike">
                <a:solidFill>
                  <a:schemeClr val="lt2"/>
                </a:solidFill>
                <a:latin typeface="Times"/>
                <a:ea typeface="Times"/>
                <a:cs typeface="Times"/>
                <a:sym typeface="Times"/>
              </a:rPr>
              <a:t>11111111  11111111  1111</a:t>
            </a:r>
            <a:r>
              <a:rPr b="1" i="0" lang="en-US" sz="3600" u="sng" cap="none" strike="noStrike">
                <a:solidFill>
                  <a:schemeClr val="lt2"/>
                </a:solidFill>
                <a:latin typeface="Times"/>
                <a:ea typeface="Times"/>
                <a:cs typeface="Times"/>
                <a:sym typeface="Times"/>
              </a:rPr>
              <a:t>0000</a:t>
            </a:r>
            <a:r>
              <a:rPr b="1" i="0" lang="en-US" sz="3600" u="none" cap="none" strike="noStrike">
                <a:solidFill>
                  <a:schemeClr val="lt2"/>
                </a:solidFill>
                <a:latin typeface="Times"/>
                <a:ea typeface="Times"/>
                <a:cs typeface="Times"/>
                <a:sym typeface="Times"/>
              </a:rPr>
              <a:t> </a:t>
            </a:r>
            <a:r>
              <a:rPr b="0" i="0" lang="en-US" sz="3600" u="none" cap="none" strike="noStrike">
                <a:solidFill>
                  <a:schemeClr val="lt2"/>
                </a:solidFill>
                <a:latin typeface="Times"/>
                <a:ea typeface="Times"/>
                <a:cs typeface="Times"/>
                <a:sym typeface="Times"/>
              </a:rPr>
              <a:t> </a:t>
            </a:r>
            <a:r>
              <a:rPr b="1" i="0" lang="en-US" sz="3600" u="sng" cap="none" strike="noStrike">
                <a:solidFill>
                  <a:schemeClr val="lt2"/>
                </a:solidFill>
                <a:latin typeface="Times"/>
                <a:ea typeface="Times"/>
                <a:cs typeface="Times"/>
                <a:sym typeface="Times"/>
              </a:rPr>
              <a:t>00000000</a:t>
            </a:r>
            <a:endParaRPr/>
          </a:p>
          <a:p>
            <a:pPr indent="0" lvl="0" marL="0" marR="0" rtl="0" algn="l">
              <a:lnSpc>
                <a:spcPct val="100000"/>
              </a:lnSpc>
              <a:spcBef>
                <a:spcPts val="1800"/>
              </a:spcBef>
              <a:spcAft>
                <a:spcPts val="0"/>
              </a:spcAft>
              <a:buClr>
                <a:schemeClr val="lt2"/>
              </a:buClr>
              <a:buSzPts val="3600"/>
              <a:buFont typeface="Times"/>
              <a:buNone/>
            </a:pPr>
            <a:r>
              <a:rPr b="0" i="0" lang="en-US" sz="3600" u="none" cap="none" strike="noStrike">
                <a:solidFill>
                  <a:schemeClr val="lt2"/>
                </a:solidFill>
                <a:latin typeface="Times"/>
                <a:ea typeface="Times"/>
                <a:cs typeface="Times"/>
                <a:sym typeface="Times"/>
              </a:rPr>
              <a:t>11001000  00101101  0010</a:t>
            </a:r>
            <a:r>
              <a:rPr b="1" i="0" lang="en-US" sz="3600" u="none" cap="none" strike="noStrike">
                <a:solidFill>
                  <a:srgbClr val="FF3300"/>
                </a:solidFill>
                <a:latin typeface="Times"/>
                <a:ea typeface="Times"/>
                <a:cs typeface="Times"/>
                <a:sym typeface="Times"/>
              </a:rPr>
              <a:t>0000</a:t>
            </a:r>
            <a:r>
              <a:rPr b="0" i="0" lang="en-US" sz="3600" u="none" cap="none" strike="noStrike">
                <a:solidFill>
                  <a:schemeClr val="lt2"/>
                </a:solidFill>
                <a:latin typeface="Times"/>
                <a:ea typeface="Times"/>
                <a:cs typeface="Times"/>
                <a:sym typeface="Times"/>
              </a:rPr>
              <a:t>  </a:t>
            </a:r>
            <a:r>
              <a:rPr b="1" i="0" lang="en-US" sz="3600" u="none" cap="none" strike="noStrike">
                <a:solidFill>
                  <a:srgbClr val="FF3300"/>
                </a:solidFill>
                <a:latin typeface="Times"/>
                <a:ea typeface="Times"/>
                <a:cs typeface="Times"/>
                <a:sym typeface="Times"/>
              </a:rPr>
              <a:t>00000000</a:t>
            </a:r>
            <a:endParaRPr/>
          </a:p>
          <a:p>
            <a:pPr indent="0" lvl="0" marL="0" marR="0" rtl="0" algn="l">
              <a:lnSpc>
                <a:spcPct val="100000"/>
              </a:lnSpc>
              <a:spcBef>
                <a:spcPts val="1800"/>
              </a:spcBef>
              <a:spcAft>
                <a:spcPts val="0"/>
              </a:spcAft>
              <a:buClr>
                <a:schemeClr val="lt2"/>
              </a:buClr>
              <a:buSzPts val="3600"/>
              <a:buFont typeface="Times"/>
              <a:buNone/>
            </a:pPr>
            <a:br>
              <a:rPr b="0" i="0" lang="en-US" sz="3600" u="none" cap="none" strike="noStrike">
                <a:solidFill>
                  <a:schemeClr val="lt2"/>
                </a:solidFill>
                <a:latin typeface="Times"/>
                <a:ea typeface="Times"/>
                <a:cs typeface="Times"/>
                <a:sym typeface="Times"/>
              </a:rPr>
            </a:br>
            <a:r>
              <a:rPr b="0" i="0" lang="en-US" sz="3600" u="none" cap="none" strike="noStrike">
                <a:solidFill>
                  <a:schemeClr val="lt2"/>
                </a:solidFill>
                <a:latin typeface="Times"/>
                <a:ea typeface="Times"/>
                <a:cs typeface="Times"/>
                <a:sym typeface="Times"/>
              </a:rPr>
              <a:t>The subnetwork address is </a:t>
            </a:r>
            <a:r>
              <a:rPr b="1" i="0" lang="en-US" sz="3600" u="none" cap="none" strike="noStrike">
                <a:solidFill>
                  <a:schemeClr val="lt2"/>
                </a:solidFill>
                <a:latin typeface="Times"/>
                <a:ea typeface="Times"/>
                <a:cs typeface="Times"/>
                <a:sym typeface="Times"/>
              </a:rPr>
              <a:t>200.45.32.0</a:t>
            </a:r>
            <a:r>
              <a:rPr b="0" i="0" lang="en-US" sz="3600" u="none" cap="none" strike="noStrike">
                <a:solidFill>
                  <a:schemeClr val="lt2"/>
                </a:solidFill>
                <a:latin typeface="Times"/>
                <a:ea typeface="Times"/>
                <a:cs typeface="Times"/>
                <a:sym typeface="Times"/>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55" name="Shape 255"/>
        <p:cNvGrpSpPr/>
        <p:nvPr/>
      </p:nvGrpSpPr>
      <p:grpSpPr>
        <a:xfrm>
          <a:off x="0" y="0"/>
          <a:ext cx="0" cy="0"/>
          <a:chOff x="0" y="0"/>
          <a:chExt cx="0" cy="0"/>
        </a:xfrm>
      </p:grpSpPr>
      <p:sp>
        <p:nvSpPr>
          <p:cNvPr id="256" name="Google Shape;256;p16"/>
          <p:cNvSpPr txBox="1"/>
          <p:nvPr/>
        </p:nvSpPr>
        <p:spPr>
          <a:xfrm>
            <a:off x="76200" y="862012"/>
            <a:ext cx="8686800" cy="53101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a:buNone/>
            </a:pPr>
            <a:r>
              <a:rPr b="1" i="0" lang="en-US" sz="3600" u="sng" cap="none" strike="noStrike">
                <a:solidFill>
                  <a:srgbClr val="002060"/>
                </a:solidFill>
                <a:latin typeface="Times"/>
                <a:ea typeface="Times"/>
                <a:cs typeface="Times"/>
                <a:sym typeface="Times"/>
              </a:rPr>
              <a:t>Short-Cut Method</a:t>
            </a:r>
            <a:endParaRPr b="0" i="0" sz="3600" u="sng" cap="none" strike="noStrike">
              <a:solidFill>
                <a:srgbClr val="002060"/>
              </a:solidFill>
              <a:latin typeface="Times"/>
              <a:ea typeface="Times"/>
              <a:cs typeface="Times"/>
              <a:sym typeface="Times"/>
            </a:endParaRPr>
          </a:p>
          <a:p>
            <a:pPr indent="0" lvl="2" marL="914400" marR="0" rtl="0" algn="l">
              <a:lnSpc>
                <a:spcPct val="100000"/>
              </a:lnSpc>
              <a:spcBef>
                <a:spcPts val="1800"/>
              </a:spcBef>
              <a:spcAft>
                <a:spcPts val="0"/>
              </a:spcAft>
              <a:buClr>
                <a:srgbClr val="FF3300"/>
              </a:buClr>
              <a:buSzPts val="3600"/>
              <a:buFont typeface="Times"/>
              <a:buNone/>
            </a:pPr>
            <a:r>
              <a:rPr b="0" i="0" lang="en-US" sz="3600" u="none" cap="none" strike="noStrike">
                <a:solidFill>
                  <a:srgbClr val="FF3300"/>
                </a:solidFill>
                <a:latin typeface="Times"/>
                <a:ea typeface="Times"/>
                <a:cs typeface="Times"/>
                <a:sym typeface="Times"/>
              </a:rPr>
              <a:t>**</a:t>
            </a:r>
            <a:r>
              <a:rPr b="0" i="0" lang="en-US" sz="3600" u="none" cap="none" strike="noStrike">
                <a:solidFill>
                  <a:schemeClr val="lt1"/>
                </a:solidFill>
                <a:latin typeface="Times"/>
                <a:ea typeface="Times"/>
                <a:cs typeface="Times"/>
                <a:sym typeface="Times"/>
              </a:rPr>
              <a:t> </a:t>
            </a:r>
            <a:r>
              <a:rPr b="0" i="0" lang="en-US" sz="3600" u="none" cap="none" strike="noStrike">
                <a:solidFill>
                  <a:srgbClr val="002060"/>
                </a:solidFill>
                <a:latin typeface="Times"/>
                <a:ea typeface="Times"/>
                <a:cs typeface="Times"/>
                <a:sym typeface="Times"/>
              </a:rPr>
              <a:t>If the byte in the mask is 255, copy the byte in the address.</a:t>
            </a:r>
            <a:endParaRPr b="1" i="0" sz="3600" u="none" cap="none" strike="noStrike">
              <a:solidFill>
                <a:srgbClr val="002060"/>
              </a:solidFill>
              <a:latin typeface="Times"/>
              <a:ea typeface="Times"/>
              <a:cs typeface="Times"/>
              <a:sym typeface="Times"/>
            </a:endParaRPr>
          </a:p>
          <a:p>
            <a:pPr indent="0" lvl="2" marL="914400" marR="0" rtl="0" algn="l">
              <a:lnSpc>
                <a:spcPct val="100000"/>
              </a:lnSpc>
              <a:spcBef>
                <a:spcPts val="1800"/>
              </a:spcBef>
              <a:spcAft>
                <a:spcPts val="0"/>
              </a:spcAft>
              <a:buClr>
                <a:srgbClr val="002060"/>
              </a:buClr>
              <a:buSzPts val="3600"/>
              <a:buFont typeface="Times"/>
              <a:buNone/>
            </a:pPr>
            <a:r>
              <a:rPr b="0" i="0" lang="en-US" sz="3600" u="none" cap="none" strike="noStrike">
                <a:solidFill>
                  <a:srgbClr val="002060"/>
                </a:solidFill>
                <a:latin typeface="Times"/>
                <a:ea typeface="Times"/>
                <a:cs typeface="Times"/>
                <a:sym typeface="Times"/>
              </a:rPr>
              <a:t>** If the byte in the mask is 0, replace the byte in the address with 0.</a:t>
            </a:r>
            <a:endParaRPr b="1" i="0" sz="3600" u="none" cap="none" strike="noStrike">
              <a:solidFill>
                <a:srgbClr val="002060"/>
              </a:solidFill>
              <a:latin typeface="Times"/>
              <a:ea typeface="Times"/>
              <a:cs typeface="Times"/>
              <a:sym typeface="Times"/>
            </a:endParaRPr>
          </a:p>
          <a:p>
            <a:pPr indent="0" lvl="2" marL="914400" marR="0" rtl="0" algn="l">
              <a:lnSpc>
                <a:spcPct val="100000"/>
              </a:lnSpc>
              <a:spcBef>
                <a:spcPts val="1800"/>
              </a:spcBef>
              <a:spcAft>
                <a:spcPts val="0"/>
              </a:spcAft>
              <a:buClr>
                <a:srgbClr val="002060"/>
              </a:buClr>
              <a:buSzPts val="3600"/>
              <a:buFont typeface="Times"/>
              <a:buNone/>
            </a:pPr>
            <a:r>
              <a:rPr b="0" i="0" lang="en-US" sz="3600" u="none" cap="none" strike="noStrike">
                <a:solidFill>
                  <a:srgbClr val="002060"/>
                </a:solidFill>
                <a:latin typeface="Times"/>
                <a:ea typeface="Times"/>
                <a:cs typeface="Times"/>
                <a:sym typeface="Times"/>
              </a:rPr>
              <a:t>** If the byte in the mask is neither 255 nor 0, we write the mask and the address in binary and apply the AND operation.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60" name="Shape 260"/>
        <p:cNvGrpSpPr/>
        <p:nvPr/>
      </p:nvGrpSpPr>
      <p:grpSpPr>
        <a:xfrm>
          <a:off x="0" y="0"/>
          <a:ext cx="0" cy="0"/>
          <a:chOff x="0" y="0"/>
          <a:chExt cx="0" cy="0"/>
        </a:xfrm>
      </p:grpSpPr>
      <p:sp>
        <p:nvSpPr>
          <p:cNvPr id="261" name="Google Shape;261;p17"/>
          <p:cNvSpPr txBox="1"/>
          <p:nvPr/>
        </p:nvSpPr>
        <p:spPr>
          <a:xfrm>
            <a:off x="144462" y="249237"/>
            <a:ext cx="201771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Example 2</a:t>
            </a:r>
            <a:endParaRPr/>
          </a:p>
        </p:txBody>
      </p:sp>
      <p:sp>
        <p:nvSpPr>
          <p:cNvPr id="262" name="Google Shape;262;p17"/>
          <p:cNvSpPr txBox="1"/>
          <p:nvPr/>
        </p:nvSpPr>
        <p:spPr>
          <a:xfrm>
            <a:off x="457200" y="1393825"/>
            <a:ext cx="8458200" cy="1739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a:buNone/>
            </a:pPr>
            <a:r>
              <a:rPr b="0" i="0" lang="en-US" sz="3600" u="none" cap="none" strike="noStrike">
                <a:solidFill>
                  <a:srgbClr val="002060"/>
                </a:solidFill>
                <a:latin typeface="Times"/>
                <a:ea typeface="Times"/>
                <a:cs typeface="Times"/>
                <a:sym typeface="Times"/>
              </a:rPr>
              <a:t>What is the subnetwork address if the destination address is 19.30.80.5 and the mask is 255.255.192.0?</a:t>
            </a:r>
            <a:endParaRPr/>
          </a:p>
        </p:txBody>
      </p:sp>
      <p:sp>
        <p:nvSpPr>
          <p:cNvPr id="263" name="Google Shape;263;p17"/>
          <p:cNvSpPr txBox="1"/>
          <p:nvPr/>
        </p:nvSpPr>
        <p:spPr>
          <a:xfrm>
            <a:off x="228600" y="3389312"/>
            <a:ext cx="164306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Solution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7" name="Shape 267"/>
        <p:cNvGrpSpPr/>
        <p:nvPr/>
      </p:nvGrpSpPr>
      <p:grpSpPr>
        <a:xfrm>
          <a:off x="0" y="0"/>
          <a:ext cx="0" cy="0"/>
          <a:chOff x="0" y="0"/>
          <a:chExt cx="0" cy="0"/>
        </a:xfrm>
      </p:grpSpPr>
      <p:sp>
        <p:nvSpPr>
          <p:cNvPr id="268" name="Google Shape;268;p18"/>
          <p:cNvSpPr txBox="1"/>
          <p:nvPr/>
        </p:nvSpPr>
        <p:spPr>
          <a:xfrm>
            <a:off x="76200" y="0"/>
            <a:ext cx="16144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600"/>
              <a:buFont typeface="Times New Roman"/>
              <a:buNone/>
            </a:pPr>
            <a:r>
              <a:rPr b="1" i="0" lang="en-US" sz="1600" u="none" cap="none" strike="noStrike">
                <a:solidFill>
                  <a:schemeClr val="accent2"/>
                </a:solidFill>
                <a:latin typeface="Times New Roman"/>
                <a:ea typeface="Times New Roman"/>
                <a:cs typeface="Times New Roman"/>
                <a:sym typeface="Times New Roman"/>
              </a:rPr>
              <a:t>Figure  5-6</a:t>
            </a:r>
            <a:endParaRPr/>
          </a:p>
        </p:txBody>
      </p:sp>
      <p:pic>
        <p:nvPicPr>
          <p:cNvPr id="269" name="Google Shape;269;p18"/>
          <p:cNvPicPr preferRelativeResize="0"/>
          <p:nvPr/>
        </p:nvPicPr>
        <p:blipFill rotWithShape="1">
          <a:blip r:embed="rId3">
            <a:alphaModFix/>
          </a:blip>
          <a:srcRect b="0" l="0" r="0" t="0"/>
          <a:stretch/>
        </p:blipFill>
        <p:spPr>
          <a:xfrm>
            <a:off x="381000" y="1717675"/>
            <a:ext cx="7991475" cy="4302125"/>
          </a:xfrm>
          <a:prstGeom prst="rect">
            <a:avLst/>
          </a:prstGeom>
          <a:noFill/>
          <a:ln>
            <a:noFill/>
          </a:ln>
        </p:spPr>
      </p:pic>
      <p:sp>
        <p:nvSpPr>
          <p:cNvPr id="270" name="Google Shape;270;p18"/>
          <p:cNvSpPr txBox="1"/>
          <p:nvPr/>
        </p:nvSpPr>
        <p:spPr>
          <a:xfrm>
            <a:off x="3124200" y="95250"/>
            <a:ext cx="21256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 Example 2</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4" name="Shape 274"/>
        <p:cNvGrpSpPr/>
        <p:nvPr/>
      </p:nvGrpSpPr>
      <p:grpSpPr>
        <a:xfrm>
          <a:off x="0" y="0"/>
          <a:ext cx="0" cy="0"/>
          <a:chOff x="0" y="0"/>
          <a:chExt cx="0" cy="0"/>
        </a:xfrm>
      </p:grpSpPr>
      <p:sp>
        <p:nvSpPr>
          <p:cNvPr id="275" name="Google Shape;275;p19"/>
          <p:cNvSpPr txBox="1"/>
          <p:nvPr/>
        </p:nvSpPr>
        <p:spPr>
          <a:xfrm>
            <a:off x="76200" y="0"/>
            <a:ext cx="16144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600"/>
              <a:buFont typeface="Times New Roman"/>
              <a:buNone/>
            </a:pPr>
            <a:r>
              <a:rPr b="1" i="0" lang="en-US" sz="1600" u="none" cap="none" strike="noStrike">
                <a:solidFill>
                  <a:schemeClr val="accent2"/>
                </a:solidFill>
                <a:latin typeface="Times New Roman"/>
                <a:ea typeface="Times New Roman"/>
                <a:cs typeface="Times New Roman"/>
                <a:sym typeface="Times New Roman"/>
              </a:rPr>
              <a:t>Figure  5-7</a:t>
            </a:r>
            <a:endParaRPr/>
          </a:p>
        </p:txBody>
      </p:sp>
      <p:pic>
        <p:nvPicPr>
          <p:cNvPr id="276" name="Google Shape;276;p19"/>
          <p:cNvPicPr preferRelativeResize="0"/>
          <p:nvPr/>
        </p:nvPicPr>
        <p:blipFill rotWithShape="1">
          <a:blip r:embed="rId3">
            <a:alphaModFix/>
          </a:blip>
          <a:srcRect b="0" l="0" r="0" t="0"/>
          <a:stretch/>
        </p:blipFill>
        <p:spPr>
          <a:xfrm>
            <a:off x="1139825" y="2311400"/>
            <a:ext cx="6862762" cy="2235200"/>
          </a:xfrm>
          <a:prstGeom prst="rect">
            <a:avLst/>
          </a:prstGeom>
          <a:noFill/>
          <a:ln>
            <a:noFill/>
          </a:ln>
        </p:spPr>
      </p:pic>
      <p:sp>
        <p:nvSpPr>
          <p:cNvPr id="277" name="Google Shape;277;p19"/>
          <p:cNvSpPr txBox="1"/>
          <p:nvPr/>
        </p:nvSpPr>
        <p:spPr>
          <a:xfrm>
            <a:off x="1724025" y="228600"/>
            <a:ext cx="6276975" cy="1066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Comparison of a default mask and </a:t>
            </a:r>
            <a:endParaRPr/>
          </a:p>
          <a:p>
            <a:pPr indent="0" lvl="0" marL="0" marR="0" rtl="0" algn="ctr">
              <a:lnSpc>
                <a:spcPct val="100000"/>
              </a:lnSpc>
              <a:spcBef>
                <a:spcPts val="0"/>
              </a:spcBef>
              <a:spcAft>
                <a:spcPts val="0"/>
              </a:spcAft>
              <a:buClr>
                <a:schemeClr val="accent2"/>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a subnet mask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1" name="Shape 281"/>
        <p:cNvGrpSpPr/>
        <p:nvPr/>
      </p:nvGrpSpPr>
      <p:grpSpPr>
        <a:xfrm>
          <a:off x="0" y="0"/>
          <a:ext cx="0" cy="0"/>
          <a:chOff x="0" y="0"/>
          <a:chExt cx="0" cy="0"/>
        </a:xfrm>
      </p:grpSpPr>
      <p:sp>
        <p:nvSpPr>
          <p:cNvPr id="282" name="Google Shape;282;p20"/>
          <p:cNvSpPr txBox="1"/>
          <p:nvPr/>
        </p:nvSpPr>
        <p:spPr>
          <a:xfrm>
            <a:off x="762000" y="2790825"/>
            <a:ext cx="7620000" cy="1247775"/>
          </a:xfrm>
          <a:prstGeom prst="rect">
            <a:avLst/>
          </a:prstGeom>
          <a:noFill/>
          <a:ln cap="flat" cmpd="sng" w="5715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a:buNone/>
            </a:pPr>
            <a:r>
              <a:rPr b="1" i="1" lang="en-US" sz="3600" u="none" cap="none" strike="noStrike">
                <a:solidFill>
                  <a:schemeClr val="dk1"/>
                </a:solidFill>
                <a:latin typeface="Times"/>
                <a:ea typeface="Times"/>
                <a:cs typeface="Times"/>
                <a:sym typeface="Times"/>
              </a:rPr>
              <a:t>The number of subnets must be </a:t>
            </a:r>
            <a:br>
              <a:rPr b="1" i="1" lang="en-US" sz="3600" u="none" cap="none" strike="noStrike">
                <a:solidFill>
                  <a:schemeClr val="dk1"/>
                </a:solidFill>
                <a:latin typeface="Times"/>
                <a:ea typeface="Times"/>
                <a:cs typeface="Times"/>
                <a:sym typeface="Times"/>
              </a:rPr>
            </a:br>
            <a:r>
              <a:rPr b="1" i="1" lang="en-US" sz="3600" u="none" cap="none" strike="noStrike">
                <a:solidFill>
                  <a:schemeClr val="dk1"/>
                </a:solidFill>
                <a:latin typeface="Times"/>
                <a:ea typeface="Times"/>
                <a:cs typeface="Times"/>
                <a:sym typeface="Times"/>
              </a:rPr>
              <a:t>a power of 2.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86" name="Shape 286"/>
        <p:cNvGrpSpPr/>
        <p:nvPr/>
      </p:nvGrpSpPr>
      <p:grpSpPr>
        <a:xfrm>
          <a:off x="0" y="0"/>
          <a:ext cx="0" cy="0"/>
          <a:chOff x="0" y="0"/>
          <a:chExt cx="0" cy="0"/>
        </a:xfrm>
      </p:grpSpPr>
      <p:sp>
        <p:nvSpPr>
          <p:cNvPr id="287" name="Google Shape;287;p21"/>
          <p:cNvSpPr txBox="1"/>
          <p:nvPr/>
        </p:nvSpPr>
        <p:spPr>
          <a:xfrm>
            <a:off x="144462" y="249237"/>
            <a:ext cx="201771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Example 3</a:t>
            </a:r>
            <a:endParaRPr/>
          </a:p>
        </p:txBody>
      </p:sp>
      <p:sp>
        <p:nvSpPr>
          <p:cNvPr id="288" name="Google Shape;288;p21"/>
          <p:cNvSpPr txBox="1"/>
          <p:nvPr/>
        </p:nvSpPr>
        <p:spPr>
          <a:xfrm>
            <a:off x="457200" y="1393825"/>
            <a:ext cx="8458200" cy="1739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a:buNone/>
            </a:pPr>
            <a:r>
              <a:rPr b="0" i="0" lang="en-US" sz="3600" u="none" cap="none" strike="noStrike">
                <a:solidFill>
                  <a:srgbClr val="002060"/>
                </a:solidFill>
                <a:latin typeface="Times"/>
                <a:ea typeface="Times"/>
                <a:cs typeface="Times"/>
                <a:sym typeface="Times"/>
              </a:rPr>
              <a:t>A company is granted the site address 201.70.64.0 .The company needs six subnets. Design the subnets. </a:t>
            </a:r>
            <a:endParaRPr/>
          </a:p>
        </p:txBody>
      </p:sp>
      <p:sp>
        <p:nvSpPr>
          <p:cNvPr id="289" name="Google Shape;289;p21"/>
          <p:cNvSpPr txBox="1"/>
          <p:nvPr/>
        </p:nvSpPr>
        <p:spPr>
          <a:xfrm>
            <a:off x="228600" y="3389312"/>
            <a:ext cx="164306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Solution</a:t>
            </a:r>
            <a:endParaRPr/>
          </a:p>
        </p:txBody>
      </p:sp>
      <p:sp>
        <p:nvSpPr>
          <p:cNvPr id="290" name="Google Shape;290;p21"/>
          <p:cNvSpPr txBox="1"/>
          <p:nvPr/>
        </p:nvSpPr>
        <p:spPr>
          <a:xfrm>
            <a:off x="304800" y="4262437"/>
            <a:ext cx="8610600" cy="11906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600"/>
              <a:buFont typeface="Times"/>
              <a:buNone/>
            </a:pPr>
            <a:r>
              <a:rPr b="0" i="0" lang="en-US" sz="3600" u="none" cap="none" strike="noStrike">
                <a:solidFill>
                  <a:schemeClr val="lt2"/>
                </a:solidFill>
                <a:latin typeface="Times"/>
                <a:ea typeface="Times"/>
                <a:cs typeface="Times"/>
                <a:sym typeface="Times"/>
              </a:rPr>
              <a:t>The number of 1s in the default </a:t>
            </a:r>
            <a:br>
              <a:rPr b="0" i="0" lang="en-US" sz="3600" u="none" cap="none" strike="noStrike">
                <a:solidFill>
                  <a:schemeClr val="lt2"/>
                </a:solidFill>
                <a:latin typeface="Times"/>
                <a:ea typeface="Times"/>
                <a:cs typeface="Times"/>
                <a:sym typeface="Times"/>
              </a:rPr>
            </a:br>
            <a:r>
              <a:rPr b="0" i="0" lang="en-US" sz="3600" u="none" cap="none" strike="noStrike">
                <a:solidFill>
                  <a:schemeClr val="lt2"/>
                </a:solidFill>
                <a:latin typeface="Times"/>
                <a:ea typeface="Times"/>
                <a:cs typeface="Times"/>
                <a:sym typeface="Times"/>
              </a:rPr>
              <a:t>mask is 24 (class 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294" name="Shape 294"/>
        <p:cNvGrpSpPr/>
        <p:nvPr/>
      </p:nvGrpSpPr>
      <p:grpSpPr>
        <a:xfrm>
          <a:off x="0" y="0"/>
          <a:ext cx="0" cy="0"/>
          <a:chOff x="0" y="0"/>
          <a:chExt cx="0" cy="0"/>
        </a:xfrm>
      </p:grpSpPr>
      <p:sp>
        <p:nvSpPr>
          <p:cNvPr id="295" name="Google Shape;295;p22"/>
          <p:cNvSpPr txBox="1"/>
          <p:nvPr/>
        </p:nvSpPr>
        <p:spPr>
          <a:xfrm>
            <a:off x="228600" y="304800"/>
            <a:ext cx="3775075"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Solution (Continued)</a:t>
            </a:r>
            <a:endParaRPr/>
          </a:p>
        </p:txBody>
      </p:sp>
      <p:sp>
        <p:nvSpPr>
          <p:cNvPr id="296" name="Google Shape;296;p22"/>
          <p:cNvSpPr txBox="1"/>
          <p:nvPr/>
        </p:nvSpPr>
        <p:spPr>
          <a:xfrm>
            <a:off x="304800" y="1257300"/>
            <a:ext cx="8610600" cy="50355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600"/>
              <a:buFont typeface="Times"/>
              <a:buNone/>
            </a:pPr>
            <a:r>
              <a:rPr b="0" i="0" lang="en-US" sz="3600" u="none" cap="none" strike="noStrike">
                <a:solidFill>
                  <a:schemeClr val="lt2"/>
                </a:solidFill>
                <a:latin typeface="Times"/>
                <a:ea typeface="Times"/>
                <a:cs typeface="Times"/>
                <a:sym typeface="Times"/>
              </a:rPr>
              <a:t>The company needs six subnets. This number 6 is not a power of 2. The next number that is a power of 2 is 8 (2</a:t>
            </a:r>
            <a:r>
              <a:rPr b="0" baseline="30000" i="0" lang="en-US" sz="3600" u="none" cap="none" strike="noStrike">
                <a:solidFill>
                  <a:schemeClr val="lt2"/>
                </a:solidFill>
                <a:latin typeface="Times"/>
                <a:ea typeface="Times"/>
                <a:cs typeface="Times"/>
                <a:sym typeface="Times"/>
              </a:rPr>
              <a:t>3</a:t>
            </a:r>
            <a:r>
              <a:rPr b="0" i="0" lang="en-US" sz="3600" u="none" cap="none" strike="noStrike">
                <a:solidFill>
                  <a:schemeClr val="lt2"/>
                </a:solidFill>
                <a:latin typeface="Times"/>
                <a:ea typeface="Times"/>
                <a:cs typeface="Times"/>
                <a:sym typeface="Times"/>
              </a:rPr>
              <a:t>). We need 3 more 1s in the subnet mask. The total number of 1s in the subnet mask is 27 (24 </a:t>
            </a:r>
            <a:r>
              <a:rPr b="0" i="0" lang="en-US" sz="3600" u="none" cap="none" strike="noStrike">
                <a:solidFill>
                  <a:schemeClr val="lt2"/>
                </a:solidFill>
                <a:latin typeface="Noto Sans Symbols"/>
                <a:ea typeface="Noto Sans Symbols"/>
                <a:cs typeface="Noto Sans Symbols"/>
                <a:sym typeface="Noto Sans Symbols"/>
              </a:rPr>
              <a:t>+</a:t>
            </a:r>
            <a:r>
              <a:rPr b="0" i="0" lang="en-US" sz="3600" u="none" cap="none" strike="noStrike">
                <a:solidFill>
                  <a:schemeClr val="lt2"/>
                </a:solidFill>
                <a:latin typeface="Times"/>
                <a:ea typeface="Times"/>
                <a:cs typeface="Times"/>
                <a:sym typeface="Times"/>
              </a:rPr>
              <a:t> 3).</a:t>
            </a:r>
            <a:endParaRPr/>
          </a:p>
          <a:p>
            <a:pPr indent="0" lvl="0" marL="0" marR="0" rtl="0" algn="just">
              <a:lnSpc>
                <a:spcPct val="100000"/>
              </a:lnSpc>
              <a:spcBef>
                <a:spcPts val="1800"/>
              </a:spcBef>
              <a:spcAft>
                <a:spcPts val="0"/>
              </a:spcAft>
              <a:buClr>
                <a:schemeClr val="lt2"/>
              </a:buClr>
              <a:buSzPts val="3600"/>
              <a:buFont typeface="Times"/>
              <a:buNone/>
            </a:pPr>
            <a:r>
              <a:rPr b="0" i="0" lang="en-US" sz="3600" u="none" cap="none" strike="noStrike">
                <a:solidFill>
                  <a:schemeClr val="lt2"/>
                </a:solidFill>
                <a:latin typeface="Times"/>
                <a:ea typeface="Times"/>
                <a:cs typeface="Times"/>
                <a:sym typeface="Times"/>
              </a:rPr>
              <a:t>The total number of 0s is 5 (32 </a:t>
            </a:r>
            <a:r>
              <a:rPr b="0" i="0" lang="en-US" sz="3600" u="none" cap="none" strike="noStrike">
                <a:solidFill>
                  <a:schemeClr val="lt2"/>
                </a:solidFill>
                <a:latin typeface="Noto Sans Symbols"/>
                <a:ea typeface="Noto Sans Symbols"/>
                <a:cs typeface="Noto Sans Symbols"/>
                <a:sym typeface="Noto Sans Symbols"/>
              </a:rPr>
              <a:t>−</a:t>
            </a:r>
            <a:r>
              <a:rPr b="0" i="0" lang="en-US" sz="3600" u="none" cap="none" strike="noStrike">
                <a:solidFill>
                  <a:schemeClr val="lt2"/>
                </a:solidFill>
                <a:latin typeface="Times"/>
                <a:ea typeface="Times"/>
                <a:cs typeface="Times"/>
                <a:sym typeface="Times"/>
              </a:rPr>
              <a:t> 27). The mask is </a:t>
            </a:r>
            <a:endParaRPr/>
          </a:p>
          <a:p>
            <a:pPr indent="0" lvl="0" marL="0" marR="0" rtl="0" algn="l">
              <a:lnSpc>
                <a:spcPct val="100000"/>
              </a:lnSpc>
              <a:spcBef>
                <a:spcPts val="0"/>
              </a:spcBef>
              <a:spcAft>
                <a:spcPts val="0"/>
              </a:spcAft>
              <a:buNone/>
            </a:pPr>
            <a:r>
              <a:t/>
            </a:r>
            <a:endParaRPr b="0" i="0" sz="3600" u="none">
              <a:solidFill>
                <a:schemeClr val="lt2"/>
              </a:solidFill>
              <a:latin typeface="Times"/>
              <a:ea typeface="Times"/>
              <a:cs typeface="Times"/>
              <a:sym typeface="Time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00" name="Shape 300"/>
        <p:cNvGrpSpPr/>
        <p:nvPr/>
      </p:nvGrpSpPr>
      <p:grpSpPr>
        <a:xfrm>
          <a:off x="0" y="0"/>
          <a:ext cx="0" cy="0"/>
          <a:chOff x="0" y="0"/>
          <a:chExt cx="0" cy="0"/>
        </a:xfrm>
      </p:grpSpPr>
      <p:sp>
        <p:nvSpPr>
          <p:cNvPr id="301" name="Google Shape;301;p23"/>
          <p:cNvSpPr txBox="1"/>
          <p:nvPr/>
        </p:nvSpPr>
        <p:spPr>
          <a:xfrm>
            <a:off x="228600" y="304800"/>
            <a:ext cx="3775075"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 (Continued)</a:t>
            </a:r>
            <a:endParaRPr/>
          </a:p>
        </p:txBody>
      </p:sp>
      <p:sp>
        <p:nvSpPr>
          <p:cNvPr id="302" name="Google Shape;302;p23"/>
          <p:cNvSpPr txBox="1"/>
          <p:nvPr/>
        </p:nvSpPr>
        <p:spPr>
          <a:xfrm>
            <a:off x="304800" y="1257300"/>
            <a:ext cx="8610600" cy="41116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2"/>
              </a:buClr>
              <a:buSzPts val="3600"/>
              <a:buFont typeface="Times"/>
              <a:buNone/>
            </a:pPr>
            <a:r>
              <a:rPr b="1" i="0" lang="en-US" sz="3600" u="sng">
                <a:solidFill>
                  <a:schemeClr val="lt2"/>
                </a:solidFill>
                <a:latin typeface="Times"/>
                <a:ea typeface="Times"/>
                <a:cs typeface="Times"/>
                <a:sym typeface="Times"/>
              </a:rPr>
              <a:t>11111111 11111111 11111111</a:t>
            </a:r>
            <a:r>
              <a:rPr b="0" i="0" lang="en-US" sz="3600" u="none">
                <a:solidFill>
                  <a:srgbClr val="000000"/>
                </a:solidFill>
                <a:latin typeface="Times"/>
                <a:ea typeface="Times"/>
                <a:cs typeface="Times"/>
                <a:sym typeface="Times"/>
              </a:rPr>
              <a:t> </a:t>
            </a:r>
            <a:r>
              <a:rPr b="1" i="0" lang="en-US" sz="3600" u="sng">
                <a:solidFill>
                  <a:schemeClr val="lt2"/>
                </a:solidFill>
                <a:latin typeface="Times"/>
                <a:ea typeface="Times"/>
                <a:cs typeface="Times"/>
                <a:sym typeface="Times"/>
              </a:rPr>
              <a:t>111</a:t>
            </a:r>
            <a:r>
              <a:rPr b="0" i="0" lang="en-US" sz="3600" u="none">
                <a:solidFill>
                  <a:srgbClr val="000000"/>
                </a:solidFill>
                <a:latin typeface="Times"/>
                <a:ea typeface="Times"/>
                <a:cs typeface="Times"/>
                <a:sym typeface="Times"/>
              </a:rPr>
              <a:t>00000</a:t>
            </a:r>
            <a:endParaRPr/>
          </a:p>
          <a:p>
            <a:pPr indent="0" lvl="0" marL="0" marR="0" rtl="0" algn="ctr">
              <a:lnSpc>
                <a:spcPct val="100000"/>
              </a:lnSpc>
              <a:spcBef>
                <a:spcPts val="100"/>
              </a:spcBef>
              <a:spcAft>
                <a:spcPts val="0"/>
              </a:spcAft>
              <a:buClr>
                <a:srgbClr val="000000"/>
              </a:buClr>
              <a:buSzPts val="3600"/>
              <a:buFont typeface="Times"/>
              <a:buNone/>
            </a:pPr>
            <a:r>
              <a:rPr b="0" i="0" lang="en-US" sz="3600" u="none">
                <a:solidFill>
                  <a:srgbClr val="000000"/>
                </a:solidFill>
                <a:latin typeface="Times"/>
                <a:ea typeface="Times"/>
                <a:cs typeface="Times"/>
                <a:sym typeface="Times"/>
              </a:rPr>
              <a:t>or </a:t>
            </a:r>
            <a:endParaRPr/>
          </a:p>
          <a:p>
            <a:pPr indent="0" lvl="0" marL="0" marR="0" rtl="0" algn="ctr">
              <a:lnSpc>
                <a:spcPct val="100000"/>
              </a:lnSpc>
              <a:spcBef>
                <a:spcPts val="1900"/>
              </a:spcBef>
              <a:spcAft>
                <a:spcPts val="0"/>
              </a:spcAft>
              <a:buClr>
                <a:schemeClr val="lt2"/>
              </a:buClr>
              <a:buSzPts val="3600"/>
              <a:buFont typeface="Times"/>
              <a:buNone/>
            </a:pPr>
            <a:r>
              <a:rPr b="1" i="0" lang="en-US" sz="3600" u="none">
                <a:solidFill>
                  <a:schemeClr val="lt2"/>
                </a:solidFill>
                <a:latin typeface="Times"/>
                <a:ea typeface="Times"/>
                <a:cs typeface="Times"/>
                <a:sym typeface="Times"/>
              </a:rPr>
              <a:t>255.255.255.224</a:t>
            </a:r>
            <a:endParaRPr/>
          </a:p>
          <a:p>
            <a:pPr indent="0" lvl="2" marL="914400" marR="0" rtl="0" algn="just">
              <a:lnSpc>
                <a:spcPct val="100000"/>
              </a:lnSpc>
              <a:spcBef>
                <a:spcPts val="2500"/>
              </a:spcBef>
              <a:spcAft>
                <a:spcPts val="0"/>
              </a:spcAft>
              <a:buClr>
                <a:srgbClr val="000000"/>
              </a:buClr>
              <a:buSzPts val="3600"/>
              <a:buFont typeface="Times"/>
              <a:buNone/>
            </a:pPr>
            <a:r>
              <a:rPr b="0" i="0" lang="en-US" sz="3600" u="none" cap="none" strike="noStrike">
                <a:solidFill>
                  <a:srgbClr val="000000"/>
                </a:solidFill>
                <a:latin typeface="Times"/>
                <a:ea typeface="Times"/>
                <a:cs typeface="Times"/>
                <a:sym typeface="Times"/>
              </a:rPr>
              <a:t>The number of subnets is 8.</a:t>
            </a:r>
            <a:endParaRPr b="1" i="0" sz="3600" u="none" cap="none" strike="noStrike">
              <a:solidFill>
                <a:srgbClr val="000000"/>
              </a:solidFill>
              <a:latin typeface="Times"/>
              <a:ea typeface="Times"/>
              <a:cs typeface="Times"/>
              <a:sym typeface="Times"/>
            </a:endParaRPr>
          </a:p>
          <a:p>
            <a:pPr indent="0" lvl="2" marL="914400" marR="0" rtl="0" algn="just">
              <a:lnSpc>
                <a:spcPct val="100000"/>
              </a:lnSpc>
              <a:spcBef>
                <a:spcPts val="200"/>
              </a:spcBef>
              <a:spcAft>
                <a:spcPts val="0"/>
              </a:spcAft>
              <a:buClr>
                <a:srgbClr val="000000"/>
              </a:buClr>
              <a:buSzPts val="3600"/>
              <a:buFont typeface="Times"/>
              <a:buNone/>
            </a:pPr>
            <a:r>
              <a:rPr b="0" i="0" lang="en-US" sz="3600" u="none" cap="none" strike="noStrike">
                <a:solidFill>
                  <a:srgbClr val="000000"/>
                </a:solidFill>
                <a:latin typeface="Times"/>
                <a:ea typeface="Times"/>
                <a:cs typeface="Times"/>
                <a:sym typeface="Times"/>
              </a:rPr>
              <a:t>The number of addresses in each subnet is 2</a:t>
            </a:r>
            <a:r>
              <a:rPr b="0" baseline="30000" i="0" lang="en-US" sz="3600" u="none" cap="none" strike="noStrike">
                <a:solidFill>
                  <a:srgbClr val="000000"/>
                </a:solidFill>
                <a:latin typeface="Times"/>
                <a:ea typeface="Times"/>
                <a:cs typeface="Times"/>
                <a:sym typeface="Times"/>
              </a:rPr>
              <a:t>5</a:t>
            </a:r>
            <a:r>
              <a:rPr b="0" i="0" lang="en-US" sz="3600" u="none" cap="none" strike="noStrike">
                <a:solidFill>
                  <a:srgbClr val="000000"/>
                </a:solidFill>
                <a:latin typeface="Times"/>
                <a:ea typeface="Times"/>
                <a:cs typeface="Times"/>
                <a:sym typeface="Times"/>
              </a:rPr>
              <a:t> (5 is the number of 0s) or 32.</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6" name="Shape 306"/>
        <p:cNvGrpSpPr/>
        <p:nvPr/>
      </p:nvGrpSpPr>
      <p:grpSpPr>
        <a:xfrm>
          <a:off x="0" y="0"/>
          <a:ext cx="0" cy="0"/>
          <a:chOff x="0" y="0"/>
          <a:chExt cx="0" cy="0"/>
        </a:xfrm>
      </p:grpSpPr>
      <p:pic>
        <p:nvPicPr>
          <p:cNvPr id="307" name="Google Shape;307;p24"/>
          <p:cNvPicPr preferRelativeResize="0"/>
          <p:nvPr/>
        </p:nvPicPr>
        <p:blipFill rotWithShape="1">
          <a:blip r:embed="rId3">
            <a:alphaModFix/>
          </a:blip>
          <a:srcRect b="0" l="0" r="0" t="0"/>
          <a:stretch/>
        </p:blipFill>
        <p:spPr>
          <a:xfrm>
            <a:off x="968375" y="1031875"/>
            <a:ext cx="7185025" cy="5216525"/>
          </a:xfrm>
          <a:prstGeom prst="rect">
            <a:avLst/>
          </a:prstGeom>
          <a:noFill/>
          <a:ln>
            <a:noFill/>
          </a:ln>
        </p:spPr>
      </p:pic>
      <p:sp>
        <p:nvSpPr>
          <p:cNvPr id="308" name="Google Shape;308;p24"/>
          <p:cNvSpPr txBox="1"/>
          <p:nvPr/>
        </p:nvSpPr>
        <p:spPr>
          <a:xfrm>
            <a:off x="3538537" y="95250"/>
            <a:ext cx="20240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Times New Roman"/>
              <a:buNone/>
            </a:pPr>
            <a:r>
              <a:rPr b="1" i="0" lang="en-US" sz="3200" u="none">
                <a:solidFill>
                  <a:schemeClr val="accent2"/>
                </a:solidFill>
                <a:latin typeface="Times New Roman"/>
                <a:ea typeface="Times New Roman"/>
                <a:cs typeface="Times New Roman"/>
                <a:sym typeface="Times New Roman"/>
              </a:rPr>
              <a:t>Example 3</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12" name="Shape 312"/>
        <p:cNvGrpSpPr/>
        <p:nvPr/>
      </p:nvGrpSpPr>
      <p:grpSpPr>
        <a:xfrm>
          <a:off x="0" y="0"/>
          <a:ext cx="0" cy="0"/>
          <a:chOff x="0" y="0"/>
          <a:chExt cx="0" cy="0"/>
        </a:xfrm>
      </p:grpSpPr>
      <p:sp>
        <p:nvSpPr>
          <p:cNvPr id="313" name="Google Shape;313;p25"/>
          <p:cNvSpPr txBox="1"/>
          <p:nvPr/>
        </p:nvSpPr>
        <p:spPr>
          <a:xfrm>
            <a:off x="144462" y="249237"/>
            <a:ext cx="201771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Example 4</a:t>
            </a:r>
            <a:endParaRPr/>
          </a:p>
        </p:txBody>
      </p:sp>
      <p:sp>
        <p:nvSpPr>
          <p:cNvPr id="314" name="Google Shape;314;p25"/>
          <p:cNvSpPr txBox="1"/>
          <p:nvPr/>
        </p:nvSpPr>
        <p:spPr>
          <a:xfrm>
            <a:off x="457200" y="1393825"/>
            <a:ext cx="8458200" cy="1739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600"/>
              <a:buFont typeface="Times"/>
              <a:buNone/>
            </a:pPr>
            <a:r>
              <a:rPr b="0" i="0" lang="en-US" sz="3600" u="none">
                <a:solidFill>
                  <a:schemeClr val="lt2"/>
                </a:solidFill>
                <a:latin typeface="Times"/>
                <a:ea typeface="Times"/>
                <a:cs typeface="Times"/>
                <a:sym typeface="Times"/>
              </a:rPr>
              <a:t>A company is granted the site address 181.56.0.0. The company needs 1000 subnets. Design the subnets.</a:t>
            </a:r>
            <a:endParaRPr/>
          </a:p>
        </p:txBody>
      </p:sp>
      <p:sp>
        <p:nvSpPr>
          <p:cNvPr id="315" name="Google Shape;315;p25"/>
          <p:cNvSpPr txBox="1"/>
          <p:nvPr/>
        </p:nvSpPr>
        <p:spPr>
          <a:xfrm>
            <a:off x="228600" y="3389312"/>
            <a:ext cx="164306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a:t>
            </a:r>
            <a:endParaRPr/>
          </a:p>
        </p:txBody>
      </p:sp>
      <p:sp>
        <p:nvSpPr>
          <p:cNvPr id="316" name="Google Shape;316;p25"/>
          <p:cNvSpPr txBox="1"/>
          <p:nvPr/>
        </p:nvSpPr>
        <p:spPr>
          <a:xfrm>
            <a:off x="304800" y="4262437"/>
            <a:ext cx="8610600" cy="11906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600"/>
              <a:buFont typeface="Times"/>
              <a:buNone/>
            </a:pPr>
            <a:r>
              <a:rPr b="0" i="0" lang="en-US" sz="3600" u="none">
                <a:solidFill>
                  <a:schemeClr val="lt2"/>
                </a:solidFill>
                <a:latin typeface="Times"/>
                <a:ea typeface="Times"/>
                <a:cs typeface="Times"/>
                <a:sym typeface="Times"/>
              </a:rPr>
              <a:t>The number of 1s in the default mask is 16 (class 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20" name="Shape 320"/>
        <p:cNvGrpSpPr/>
        <p:nvPr/>
      </p:nvGrpSpPr>
      <p:grpSpPr>
        <a:xfrm>
          <a:off x="0" y="0"/>
          <a:ext cx="0" cy="0"/>
          <a:chOff x="0" y="0"/>
          <a:chExt cx="0" cy="0"/>
        </a:xfrm>
      </p:grpSpPr>
      <p:sp>
        <p:nvSpPr>
          <p:cNvPr id="321" name="Google Shape;321;p26"/>
          <p:cNvSpPr txBox="1"/>
          <p:nvPr/>
        </p:nvSpPr>
        <p:spPr>
          <a:xfrm>
            <a:off x="228600" y="304800"/>
            <a:ext cx="3775075"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 (Continued)</a:t>
            </a:r>
            <a:endParaRPr/>
          </a:p>
        </p:txBody>
      </p:sp>
      <p:sp>
        <p:nvSpPr>
          <p:cNvPr id="322" name="Google Shape;322;p26"/>
          <p:cNvSpPr txBox="1"/>
          <p:nvPr/>
        </p:nvSpPr>
        <p:spPr>
          <a:xfrm>
            <a:off x="304800" y="1257300"/>
            <a:ext cx="8610600" cy="4114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600"/>
              <a:buFont typeface="Times"/>
              <a:buNone/>
            </a:pPr>
            <a:r>
              <a:rPr b="0" i="0" lang="en-US" sz="3600" u="none">
                <a:solidFill>
                  <a:schemeClr val="lt2"/>
                </a:solidFill>
                <a:latin typeface="Times"/>
                <a:ea typeface="Times"/>
                <a:cs typeface="Times"/>
                <a:sym typeface="Times"/>
              </a:rPr>
              <a:t>The company needs 1000 subnets. This number is not a power of 2. The next number that is a power of 2 is 1024 (2</a:t>
            </a:r>
            <a:r>
              <a:rPr b="0" baseline="30000" i="0" lang="en-US" sz="3600" u="none">
                <a:solidFill>
                  <a:schemeClr val="lt2"/>
                </a:solidFill>
                <a:latin typeface="Times"/>
                <a:ea typeface="Times"/>
                <a:cs typeface="Times"/>
                <a:sym typeface="Times"/>
              </a:rPr>
              <a:t>10</a:t>
            </a:r>
            <a:r>
              <a:rPr b="0" i="0" lang="en-US" sz="3600" u="none">
                <a:solidFill>
                  <a:schemeClr val="lt2"/>
                </a:solidFill>
                <a:latin typeface="Times"/>
                <a:ea typeface="Times"/>
                <a:cs typeface="Times"/>
                <a:sym typeface="Times"/>
              </a:rPr>
              <a:t>). We need 10 more 1s in the subnet mask.</a:t>
            </a:r>
            <a:endParaRPr/>
          </a:p>
          <a:p>
            <a:pPr indent="0" lvl="0" marL="0" marR="0" rtl="0" algn="just">
              <a:lnSpc>
                <a:spcPct val="100000"/>
              </a:lnSpc>
              <a:spcBef>
                <a:spcPts val="700"/>
              </a:spcBef>
              <a:spcAft>
                <a:spcPts val="0"/>
              </a:spcAft>
              <a:buClr>
                <a:schemeClr val="lt2"/>
              </a:buClr>
              <a:buSzPts val="3600"/>
              <a:buFont typeface="Times"/>
              <a:buNone/>
            </a:pPr>
            <a:r>
              <a:rPr b="0" i="0" lang="en-US" sz="3600" u="none">
                <a:solidFill>
                  <a:schemeClr val="lt2"/>
                </a:solidFill>
                <a:latin typeface="Times"/>
                <a:ea typeface="Times"/>
                <a:cs typeface="Times"/>
                <a:sym typeface="Times"/>
              </a:rPr>
              <a:t>The total number of 1s in the subnet mask is 26 (16 </a:t>
            </a:r>
            <a:r>
              <a:rPr b="0" i="0" lang="en-US" sz="3600" u="none">
                <a:solidFill>
                  <a:schemeClr val="lt2"/>
                </a:solidFill>
                <a:latin typeface="Noto Sans Symbols"/>
                <a:ea typeface="Noto Sans Symbols"/>
                <a:cs typeface="Noto Sans Symbols"/>
                <a:sym typeface="Noto Sans Symbols"/>
              </a:rPr>
              <a:t>+</a:t>
            </a:r>
            <a:r>
              <a:rPr b="0" i="0" lang="en-US" sz="3600" u="none">
                <a:solidFill>
                  <a:schemeClr val="lt2"/>
                </a:solidFill>
                <a:latin typeface="Times"/>
                <a:ea typeface="Times"/>
                <a:cs typeface="Times"/>
                <a:sym typeface="Times"/>
              </a:rPr>
              <a:t> 10).</a:t>
            </a:r>
            <a:endParaRPr/>
          </a:p>
          <a:p>
            <a:pPr indent="0" lvl="0" marL="0" marR="0" rtl="0" algn="just">
              <a:lnSpc>
                <a:spcPct val="100000"/>
              </a:lnSpc>
              <a:spcBef>
                <a:spcPts val="700"/>
              </a:spcBef>
              <a:spcAft>
                <a:spcPts val="0"/>
              </a:spcAft>
              <a:buClr>
                <a:schemeClr val="lt2"/>
              </a:buClr>
              <a:buSzPts val="3600"/>
              <a:buFont typeface="Times"/>
              <a:buNone/>
            </a:pPr>
            <a:r>
              <a:rPr b="0" i="0" lang="en-US" sz="3600" u="none">
                <a:solidFill>
                  <a:schemeClr val="lt2"/>
                </a:solidFill>
                <a:latin typeface="Times"/>
                <a:ea typeface="Times"/>
                <a:cs typeface="Times"/>
                <a:sym typeface="Times"/>
              </a:rPr>
              <a:t>The total number of 0s is 6 (32 </a:t>
            </a:r>
            <a:r>
              <a:rPr b="0" i="0" lang="en-US" sz="3600" u="none">
                <a:solidFill>
                  <a:schemeClr val="lt2"/>
                </a:solidFill>
                <a:latin typeface="Noto Sans Symbols"/>
                <a:ea typeface="Noto Sans Symbols"/>
                <a:cs typeface="Noto Sans Symbols"/>
                <a:sym typeface="Noto Sans Symbols"/>
              </a:rPr>
              <a:t>−</a:t>
            </a:r>
            <a:r>
              <a:rPr b="0" i="0" lang="en-US" sz="3600" u="none">
                <a:solidFill>
                  <a:schemeClr val="lt2"/>
                </a:solidFill>
                <a:latin typeface="Times"/>
                <a:ea typeface="Times"/>
                <a:cs typeface="Times"/>
                <a:sym typeface="Times"/>
              </a:rPr>
              <a:t> 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326" name="Shape 326"/>
        <p:cNvGrpSpPr/>
        <p:nvPr/>
      </p:nvGrpSpPr>
      <p:grpSpPr>
        <a:xfrm>
          <a:off x="0" y="0"/>
          <a:ext cx="0" cy="0"/>
          <a:chOff x="0" y="0"/>
          <a:chExt cx="0" cy="0"/>
        </a:xfrm>
      </p:grpSpPr>
      <p:sp>
        <p:nvSpPr>
          <p:cNvPr id="327" name="Google Shape;327;p27"/>
          <p:cNvSpPr txBox="1"/>
          <p:nvPr/>
        </p:nvSpPr>
        <p:spPr>
          <a:xfrm>
            <a:off x="228600" y="304800"/>
            <a:ext cx="3775075"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 (Continued)</a:t>
            </a:r>
            <a:endParaRPr/>
          </a:p>
        </p:txBody>
      </p:sp>
      <p:sp>
        <p:nvSpPr>
          <p:cNvPr id="328" name="Google Shape;328;p27"/>
          <p:cNvSpPr txBox="1"/>
          <p:nvPr/>
        </p:nvSpPr>
        <p:spPr>
          <a:xfrm>
            <a:off x="304800" y="1257300"/>
            <a:ext cx="8610600" cy="50196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600"/>
              <a:buFont typeface="Times"/>
              <a:buNone/>
            </a:pPr>
            <a:r>
              <a:rPr b="0" i="0" lang="en-US" sz="3600" u="none">
                <a:solidFill>
                  <a:schemeClr val="lt2"/>
                </a:solidFill>
                <a:latin typeface="Times"/>
                <a:ea typeface="Times"/>
                <a:cs typeface="Times"/>
                <a:sym typeface="Times"/>
              </a:rPr>
              <a:t>The mask is</a:t>
            </a:r>
            <a:endParaRPr/>
          </a:p>
          <a:p>
            <a:pPr indent="0" lvl="0" marL="0" marR="0" rtl="0" algn="just">
              <a:lnSpc>
                <a:spcPct val="100000"/>
              </a:lnSpc>
              <a:spcBef>
                <a:spcPts val="700"/>
              </a:spcBef>
              <a:spcAft>
                <a:spcPts val="0"/>
              </a:spcAft>
              <a:buClr>
                <a:srgbClr val="FF00FF"/>
              </a:buClr>
              <a:buSzPts val="3600"/>
              <a:buFont typeface="Times"/>
              <a:buNone/>
            </a:pPr>
            <a:r>
              <a:rPr b="1" i="0" lang="en-US" sz="3600" u="none">
                <a:solidFill>
                  <a:srgbClr val="FF00FF"/>
                </a:solidFill>
                <a:latin typeface="Times"/>
                <a:ea typeface="Times"/>
                <a:cs typeface="Times"/>
                <a:sym typeface="Times"/>
              </a:rPr>
              <a:t>    </a:t>
            </a:r>
            <a:r>
              <a:rPr b="0" i="0" lang="en-US" sz="3600" u="sng">
                <a:solidFill>
                  <a:schemeClr val="lt2"/>
                </a:solidFill>
                <a:latin typeface="Times"/>
                <a:ea typeface="Times"/>
                <a:cs typeface="Times"/>
                <a:sym typeface="Times"/>
              </a:rPr>
              <a:t>11111111 11111111 11111111</a:t>
            </a:r>
            <a:r>
              <a:rPr b="1" i="0" lang="en-US" sz="3600" u="none">
                <a:solidFill>
                  <a:srgbClr val="000000"/>
                </a:solidFill>
                <a:latin typeface="Times"/>
                <a:ea typeface="Times"/>
                <a:cs typeface="Times"/>
                <a:sym typeface="Times"/>
              </a:rPr>
              <a:t> </a:t>
            </a:r>
            <a:r>
              <a:rPr b="0" i="0" lang="en-US" sz="3600" u="sng">
                <a:solidFill>
                  <a:schemeClr val="lt2"/>
                </a:solidFill>
                <a:latin typeface="Times"/>
                <a:ea typeface="Times"/>
                <a:cs typeface="Times"/>
                <a:sym typeface="Times"/>
              </a:rPr>
              <a:t>11</a:t>
            </a:r>
            <a:r>
              <a:rPr b="0" i="0" lang="en-US" sz="3600" u="none">
                <a:solidFill>
                  <a:srgbClr val="000000"/>
                </a:solidFill>
                <a:latin typeface="Times"/>
                <a:ea typeface="Times"/>
                <a:cs typeface="Times"/>
                <a:sym typeface="Times"/>
              </a:rPr>
              <a:t>000000</a:t>
            </a:r>
            <a:endParaRPr/>
          </a:p>
          <a:p>
            <a:pPr indent="0" lvl="0" marL="0" marR="0" rtl="0" algn="just">
              <a:lnSpc>
                <a:spcPct val="100000"/>
              </a:lnSpc>
              <a:spcBef>
                <a:spcPts val="700"/>
              </a:spcBef>
              <a:spcAft>
                <a:spcPts val="0"/>
              </a:spcAft>
              <a:buClr>
                <a:srgbClr val="000000"/>
              </a:buClr>
              <a:buSzPts val="3600"/>
              <a:buFont typeface="Times"/>
              <a:buNone/>
            </a:pPr>
            <a:r>
              <a:rPr b="0" i="0" lang="en-US" sz="3600" u="none">
                <a:solidFill>
                  <a:srgbClr val="000000"/>
                </a:solidFill>
                <a:latin typeface="Times"/>
                <a:ea typeface="Times"/>
                <a:cs typeface="Times"/>
                <a:sym typeface="Times"/>
              </a:rPr>
              <a:t>                                 or </a:t>
            </a:r>
            <a:endParaRPr/>
          </a:p>
          <a:p>
            <a:pPr indent="0" lvl="0" marL="0" marR="0" rtl="0" algn="just">
              <a:lnSpc>
                <a:spcPct val="100000"/>
              </a:lnSpc>
              <a:spcBef>
                <a:spcPts val="700"/>
              </a:spcBef>
              <a:spcAft>
                <a:spcPts val="0"/>
              </a:spcAft>
              <a:buClr>
                <a:srgbClr val="FF00FF"/>
              </a:buClr>
              <a:buSzPts val="3600"/>
              <a:buFont typeface="Times"/>
              <a:buNone/>
            </a:pPr>
            <a:r>
              <a:rPr b="0" i="0" lang="en-US" sz="3600" u="none">
                <a:solidFill>
                  <a:srgbClr val="FF00FF"/>
                </a:solidFill>
                <a:latin typeface="Times"/>
                <a:ea typeface="Times"/>
                <a:cs typeface="Times"/>
                <a:sym typeface="Times"/>
              </a:rPr>
              <a:t>                    </a:t>
            </a:r>
            <a:r>
              <a:rPr b="1" i="0" lang="en-US" sz="3600" u="none">
                <a:solidFill>
                  <a:schemeClr val="lt2"/>
                </a:solidFill>
                <a:latin typeface="Times"/>
                <a:ea typeface="Times"/>
                <a:cs typeface="Times"/>
                <a:sym typeface="Times"/>
              </a:rPr>
              <a:t>255.255</a:t>
            </a:r>
            <a:r>
              <a:rPr b="1" i="0" lang="en-US" sz="3600" u="none">
                <a:solidFill>
                  <a:srgbClr val="000000"/>
                </a:solidFill>
                <a:latin typeface="Times"/>
                <a:ea typeface="Times"/>
                <a:cs typeface="Times"/>
                <a:sym typeface="Times"/>
              </a:rPr>
              <a:t>.255.192.</a:t>
            </a:r>
            <a:endParaRPr/>
          </a:p>
          <a:p>
            <a:pPr indent="0" lvl="0" marL="0" marR="0" rtl="0" algn="just">
              <a:lnSpc>
                <a:spcPct val="100000"/>
              </a:lnSpc>
              <a:spcBef>
                <a:spcPts val="700"/>
              </a:spcBef>
              <a:spcAft>
                <a:spcPts val="0"/>
              </a:spcAft>
              <a:buClr>
                <a:srgbClr val="000000"/>
              </a:buClr>
              <a:buSzPts val="3600"/>
              <a:buFont typeface="Times"/>
              <a:buNone/>
            </a:pPr>
            <a:r>
              <a:rPr b="0" i="0" lang="en-US" sz="3600" u="none">
                <a:solidFill>
                  <a:srgbClr val="000000"/>
                </a:solidFill>
                <a:latin typeface="Times"/>
                <a:ea typeface="Times"/>
                <a:cs typeface="Times"/>
                <a:sym typeface="Times"/>
              </a:rPr>
              <a:t>The number of subnets is 1024.</a:t>
            </a:r>
            <a:endParaRPr/>
          </a:p>
          <a:p>
            <a:pPr indent="0" lvl="0" marL="0" marR="0" rtl="0" algn="just">
              <a:lnSpc>
                <a:spcPct val="100000"/>
              </a:lnSpc>
              <a:spcBef>
                <a:spcPts val="700"/>
              </a:spcBef>
              <a:spcAft>
                <a:spcPts val="0"/>
              </a:spcAft>
              <a:buClr>
                <a:srgbClr val="000000"/>
              </a:buClr>
              <a:buSzPts val="3600"/>
              <a:buFont typeface="Times"/>
              <a:buNone/>
            </a:pPr>
            <a:r>
              <a:rPr b="0" i="0" lang="en-US" sz="3600" u="none">
                <a:solidFill>
                  <a:srgbClr val="000000"/>
                </a:solidFill>
                <a:latin typeface="Times"/>
                <a:ea typeface="Times"/>
                <a:cs typeface="Times"/>
                <a:sym typeface="Times"/>
              </a:rPr>
              <a:t>The number of addresses in each subnet is 2</a:t>
            </a:r>
            <a:r>
              <a:rPr b="0" baseline="30000" i="0" lang="en-US" sz="3600" u="none">
                <a:solidFill>
                  <a:srgbClr val="000000"/>
                </a:solidFill>
                <a:latin typeface="Times"/>
                <a:ea typeface="Times"/>
                <a:cs typeface="Times"/>
                <a:sym typeface="Times"/>
              </a:rPr>
              <a:t>6</a:t>
            </a:r>
            <a:r>
              <a:rPr b="0" i="0" lang="en-US" sz="3600" u="none">
                <a:solidFill>
                  <a:srgbClr val="000000"/>
                </a:solidFill>
                <a:latin typeface="Times"/>
                <a:ea typeface="Times"/>
                <a:cs typeface="Times"/>
                <a:sym typeface="Times"/>
              </a:rPr>
              <a:t> (6 is the number of 0s) or 64.</a:t>
            </a:r>
            <a:endParaRPr/>
          </a:p>
          <a:p>
            <a:pPr indent="0" lvl="0" marL="0" marR="0" rtl="0" algn="just">
              <a:lnSpc>
                <a:spcPct val="100000"/>
              </a:lnSpc>
              <a:spcBef>
                <a:spcPts val="700"/>
              </a:spcBef>
              <a:spcAft>
                <a:spcPts val="0"/>
              </a:spcAft>
              <a:buClr>
                <a:schemeClr val="lt2"/>
              </a:buClr>
              <a:buSzPts val="3600"/>
              <a:buFont typeface="Times"/>
              <a:buNone/>
            </a:pPr>
            <a:r>
              <a:rPr b="0" i="0" lang="en-US" sz="3600" u="none">
                <a:solidFill>
                  <a:schemeClr val="lt2"/>
                </a:solidFill>
                <a:latin typeface="Times"/>
                <a:ea typeface="Times"/>
                <a:cs typeface="Times"/>
                <a:sym typeface="Times"/>
              </a:rPr>
              <a:t>See Figure 5.9</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2" name="Shape 332"/>
        <p:cNvGrpSpPr/>
        <p:nvPr/>
      </p:nvGrpSpPr>
      <p:grpSpPr>
        <a:xfrm>
          <a:off x="0" y="0"/>
          <a:ext cx="0" cy="0"/>
          <a:chOff x="0" y="0"/>
          <a:chExt cx="0" cy="0"/>
        </a:xfrm>
      </p:grpSpPr>
      <p:pic>
        <p:nvPicPr>
          <p:cNvPr id="333" name="Google Shape;333;p28"/>
          <p:cNvPicPr preferRelativeResize="0"/>
          <p:nvPr/>
        </p:nvPicPr>
        <p:blipFill rotWithShape="1">
          <a:blip r:embed="rId3">
            <a:alphaModFix/>
          </a:blip>
          <a:srcRect b="0" l="0" r="0" t="0"/>
          <a:stretch/>
        </p:blipFill>
        <p:spPr>
          <a:xfrm>
            <a:off x="1565275" y="609600"/>
            <a:ext cx="6216650" cy="5867400"/>
          </a:xfrm>
          <a:prstGeom prst="rect">
            <a:avLst/>
          </a:prstGeom>
          <a:noFill/>
          <a:ln>
            <a:noFill/>
          </a:ln>
        </p:spPr>
      </p:pic>
      <p:sp>
        <p:nvSpPr>
          <p:cNvPr id="334" name="Google Shape;334;p28"/>
          <p:cNvSpPr txBox="1"/>
          <p:nvPr/>
        </p:nvSpPr>
        <p:spPr>
          <a:xfrm>
            <a:off x="3614737" y="95250"/>
            <a:ext cx="20240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Times New Roman"/>
              <a:buNone/>
            </a:pPr>
            <a:r>
              <a:rPr b="1" i="0" lang="en-US" sz="3200" u="none">
                <a:solidFill>
                  <a:schemeClr val="accent2"/>
                </a:solidFill>
                <a:latin typeface="Times New Roman"/>
                <a:ea typeface="Times New Roman"/>
                <a:cs typeface="Times New Roman"/>
                <a:sym typeface="Times New Roman"/>
              </a:rPr>
              <a:t>Example 4</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9"/>
          <p:cNvSpPr txBox="1"/>
          <p:nvPr>
            <p:ph type="title"/>
          </p:nvPr>
        </p:nvSpPr>
        <p:spPr>
          <a:xfrm>
            <a:off x="628650" y="365125"/>
            <a:ext cx="2190750" cy="701675"/>
          </a:xfrm>
          <a:prstGeom prst="rect">
            <a:avLst/>
          </a:prstGeom>
          <a:solidFill>
            <a:srgbClr val="16537F"/>
          </a:solid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3200"/>
              <a:buFont typeface="Calibri"/>
              <a:buNone/>
            </a:pPr>
            <a:r>
              <a:rPr b="1" i="0" lang="en-US" sz="3200" u="none">
                <a:solidFill>
                  <a:schemeClr val="lt1"/>
                </a:solidFill>
                <a:latin typeface="Calibri"/>
                <a:ea typeface="Calibri"/>
                <a:cs typeface="Calibri"/>
                <a:sym typeface="Calibri"/>
              </a:rPr>
              <a:t>Example 5</a:t>
            </a:r>
            <a:endParaRPr/>
          </a:p>
        </p:txBody>
      </p:sp>
      <p:sp>
        <p:nvSpPr>
          <p:cNvPr id="340" name="Google Shape;340;p29"/>
          <p:cNvSpPr txBox="1"/>
          <p:nvPr>
            <p:ph idx="1" type="body"/>
          </p:nvPr>
        </p:nvSpPr>
        <p:spPr>
          <a:xfrm>
            <a:off x="628650" y="1862137"/>
            <a:ext cx="8134350" cy="20605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Arial"/>
              <a:buNone/>
            </a:pPr>
            <a:r>
              <a:rPr b="0" i="0" lang="en-US" sz="3600" u="none">
                <a:solidFill>
                  <a:schemeClr val="dk1"/>
                </a:solidFill>
                <a:latin typeface="Calibri"/>
                <a:ea typeface="Calibri"/>
                <a:cs typeface="Calibri"/>
                <a:sym typeface="Calibri"/>
              </a:rPr>
              <a:t>Network address given to an organization is 200.50.100.0. After subnetting new Mask is /27.</a:t>
            </a:r>
            <a:endParaRPr/>
          </a:p>
          <a:p>
            <a:pPr indent="-228600" lvl="1" marL="685800" marR="0" rtl="0" algn="l">
              <a:lnSpc>
                <a:spcPct val="90000"/>
              </a:lnSpc>
              <a:spcBef>
                <a:spcPts val="500"/>
              </a:spcBef>
              <a:spcAft>
                <a:spcPts val="0"/>
              </a:spcAft>
              <a:buClr>
                <a:srgbClr val="FF0000"/>
              </a:buClr>
              <a:buSzPts val="3200"/>
              <a:buFont typeface="Arial"/>
              <a:buChar char="•"/>
            </a:pPr>
            <a:r>
              <a:rPr b="0" i="0" lang="en-US" sz="3200" u="none" cap="none" strike="noStrike">
                <a:solidFill>
                  <a:srgbClr val="FF0000"/>
                </a:solidFill>
                <a:latin typeface="Calibri"/>
                <a:ea typeface="Calibri"/>
                <a:cs typeface="Calibri"/>
                <a:sym typeface="Calibri"/>
              </a:rPr>
              <a:t>Find number of subnets and subnet address of each subnet.</a:t>
            </a:r>
            <a:endParaRPr/>
          </a:p>
          <a:p>
            <a:pPr indent="-228600" lvl="1" marL="685800" marR="0" rtl="0" algn="l">
              <a:lnSpc>
                <a:spcPct val="90000"/>
              </a:lnSpc>
              <a:spcBef>
                <a:spcPts val="500"/>
              </a:spcBef>
              <a:spcAft>
                <a:spcPts val="0"/>
              </a:spcAft>
              <a:buClr>
                <a:srgbClr val="FF0000"/>
              </a:buClr>
              <a:buSzPts val="3200"/>
              <a:buFont typeface="Arial"/>
              <a:buChar char="•"/>
            </a:pPr>
            <a:r>
              <a:rPr b="0" i="0" lang="en-US" sz="3200" u="none" cap="none" strike="noStrike">
                <a:solidFill>
                  <a:srgbClr val="FF0000"/>
                </a:solidFill>
                <a:latin typeface="Calibri"/>
                <a:ea typeface="Calibri"/>
                <a:cs typeface="Calibri"/>
                <a:sym typeface="Calibri"/>
              </a:rPr>
              <a:t>Find number of IP address in each subnet.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0"/>
          <p:cNvSpPr txBox="1"/>
          <p:nvPr>
            <p:ph idx="1" type="body"/>
          </p:nvPr>
        </p:nvSpPr>
        <p:spPr>
          <a:xfrm>
            <a:off x="628650" y="2438400"/>
            <a:ext cx="7981950" cy="30480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Initial mask : 24</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New mask is /27</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No of bits used for subnetting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Total Subnets created =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No. of IP Address in each subnet =</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346" name="Google Shape;346;p30"/>
          <p:cNvSpPr txBox="1"/>
          <p:nvPr>
            <p:ph type="title"/>
          </p:nvPr>
        </p:nvSpPr>
        <p:spPr>
          <a:xfrm>
            <a:off x="628650" y="365125"/>
            <a:ext cx="2190750" cy="701675"/>
          </a:xfrm>
          <a:prstGeom prst="rect">
            <a:avLst/>
          </a:prstGeom>
          <a:solidFill>
            <a:srgbClr val="16537F"/>
          </a:solid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3200"/>
              <a:buFont typeface="Calibri"/>
              <a:buNone/>
            </a:pPr>
            <a:r>
              <a:rPr b="1" i="0" lang="en-US" sz="3200" u="none">
                <a:solidFill>
                  <a:schemeClr val="lt1"/>
                </a:solidFill>
                <a:latin typeface="Calibri"/>
                <a:ea typeface="Calibri"/>
                <a:cs typeface="Calibri"/>
                <a:sym typeface="Calibri"/>
              </a:rPr>
              <a:t>Solution 5</a:t>
            </a:r>
            <a:endParaRPr/>
          </a:p>
        </p:txBody>
      </p:sp>
      <p:sp>
        <p:nvSpPr>
          <p:cNvPr id="347" name="Google Shape;347;p30"/>
          <p:cNvSpPr txBox="1"/>
          <p:nvPr/>
        </p:nvSpPr>
        <p:spPr>
          <a:xfrm>
            <a:off x="5943600" y="3389312"/>
            <a:ext cx="22860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27-24 = 3</a:t>
            </a:r>
            <a:endParaRPr/>
          </a:p>
        </p:txBody>
      </p:sp>
      <p:sp>
        <p:nvSpPr>
          <p:cNvPr id="348" name="Google Shape;348;p30"/>
          <p:cNvSpPr txBox="1"/>
          <p:nvPr/>
        </p:nvSpPr>
        <p:spPr>
          <a:xfrm>
            <a:off x="5943600" y="3851275"/>
            <a:ext cx="1219200" cy="5222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2</a:t>
            </a:r>
            <a:r>
              <a:rPr b="1" baseline="30000" i="0" lang="en-US" sz="2800" u="none">
                <a:solidFill>
                  <a:srgbClr val="FF0000"/>
                </a:solidFill>
                <a:latin typeface="Times New Roman"/>
                <a:ea typeface="Times New Roman"/>
                <a:cs typeface="Times New Roman"/>
                <a:sym typeface="Times New Roman"/>
              </a:rPr>
              <a:t>3</a:t>
            </a:r>
            <a:r>
              <a:rPr b="1" i="0" lang="en-US" sz="2800" u="none">
                <a:solidFill>
                  <a:srgbClr val="FF0000"/>
                </a:solidFill>
                <a:latin typeface="Times New Roman"/>
                <a:ea typeface="Times New Roman"/>
                <a:cs typeface="Times New Roman"/>
                <a:sym typeface="Times New Roman"/>
              </a:rPr>
              <a:t> = 8</a:t>
            </a:r>
            <a:endParaRPr/>
          </a:p>
        </p:txBody>
      </p:sp>
      <p:sp>
        <p:nvSpPr>
          <p:cNvPr id="349" name="Google Shape;349;p30"/>
          <p:cNvSpPr txBox="1"/>
          <p:nvPr/>
        </p:nvSpPr>
        <p:spPr>
          <a:xfrm>
            <a:off x="5943600" y="4422775"/>
            <a:ext cx="2743200" cy="8937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2</a:t>
            </a:r>
            <a:r>
              <a:rPr b="1" baseline="30000" i="0" lang="en-US" sz="2800" u="none">
                <a:solidFill>
                  <a:srgbClr val="FF0000"/>
                </a:solidFill>
                <a:latin typeface="Times New Roman"/>
                <a:ea typeface="Times New Roman"/>
                <a:cs typeface="Times New Roman"/>
                <a:sym typeface="Times New Roman"/>
              </a:rPr>
              <a:t>32-27</a:t>
            </a:r>
            <a:r>
              <a:rPr b="1" i="0" lang="en-US" sz="2800" u="none">
                <a:solidFill>
                  <a:srgbClr val="FF0000"/>
                </a:solidFill>
                <a:latin typeface="Times New Roman"/>
                <a:ea typeface="Times New Roman"/>
                <a:cs typeface="Times New Roman"/>
                <a:sym typeface="Times New Roman"/>
              </a:rPr>
              <a:t> =</a:t>
            </a:r>
            <a:r>
              <a:rPr b="1" baseline="30000" i="0" lang="en-US" sz="2800" u="none">
                <a:solidFill>
                  <a:srgbClr val="FF0000"/>
                </a:solidFill>
                <a:latin typeface="Times New Roman"/>
                <a:ea typeface="Times New Roman"/>
                <a:cs typeface="Times New Roman"/>
                <a:sym typeface="Times New Roman"/>
              </a:rPr>
              <a:t> </a:t>
            </a:r>
            <a:r>
              <a:rPr b="1" i="0" lang="en-US" sz="2800" u="none">
                <a:solidFill>
                  <a:srgbClr val="FF0000"/>
                </a:solidFill>
                <a:latin typeface="Times New Roman"/>
                <a:ea typeface="Times New Roman"/>
                <a:cs typeface="Times New Roman"/>
                <a:sym typeface="Times New Roman"/>
              </a:rPr>
              <a:t>2</a:t>
            </a:r>
            <a:r>
              <a:rPr b="1" baseline="30000" i="0" lang="en-US" sz="2800" u="none">
                <a:solidFill>
                  <a:srgbClr val="FF0000"/>
                </a:solidFill>
                <a:latin typeface="Times New Roman"/>
                <a:ea typeface="Times New Roman"/>
                <a:cs typeface="Times New Roman"/>
                <a:sym typeface="Times New Roman"/>
              </a:rPr>
              <a:t>5</a:t>
            </a:r>
            <a:r>
              <a:rPr b="1" i="0" lang="en-US" sz="2800" u="none">
                <a:solidFill>
                  <a:srgbClr val="FF0000"/>
                </a:solidFill>
                <a:latin typeface="Times New Roman"/>
                <a:ea typeface="Times New Roman"/>
                <a:cs typeface="Times New Roman"/>
                <a:sym typeface="Times New Roman"/>
              </a:rPr>
              <a:t> = 32</a:t>
            </a:r>
            <a:endParaRPr b="1" i="0" sz="2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0" sz="2800" u="non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1"/>
          <p:cNvSpPr txBox="1"/>
          <p:nvPr>
            <p:ph idx="1" type="body"/>
          </p:nvPr>
        </p:nvSpPr>
        <p:spPr>
          <a:xfrm>
            <a:off x="628650" y="1828800"/>
            <a:ext cx="798195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Starting Address of 1</a:t>
            </a:r>
            <a:r>
              <a:rPr b="0" baseline="30000" i="0" lang="en-US" sz="2800" u="none">
                <a:solidFill>
                  <a:schemeClr val="dk1"/>
                </a:solidFill>
                <a:latin typeface="Calibri"/>
                <a:ea typeface="Calibri"/>
                <a:cs typeface="Calibri"/>
                <a:sym typeface="Calibri"/>
              </a:rPr>
              <a:t>st</a:t>
            </a:r>
            <a:r>
              <a:rPr b="0" i="0" lang="en-US" sz="2800" u="none">
                <a:solidFill>
                  <a:schemeClr val="dk1"/>
                </a:solidFill>
                <a:latin typeface="Calibri"/>
                <a:ea typeface="Calibri"/>
                <a:cs typeface="Calibri"/>
                <a:sym typeface="Calibri"/>
              </a:rPr>
              <a:t> Subnet =200.50.100.0</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Starting Address of 2</a:t>
            </a:r>
            <a:r>
              <a:rPr b="0" baseline="30000" i="0" lang="en-US" sz="2800" u="none">
                <a:solidFill>
                  <a:schemeClr val="dk1"/>
                </a:solidFill>
                <a:latin typeface="Calibri"/>
                <a:ea typeface="Calibri"/>
                <a:cs typeface="Calibri"/>
                <a:sym typeface="Calibri"/>
              </a:rPr>
              <a:t>nd</a:t>
            </a:r>
            <a:r>
              <a:rPr b="0" i="0" lang="en-US" sz="2800" u="none">
                <a:solidFill>
                  <a:schemeClr val="dk1"/>
                </a:solidFill>
                <a:latin typeface="Calibri"/>
                <a:ea typeface="Calibri"/>
                <a:cs typeface="Calibri"/>
                <a:sym typeface="Calibri"/>
              </a:rPr>
              <a:t> Subnet =200.50.100.32</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Starting Address of 3</a:t>
            </a:r>
            <a:r>
              <a:rPr b="0" baseline="30000" i="0" lang="en-US" sz="2800" u="none">
                <a:solidFill>
                  <a:schemeClr val="dk1"/>
                </a:solidFill>
                <a:latin typeface="Calibri"/>
                <a:ea typeface="Calibri"/>
                <a:cs typeface="Calibri"/>
                <a:sym typeface="Calibri"/>
              </a:rPr>
              <a:t>rd</a:t>
            </a:r>
            <a:r>
              <a:rPr b="0" i="0" lang="en-US" sz="2800" u="none">
                <a:solidFill>
                  <a:schemeClr val="dk1"/>
                </a:solidFill>
                <a:latin typeface="Calibri"/>
                <a:ea typeface="Calibri"/>
                <a:cs typeface="Calibri"/>
                <a:sym typeface="Calibri"/>
              </a:rPr>
              <a:t>  Subnet =200.50.100.64</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Starting Address of 4</a:t>
            </a:r>
            <a:r>
              <a:rPr b="0" baseline="30000" i="0" lang="en-US" sz="2800" u="none">
                <a:solidFill>
                  <a:schemeClr val="dk1"/>
                </a:solidFill>
                <a:latin typeface="Calibri"/>
                <a:ea typeface="Calibri"/>
                <a:cs typeface="Calibri"/>
                <a:sym typeface="Calibri"/>
              </a:rPr>
              <a:t>th</a:t>
            </a:r>
            <a:r>
              <a:rPr b="0" i="0" lang="en-US" sz="2800" u="none">
                <a:solidFill>
                  <a:schemeClr val="dk1"/>
                </a:solidFill>
                <a:latin typeface="Calibri"/>
                <a:ea typeface="Calibri"/>
                <a:cs typeface="Calibri"/>
                <a:sym typeface="Calibri"/>
              </a:rPr>
              <a:t>  Subnet =200.50.100. 96</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Starting Address of 5</a:t>
            </a:r>
            <a:r>
              <a:rPr b="0" baseline="30000" i="0" lang="en-US" sz="2800" u="none">
                <a:solidFill>
                  <a:schemeClr val="dk1"/>
                </a:solidFill>
                <a:latin typeface="Calibri"/>
                <a:ea typeface="Calibri"/>
                <a:cs typeface="Calibri"/>
                <a:sym typeface="Calibri"/>
              </a:rPr>
              <a:t>th</a:t>
            </a:r>
            <a:r>
              <a:rPr b="0" i="0" lang="en-US" sz="2800" u="none">
                <a:solidFill>
                  <a:schemeClr val="dk1"/>
                </a:solidFill>
                <a:latin typeface="Calibri"/>
                <a:ea typeface="Calibri"/>
                <a:cs typeface="Calibri"/>
                <a:sym typeface="Calibri"/>
              </a:rPr>
              <a:t>  Subnet =200.50.100.128</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Starting Address of 6</a:t>
            </a:r>
            <a:r>
              <a:rPr b="0" baseline="30000" i="0" lang="en-US" sz="2800" u="none">
                <a:solidFill>
                  <a:schemeClr val="dk1"/>
                </a:solidFill>
                <a:latin typeface="Calibri"/>
                <a:ea typeface="Calibri"/>
                <a:cs typeface="Calibri"/>
                <a:sym typeface="Calibri"/>
              </a:rPr>
              <a:t>th</a:t>
            </a:r>
            <a:r>
              <a:rPr b="0" i="0" lang="en-US" sz="2800" u="none">
                <a:solidFill>
                  <a:schemeClr val="dk1"/>
                </a:solidFill>
                <a:latin typeface="Calibri"/>
                <a:ea typeface="Calibri"/>
                <a:cs typeface="Calibri"/>
                <a:sym typeface="Calibri"/>
              </a:rPr>
              <a:t> Subnet =200.50.100.160</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Starting Address of 7</a:t>
            </a:r>
            <a:r>
              <a:rPr b="0" baseline="30000" i="0" lang="en-US" sz="2800" u="none">
                <a:solidFill>
                  <a:schemeClr val="dk1"/>
                </a:solidFill>
                <a:latin typeface="Calibri"/>
                <a:ea typeface="Calibri"/>
                <a:cs typeface="Calibri"/>
                <a:sym typeface="Calibri"/>
              </a:rPr>
              <a:t>th</a:t>
            </a:r>
            <a:r>
              <a:rPr b="0" i="0" lang="en-US" sz="2800" u="none">
                <a:solidFill>
                  <a:schemeClr val="dk1"/>
                </a:solidFill>
                <a:latin typeface="Calibri"/>
                <a:ea typeface="Calibri"/>
                <a:cs typeface="Calibri"/>
                <a:sym typeface="Calibri"/>
              </a:rPr>
              <a:t>  Subnet =200.50.100. 192</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Starting Address of 8</a:t>
            </a:r>
            <a:r>
              <a:rPr b="0" baseline="30000" i="0" lang="en-US" sz="2800" u="none">
                <a:solidFill>
                  <a:schemeClr val="dk1"/>
                </a:solidFill>
                <a:latin typeface="Calibri"/>
                <a:ea typeface="Calibri"/>
                <a:cs typeface="Calibri"/>
                <a:sym typeface="Calibri"/>
              </a:rPr>
              <a:t>th</a:t>
            </a:r>
            <a:r>
              <a:rPr b="0" i="0" lang="en-US" sz="2800" u="none">
                <a:solidFill>
                  <a:schemeClr val="dk1"/>
                </a:solidFill>
                <a:latin typeface="Calibri"/>
                <a:ea typeface="Calibri"/>
                <a:cs typeface="Calibri"/>
                <a:sym typeface="Calibri"/>
              </a:rPr>
              <a:t>  Subnet =200.50.100.224</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355" name="Google Shape;355;p31"/>
          <p:cNvSpPr txBox="1"/>
          <p:nvPr>
            <p:ph type="title"/>
          </p:nvPr>
        </p:nvSpPr>
        <p:spPr>
          <a:xfrm>
            <a:off x="628650" y="365125"/>
            <a:ext cx="2190750" cy="701675"/>
          </a:xfrm>
          <a:prstGeom prst="rect">
            <a:avLst/>
          </a:prstGeom>
          <a:solidFill>
            <a:srgbClr val="16537F"/>
          </a:solid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3200"/>
              <a:buFont typeface="Calibri"/>
              <a:buNone/>
            </a:pPr>
            <a:r>
              <a:rPr b="1" i="0" lang="en-US" sz="3200" u="none">
                <a:solidFill>
                  <a:schemeClr val="lt1"/>
                </a:solidFill>
                <a:latin typeface="Calibri"/>
                <a:ea typeface="Calibri"/>
                <a:cs typeface="Calibri"/>
                <a:sym typeface="Calibri"/>
              </a:rPr>
              <a:t>Solution 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2"/>
          <p:cNvSpPr txBox="1"/>
          <p:nvPr>
            <p:ph type="title"/>
          </p:nvPr>
        </p:nvSpPr>
        <p:spPr>
          <a:xfrm>
            <a:off x="628650" y="365125"/>
            <a:ext cx="2190750" cy="701675"/>
          </a:xfrm>
          <a:prstGeom prst="rect">
            <a:avLst/>
          </a:prstGeom>
          <a:solidFill>
            <a:srgbClr val="16537F"/>
          </a:solid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3200"/>
              <a:buFont typeface="Calibri"/>
              <a:buNone/>
            </a:pPr>
            <a:r>
              <a:rPr b="1" i="0" lang="en-US" sz="3200" u="none">
                <a:solidFill>
                  <a:schemeClr val="lt1"/>
                </a:solidFill>
                <a:latin typeface="Calibri"/>
                <a:ea typeface="Calibri"/>
                <a:cs typeface="Calibri"/>
                <a:sym typeface="Calibri"/>
              </a:rPr>
              <a:t>Example 6</a:t>
            </a:r>
            <a:endParaRPr/>
          </a:p>
        </p:txBody>
      </p:sp>
      <p:sp>
        <p:nvSpPr>
          <p:cNvPr id="361" name="Google Shape;361;p32"/>
          <p:cNvSpPr txBox="1"/>
          <p:nvPr>
            <p:ph idx="1" type="body"/>
          </p:nvPr>
        </p:nvSpPr>
        <p:spPr>
          <a:xfrm>
            <a:off x="628650" y="1862137"/>
            <a:ext cx="8134350" cy="20605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Arial"/>
              <a:buNone/>
            </a:pPr>
            <a:r>
              <a:rPr b="0" i="0" lang="en-US" sz="3600" u="none">
                <a:solidFill>
                  <a:schemeClr val="dk1"/>
                </a:solidFill>
                <a:latin typeface="Calibri"/>
                <a:ea typeface="Calibri"/>
                <a:cs typeface="Calibri"/>
                <a:sym typeface="Calibri"/>
              </a:rPr>
              <a:t>IP address given to an organization is 170.50.100.70. After subnetting Number of valid hosts in each subnet are 4094.</a:t>
            </a:r>
            <a:endParaRPr/>
          </a:p>
          <a:p>
            <a:pPr indent="-228600" lvl="1" marL="685800" marR="0" rtl="0" algn="l">
              <a:lnSpc>
                <a:spcPct val="90000"/>
              </a:lnSpc>
              <a:spcBef>
                <a:spcPts val="500"/>
              </a:spcBef>
              <a:spcAft>
                <a:spcPts val="0"/>
              </a:spcAft>
              <a:buClr>
                <a:srgbClr val="FF0000"/>
              </a:buClr>
              <a:buSzPts val="3200"/>
              <a:buFont typeface="Arial"/>
              <a:buChar char="•"/>
            </a:pPr>
            <a:r>
              <a:rPr b="0" i="0" lang="en-US" sz="3200" u="none" cap="none" strike="noStrike">
                <a:solidFill>
                  <a:srgbClr val="FF0000"/>
                </a:solidFill>
                <a:latin typeface="Calibri"/>
                <a:ea typeface="Calibri"/>
                <a:cs typeface="Calibri"/>
                <a:sym typeface="Calibri"/>
              </a:rPr>
              <a:t>Find mask of subnets created.</a:t>
            </a:r>
            <a:endParaRPr/>
          </a:p>
          <a:p>
            <a:pPr indent="-228600" lvl="1" marL="685800" marR="0" rtl="0" algn="l">
              <a:lnSpc>
                <a:spcPct val="90000"/>
              </a:lnSpc>
              <a:spcBef>
                <a:spcPts val="500"/>
              </a:spcBef>
              <a:spcAft>
                <a:spcPts val="0"/>
              </a:spcAft>
              <a:buClr>
                <a:srgbClr val="FF0000"/>
              </a:buClr>
              <a:buSzPts val="3200"/>
              <a:buFont typeface="Arial"/>
              <a:buChar char="•"/>
            </a:pPr>
            <a:r>
              <a:rPr b="0" i="0" lang="en-US" sz="3200" u="none" cap="none" strike="noStrike">
                <a:solidFill>
                  <a:srgbClr val="FF0000"/>
                </a:solidFill>
                <a:latin typeface="Calibri"/>
                <a:ea typeface="Calibri"/>
                <a:cs typeface="Calibri"/>
                <a:sym typeface="Calibri"/>
              </a:rPr>
              <a:t>Find number of subnets and subnet address of each subnet.</a:t>
            </a:r>
            <a:endParaRPr/>
          </a:p>
          <a:p>
            <a:pPr indent="-25400" lvl="0" marL="228600" marR="0" rtl="0" algn="l">
              <a:lnSpc>
                <a:spcPct val="90000"/>
              </a:lnSpc>
              <a:spcBef>
                <a:spcPts val="1000"/>
              </a:spcBef>
              <a:spcAft>
                <a:spcPts val="0"/>
              </a:spcAft>
              <a:buClr>
                <a:schemeClr val="dk1"/>
              </a:buClr>
              <a:buSzPts val="3200"/>
              <a:buFont typeface="Arial"/>
              <a:buNone/>
            </a:pPr>
            <a:r>
              <a:t/>
            </a:r>
            <a:endParaRPr b="0" i="0" sz="3200" u="none" cap="none" strike="noStrike">
              <a:solidFill>
                <a:srgbClr val="FF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5" name="Shape 365"/>
        <p:cNvGrpSpPr/>
        <p:nvPr/>
      </p:nvGrpSpPr>
      <p:grpSpPr>
        <a:xfrm>
          <a:off x="0" y="0"/>
          <a:ext cx="0" cy="0"/>
          <a:chOff x="0" y="0"/>
          <a:chExt cx="0" cy="0"/>
        </a:xfrm>
      </p:grpSpPr>
      <p:pic>
        <p:nvPicPr>
          <p:cNvPr id="366" name="Google Shape;366;p33"/>
          <p:cNvPicPr preferRelativeResize="0"/>
          <p:nvPr/>
        </p:nvPicPr>
        <p:blipFill rotWithShape="1">
          <a:blip r:embed="rId3">
            <a:alphaModFix/>
          </a:blip>
          <a:srcRect b="0" l="0" r="0" t="0"/>
          <a:stretch/>
        </p:blipFill>
        <p:spPr>
          <a:xfrm>
            <a:off x="547687" y="1295400"/>
            <a:ext cx="6837362" cy="4648200"/>
          </a:xfrm>
          <a:prstGeom prst="rect">
            <a:avLst/>
          </a:prstGeom>
          <a:noFill/>
          <a:ln>
            <a:noFill/>
          </a:ln>
        </p:spPr>
      </p:pic>
      <p:sp>
        <p:nvSpPr>
          <p:cNvPr id="367" name="Google Shape;367;p33"/>
          <p:cNvSpPr txBox="1"/>
          <p:nvPr/>
        </p:nvSpPr>
        <p:spPr>
          <a:xfrm>
            <a:off x="2133600" y="95250"/>
            <a:ext cx="48434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Times New Roman"/>
              <a:buNone/>
            </a:pPr>
            <a:r>
              <a:rPr b="1" i="0" lang="en-US" sz="3200" u="none">
                <a:solidFill>
                  <a:schemeClr val="accent2"/>
                </a:solidFill>
                <a:latin typeface="Times New Roman"/>
                <a:ea typeface="Times New Roman"/>
                <a:cs typeface="Times New Roman"/>
                <a:sym typeface="Times New Roman"/>
              </a:rPr>
              <a:t>Variable-length subnetting</a:t>
            </a:r>
            <a:endParaRPr/>
          </a:p>
        </p:txBody>
      </p:sp>
      <p:sp>
        <p:nvSpPr>
          <p:cNvPr id="368" name="Google Shape;368;p33"/>
          <p:cNvSpPr txBox="1"/>
          <p:nvPr/>
        </p:nvSpPr>
        <p:spPr>
          <a:xfrm>
            <a:off x="914400" y="2209800"/>
            <a:ext cx="1524000" cy="646112"/>
          </a:xfrm>
          <a:prstGeom prst="rect">
            <a:avLst/>
          </a:prstGeom>
          <a:solidFill>
            <a:srgbClr val="FFFF00"/>
          </a:solidFill>
          <a:ln cap="flat" cmpd="sng" w="12700">
            <a:solidFill>
              <a:srgbClr val="AFABAB"/>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imes New Roman"/>
              <a:buNone/>
            </a:pPr>
            <a:r>
              <a:rPr b="0" i="0" lang="en-US" sz="1800" u="none">
                <a:solidFill>
                  <a:srgbClr val="000000"/>
                </a:solidFill>
                <a:latin typeface="Times New Roman"/>
                <a:ea typeface="Times New Roman"/>
                <a:cs typeface="Times New Roman"/>
                <a:sym typeface="Times New Roman"/>
              </a:rPr>
              <a:t>Default Mask</a:t>
            </a:r>
            <a:endParaRPr/>
          </a:p>
          <a:p>
            <a:pPr indent="0" lvl="0" marL="0" marR="0" rtl="0" algn="l">
              <a:lnSpc>
                <a:spcPct val="100000"/>
              </a:lnSpc>
              <a:spcBef>
                <a:spcPts val="0"/>
              </a:spcBef>
              <a:spcAft>
                <a:spcPts val="0"/>
              </a:spcAft>
              <a:buClr>
                <a:srgbClr val="000000"/>
              </a:buClr>
              <a:buSzPts val="1800"/>
              <a:buFont typeface="Times New Roman"/>
              <a:buNone/>
            </a:pPr>
            <a:r>
              <a:rPr b="0" i="0" lang="en-US" sz="1800" u="none">
                <a:solidFill>
                  <a:srgbClr val="000000"/>
                </a:solidFill>
                <a:latin typeface="Times New Roman"/>
                <a:ea typeface="Times New Roman"/>
                <a:cs typeface="Times New Roman"/>
                <a:sym typeface="Times New Roman"/>
              </a:rPr>
              <a:t>255.255.255.0 </a:t>
            </a:r>
            <a:endParaRPr/>
          </a:p>
        </p:txBody>
      </p:sp>
      <p:sp>
        <p:nvSpPr>
          <p:cNvPr id="369" name="Google Shape;369;p33"/>
          <p:cNvSpPr/>
          <p:nvPr/>
        </p:nvSpPr>
        <p:spPr>
          <a:xfrm>
            <a:off x="547687" y="2533650"/>
            <a:ext cx="366712" cy="209550"/>
          </a:xfrm>
          <a:prstGeom prst="rightArrow">
            <a:avLst>
              <a:gd fmla="val 15429" name="adj1"/>
              <a:gd fmla="val 50000" name="adj2"/>
            </a:avLst>
          </a:prstGeom>
          <a:solidFill>
            <a:srgbClr val="ED2B9A"/>
          </a:solidFill>
          <a:ln cap="flat" cmpd="sng" w="12700">
            <a:solidFill>
              <a:srgbClr val="12705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3" name="Shape 373"/>
        <p:cNvGrpSpPr/>
        <p:nvPr/>
      </p:nvGrpSpPr>
      <p:grpSpPr>
        <a:xfrm>
          <a:off x="0" y="0"/>
          <a:ext cx="0" cy="0"/>
          <a:chOff x="0" y="0"/>
          <a:chExt cx="0" cy="0"/>
        </a:xfrm>
      </p:grpSpPr>
      <p:sp>
        <p:nvSpPr>
          <p:cNvPr id="374" name="Google Shape;374;p34"/>
          <p:cNvSpPr txBox="1"/>
          <p:nvPr/>
        </p:nvSpPr>
        <p:spPr>
          <a:xfrm>
            <a:off x="609600" y="2895600"/>
            <a:ext cx="8229600"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a:buNone/>
            </a:pPr>
            <a:r>
              <a:rPr b="1" i="0" lang="en-US" sz="4400" u="none">
                <a:solidFill>
                  <a:schemeClr val="dk1"/>
                </a:solidFill>
                <a:latin typeface="Times"/>
                <a:ea typeface="Times"/>
                <a:cs typeface="Times"/>
                <a:sym typeface="Times"/>
              </a:rPr>
              <a:t>CLASSLESS ADDRESSING</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8" name="Shape 378"/>
        <p:cNvGrpSpPr/>
        <p:nvPr/>
      </p:nvGrpSpPr>
      <p:grpSpPr>
        <a:xfrm>
          <a:off x="0" y="0"/>
          <a:ext cx="0" cy="0"/>
          <a:chOff x="0" y="0"/>
          <a:chExt cx="0" cy="0"/>
        </a:xfrm>
      </p:grpSpPr>
      <p:sp>
        <p:nvSpPr>
          <p:cNvPr id="379" name="Google Shape;379;p35"/>
          <p:cNvSpPr txBox="1"/>
          <p:nvPr/>
        </p:nvSpPr>
        <p:spPr>
          <a:xfrm>
            <a:off x="76200" y="0"/>
            <a:ext cx="16144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600"/>
              <a:buFont typeface="Times New Roman"/>
              <a:buNone/>
            </a:pPr>
            <a:r>
              <a:rPr b="1" i="0" lang="en-US" sz="1600" u="none">
                <a:solidFill>
                  <a:schemeClr val="accent2"/>
                </a:solidFill>
                <a:latin typeface="Times New Roman"/>
                <a:ea typeface="Times New Roman"/>
                <a:cs typeface="Times New Roman"/>
                <a:sym typeface="Times New Roman"/>
              </a:rPr>
              <a:t>Figure  5-13</a:t>
            </a:r>
            <a:endParaRPr/>
          </a:p>
        </p:txBody>
      </p:sp>
      <p:pic>
        <p:nvPicPr>
          <p:cNvPr id="380" name="Google Shape;380;p35"/>
          <p:cNvPicPr preferRelativeResize="0"/>
          <p:nvPr/>
        </p:nvPicPr>
        <p:blipFill rotWithShape="1">
          <a:blip r:embed="rId3">
            <a:alphaModFix/>
          </a:blip>
          <a:srcRect b="0" l="0" r="0" t="0"/>
          <a:stretch/>
        </p:blipFill>
        <p:spPr>
          <a:xfrm>
            <a:off x="685800" y="2857500"/>
            <a:ext cx="7440612" cy="912812"/>
          </a:xfrm>
          <a:prstGeom prst="rect">
            <a:avLst/>
          </a:prstGeom>
          <a:noFill/>
          <a:ln>
            <a:noFill/>
          </a:ln>
        </p:spPr>
      </p:pic>
      <p:sp>
        <p:nvSpPr>
          <p:cNvPr id="381" name="Google Shape;381;p35"/>
          <p:cNvSpPr txBox="1"/>
          <p:nvPr/>
        </p:nvSpPr>
        <p:spPr>
          <a:xfrm>
            <a:off x="2354262" y="258762"/>
            <a:ext cx="41227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Times New Roman"/>
              <a:buNone/>
            </a:pPr>
            <a:r>
              <a:rPr b="1" i="0" lang="en-US" sz="3200" u="none">
                <a:solidFill>
                  <a:schemeClr val="accent2"/>
                </a:solidFill>
                <a:latin typeface="Times New Roman"/>
                <a:ea typeface="Times New Roman"/>
                <a:cs typeface="Times New Roman"/>
                <a:sym typeface="Times New Roman"/>
              </a:rPr>
              <a:t>Variable-length blocks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5" name="Shape 385"/>
        <p:cNvGrpSpPr/>
        <p:nvPr/>
      </p:nvGrpSpPr>
      <p:grpSpPr>
        <a:xfrm>
          <a:off x="0" y="0"/>
          <a:ext cx="0" cy="0"/>
          <a:chOff x="0" y="0"/>
          <a:chExt cx="0" cy="0"/>
        </a:xfrm>
      </p:grpSpPr>
      <p:sp>
        <p:nvSpPr>
          <p:cNvPr id="386" name="Google Shape;386;p36"/>
          <p:cNvSpPr txBox="1"/>
          <p:nvPr/>
        </p:nvSpPr>
        <p:spPr>
          <a:xfrm>
            <a:off x="914400" y="2209800"/>
            <a:ext cx="7467600" cy="2370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a:buNone/>
            </a:pPr>
            <a:r>
              <a:rPr b="1" i="1" lang="en-US" sz="3600" u="sng">
                <a:solidFill>
                  <a:srgbClr val="002060"/>
                </a:solidFill>
                <a:latin typeface="Times"/>
                <a:ea typeface="Times"/>
                <a:cs typeface="Times"/>
                <a:sym typeface="Times"/>
              </a:rPr>
              <a:t>Number of Addresses in a Block</a:t>
            </a:r>
            <a:endParaRPr/>
          </a:p>
          <a:p>
            <a:pPr indent="0" lvl="0" marL="0" marR="0" rtl="0" algn="l">
              <a:lnSpc>
                <a:spcPct val="100000"/>
              </a:lnSpc>
              <a:spcBef>
                <a:spcPts val="1600"/>
              </a:spcBef>
              <a:spcAft>
                <a:spcPts val="0"/>
              </a:spcAft>
              <a:buClr>
                <a:srgbClr val="002060"/>
              </a:buClr>
              <a:buSzPts val="3200"/>
              <a:buFont typeface="Times"/>
              <a:buNone/>
            </a:pPr>
            <a:r>
              <a:rPr b="0" i="0" lang="en-US" sz="3200" u="none">
                <a:solidFill>
                  <a:srgbClr val="002060"/>
                </a:solidFill>
                <a:latin typeface="Times"/>
                <a:ea typeface="Times"/>
                <a:cs typeface="Times"/>
                <a:sym typeface="Times"/>
              </a:rPr>
              <a:t>There is only one condition on the number of addresses in a block; it must be a power of 2 (2, 4, 8, . . .).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spTree>
      <p:nvGrpSpPr>
        <p:cNvPr id="390" name="Shape 390"/>
        <p:cNvGrpSpPr/>
        <p:nvPr/>
      </p:nvGrpSpPr>
      <p:grpSpPr>
        <a:xfrm>
          <a:off x="0" y="0"/>
          <a:ext cx="0" cy="0"/>
          <a:chOff x="0" y="0"/>
          <a:chExt cx="0" cy="0"/>
        </a:xfrm>
      </p:grpSpPr>
      <p:sp>
        <p:nvSpPr>
          <p:cNvPr id="391" name="Google Shape;391;p37"/>
          <p:cNvSpPr txBox="1"/>
          <p:nvPr/>
        </p:nvSpPr>
        <p:spPr>
          <a:xfrm>
            <a:off x="533400" y="762000"/>
            <a:ext cx="8229600" cy="5078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a:buNone/>
            </a:pPr>
            <a:r>
              <a:rPr b="1" i="1" lang="en-US" sz="3600" u="sng">
                <a:solidFill>
                  <a:srgbClr val="002060"/>
                </a:solidFill>
                <a:latin typeface="Times"/>
                <a:ea typeface="Times"/>
                <a:cs typeface="Times"/>
                <a:sym typeface="Times"/>
              </a:rPr>
              <a:t>Beginning Address</a:t>
            </a:r>
            <a:endParaRPr/>
          </a:p>
          <a:p>
            <a:pPr indent="0" lvl="0" marL="0" marR="0" rtl="0" algn="l">
              <a:lnSpc>
                <a:spcPct val="100000"/>
              </a:lnSpc>
              <a:spcBef>
                <a:spcPts val="1600"/>
              </a:spcBef>
              <a:spcAft>
                <a:spcPts val="0"/>
              </a:spcAft>
              <a:buClr>
                <a:srgbClr val="002060"/>
              </a:buClr>
              <a:buSzPts val="3200"/>
              <a:buFont typeface="Times"/>
              <a:buNone/>
            </a:pPr>
            <a:r>
              <a:rPr b="0" i="0" lang="en-US" sz="3200" u="none">
                <a:solidFill>
                  <a:srgbClr val="002060"/>
                </a:solidFill>
                <a:latin typeface="Times"/>
                <a:ea typeface="Times"/>
                <a:cs typeface="Times"/>
                <a:sym typeface="Times"/>
              </a:rPr>
              <a:t>The beginning address must be evenly divisible by the number of addresses. For example, if a block contains 4 addresses, the beginning address must be divisible by 4. </a:t>
            </a:r>
            <a:endParaRPr/>
          </a:p>
          <a:p>
            <a:pPr indent="0" lvl="0" marL="0" marR="0" rtl="0" algn="l">
              <a:lnSpc>
                <a:spcPct val="100000"/>
              </a:lnSpc>
              <a:spcBef>
                <a:spcPts val="1600"/>
              </a:spcBef>
              <a:spcAft>
                <a:spcPts val="0"/>
              </a:spcAft>
              <a:buClr>
                <a:srgbClr val="002060"/>
              </a:buClr>
              <a:buSzPts val="3200"/>
              <a:buFont typeface="Times"/>
              <a:buNone/>
            </a:pPr>
            <a:r>
              <a:rPr b="0" i="0" lang="en-US" sz="3200" u="none">
                <a:solidFill>
                  <a:srgbClr val="002060"/>
                </a:solidFill>
                <a:latin typeface="Times"/>
                <a:ea typeface="Times"/>
                <a:cs typeface="Times"/>
                <a:sym typeface="Times"/>
              </a:rPr>
              <a:t>If the block has less than 256 addresses, we need to check only the rightmost byte. If it has less than 65,536 addresses, we need to check only the two rightmost bytes, and so on.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bg>
      <p:bgPr>
        <a:solidFill>
          <a:schemeClr val="dk1"/>
        </a:solidFill>
      </p:bgPr>
    </p:bg>
    <p:spTree>
      <p:nvGrpSpPr>
        <p:cNvPr id="395" name="Shape 395"/>
        <p:cNvGrpSpPr/>
        <p:nvPr/>
      </p:nvGrpSpPr>
      <p:grpSpPr>
        <a:xfrm>
          <a:off x="0" y="0"/>
          <a:ext cx="0" cy="0"/>
          <a:chOff x="0" y="0"/>
          <a:chExt cx="0" cy="0"/>
        </a:xfrm>
      </p:grpSpPr>
      <p:sp>
        <p:nvSpPr>
          <p:cNvPr id="396" name="Google Shape;396;p38"/>
          <p:cNvSpPr txBox="1"/>
          <p:nvPr/>
        </p:nvSpPr>
        <p:spPr>
          <a:xfrm>
            <a:off x="144462" y="76200"/>
            <a:ext cx="211931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Example 9 </a:t>
            </a:r>
            <a:endParaRPr/>
          </a:p>
        </p:txBody>
      </p:sp>
      <p:sp>
        <p:nvSpPr>
          <p:cNvPr id="397" name="Google Shape;397;p38"/>
          <p:cNvSpPr txBox="1"/>
          <p:nvPr/>
        </p:nvSpPr>
        <p:spPr>
          <a:xfrm>
            <a:off x="457200" y="838200"/>
            <a:ext cx="8458200" cy="28686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Which of the following can be the beginning address of a block that contains 16 addresses?</a:t>
            </a:r>
            <a:endParaRPr/>
          </a:p>
          <a:p>
            <a:pPr indent="0" lvl="0" marL="0" marR="0" rtl="0" algn="just">
              <a:lnSpc>
                <a:spcPct val="100000"/>
              </a:lnSpc>
              <a:spcBef>
                <a:spcPts val="140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205.16.37.32</a:t>
            </a:r>
            <a:br>
              <a:rPr b="0" i="0" lang="en-US" sz="2800" u="none">
                <a:solidFill>
                  <a:srgbClr val="002060"/>
                </a:solidFill>
                <a:latin typeface="Times"/>
                <a:ea typeface="Times"/>
                <a:cs typeface="Times"/>
                <a:sym typeface="Times"/>
              </a:rPr>
            </a:br>
            <a:r>
              <a:rPr b="0" i="0" lang="en-US" sz="2800" u="none">
                <a:solidFill>
                  <a:srgbClr val="002060"/>
                </a:solidFill>
                <a:latin typeface="Times"/>
                <a:ea typeface="Times"/>
                <a:cs typeface="Times"/>
                <a:sym typeface="Times"/>
              </a:rPr>
              <a:t>190.16.42.44</a:t>
            </a:r>
            <a:br>
              <a:rPr b="0" i="0" lang="en-US" sz="2800" u="none">
                <a:solidFill>
                  <a:srgbClr val="002060"/>
                </a:solidFill>
                <a:latin typeface="Times"/>
                <a:ea typeface="Times"/>
                <a:cs typeface="Times"/>
                <a:sym typeface="Times"/>
              </a:rPr>
            </a:br>
            <a:r>
              <a:rPr b="0" i="0" lang="en-US" sz="2800" u="none">
                <a:solidFill>
                  <a:srgbClr val="002060"/>
                </a:solidFill>
                <a:latin typeface="Times"/>
                <a:ea typeface="Times"/>
                <a:cs typeface="Times"/>
                <a:sym typeface="Times"/>
              </a:rPr>
              <a:t>17.17.33.80</a:t>
            </a:r>
            <a:br>
              <a:rPr b="0" i="0" lang="en-US" sz="2800" u="none">
                <a:solidFill>
                  <a:srgbClr val="002060"/>
                </a:solidFill>
                <a:latin typeface="Times"/>
                <a:ea typeface="Times"/>
                <a:cs typeface="Times"/>
                <a:sym typeface="Times"/>
              </a:rPr>
            </a:br>
            <a:r>
              <a:rPr b="0" i="0" lang="en-US" sz="2800" u="none">
                <a:solidFill>
                  <a:srgbClr val="002060"/>
                </a:solidFill>
                <a:latin typeface="Times"/>
                <a:ea typeface="Times"/>
                <a:cs typeface="Times"/>
                <a:sym typeface="Times"/>
              </a:rPr>
              <a:t>                                    123.45.24.52</a:t>
            </a:r>
            <a:endParaRPr/>
          </a:p>
        </p:txBody>
      </p:sp>
      <p:sp>
        <p:nvSpPr>
          <p:cNvPr id="398" name="Google Shape;398;p38"/>
          <p:cNvSpPr txBox="1"/>
          <p:nvPr/>
        </p:nvSpPr>
        <p:spPr>
          <a:xfrm>
            <a:off x="228600" y="3810000"/>
            <a:ext cx="164306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a:t>
            </a:r>
            <a:endParaRPr/>
          </a:p>
        </p:txBody>
      </p:sp>
      <p:sp>
        <p:nvSpPr>
          <p:cNvPr id="399" name="Google Shape;399;p38"/>
          <p:cNvSpPr txBox="1"/>
          <p:nvPr/>
        </p:nvSpPr>
        <p:spPr>
          <a:xfrm>
            <a:off x="304800" y="4648200"/>
            <a:ext cx="8610600" cy="15541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The address 205.16.37.32 is eligible because 32 is divisible by 16. The address 17.17.33.80 is eligible because 80 is divisible by 16.</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bg>
      <p:bgPr>
        <a:solidFill>
          <a:schemeClr val="dk1"/>
        </a:solidFill>
      </p:bgPr>
    </p:bg>
    <p:spTree>
      <p:nvGrpSpPr>
        <p:cNvPr id="403" name="Shape 403"/>
        <p:cNvGrpSpPr/>
        <p:nvPr/>
      </p:nvGrpSpPr>
      <p:grpSpPr>
        <a:xfrm>
          <a:off x="0" y="0"/>
          <a:ext cx="0" cy="0"/>
          <a:chOff x="0" y="0"/>
          <a:chExt cx="0" cy="0"/>
        </a:xfrm>
      </p:grpSpPr>
      <p:sp>
        <p:nvSpPr>
          <p:cNvPr id="404" name="Google Shape;404;p39"/>
          <p:cNvSpPr txBox="1"/>
          <p:nvPr/>
        </p:nvSpPr>
        <p:spPr>
          <a:xfrm>
            <a:off x="144462" y="76200"/>
            <a:ext cx="232251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Example 10 </a:t>
            </a:r>
            <a:endParaRPr/>
          </a:p>
        </p:txBody>
      </p:sp>
      <p:sp>
        <p:nvSpPr>
          <p:cNvPr id="405" name="Google Shape;405;p39"/>
          <p:cNvSpPr txBox="1"/>
          <p:nvPr/>
        </p:nvSpPr>
        <p:spPr>
          <a:xfrm>
            <a:off x="457200" y="838200"/>
            <a:ext cx="8458200" cy="28686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Which of the following can be the beginning address of a block that contains 1024 addresses?</a:t>
            </a:r>
            <a:endParaRPr/>
          </a:p>
          <a:p>
            <a:pPr indent="0" lvl="0" marL="0" marR="0" rtl="0" algn="just">
              <a:lnSpc>
                <a:spcPct val="100000"/>
              </a:lnSpc>
              <a:spcBef>
                <a:spcPts val="140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205.16.37.32</a:t>
            </a:r>
            <a:br>
              <a:rPr b="0" i="0" lang="en-US" sz="2800" u="none">
                <a:solidFill>
                  <a:srgbClr val="002060"/>
                </a:solidFill>
                <a:latin typeface="Times"/>
                <a:ea typeface="Times"/>
                <a:cs typeface="Times"/>
                <a:sym typeface="Times"/>
              </a:rPr>
            </a:br>
            <a:r>
              <a:rPr b="0" i="0" lang="en-US" sz="2800" u="none">
                <a:solidFill>
                  <a:srgbClr val="002060"/>
                </a:solidFill>
                <a:latin typeface="Times"/>
                <a:ea typeface="Times"/>
                <a:cs typeface="Times"/>
                <a:sym typeface="Times"/>
              </a:rPr>
              <a:t>190.16.42.0</a:t>
            </a:r>
            <a:br>
              <a:rPr b="0" i="0" lang="en-US" sz="2800" u="none">
                <a:solidFill>
                  <a:srgbClr val="002060"/>
                </a:solidFill>
                <a:latin typeface="Times"/>
                <a:ea typeface="Times"/>
                <a:cs typeface="Times"/>
                <a:sym typeface="Times"/>
              </a:rPr>
            </a:br>
            <a:r>
              <a:rPr b="0" i="0" lang="en-US" sz="2800" u="none">
                <a:solidFill>
                  <a:srgbClr val="002060"/>
                </a:solidFill>
                <a:latin typeface="Times"/>
                <a:ea typeface="Times"/>
                <a:cs typeface="Times"/>
                <a:sym typeface="Times"/>
              </a:rPr>
              <a:t>17.17.32.0</a:t>
            </a:r>
            <a:br>
              <a:rPr b="0" i="0" lang="en-US" sz="2800" u="none">
                <a:solidFill>
                  <a:srgbClr val="002060"/>
                </a:solidFill>
                <a:latin typeface="Times"/>
                <a:ea typeface="Times"/>
                <a:cs typeface="Times"/>
                <a:sym typeface="Times"/>
              </a:rPr>
            </a:br>
            <a:r>
              <a:rPr b="0" i="0" lang="en-US" sz="2800" u="none">
                <a:solidFill>
                  <a:srgbClr val="002060"/>
                </a:solidFill>
                <a:latin typeface="Times"/>
                <a:ea typeface="Times"/>
                <a:cs typeface="Times"/>
                <a:sym typeface="Times"/>
              </a:rPr>
              <a:t>                                    123.45.24.52</a:t>
            </a:r>
            <a:endParaRPr/>
          </a:p>
        </p:txBody>
      </p:sp>
      <p:sp>
        <p:nvSpPr>
          <p:cNvPr id="406" name="Google Shape;406;p39"/>
          <p:cNvSpPr txBox="1"/>
          <p:nvPr/>
        </p:nvSpPr>
        <p:spPr>
          <a:xfrm>
            <a:off x="228600" y="3954462"/>
            <a:ext cx="164306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a:t>
            </a:r>
            <a:endParaRPr/>
          </a:p>
        </p:txBody>
      </p:sp>
      <p:sp>
        <p:nvSpPr>
          <p:cNvPr id="407" name="Google Shape;407;p39"/>
          <p:cNvSpPr txBox="1"/>
          <p:nvPr/>
        </p:nvSpPr>
        <p:spPr>
          <a:xfrm>
            <a:off x="304800" y="4648200"/>
            <a:ext cx="8610600" cy="20415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To be divisible by 1024, the rightmost byte of an address should be 0 and the second rightmost byte must be divisible by 4. Only the address 17.17.32.0 meets this condition.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1" name="Shape 411"/>
        <p:cNvGrpSpPr/>
        <p:nvPr/>
      </p:nvGrpSpPr>
      <p:grpSpPr>
        <a:xfrm>
          <a:off x="0" y="0"/>
          <a:ext cx="0" cy="0"/>
          <a:chOff x="0" y="0"/>
          <a:chExt cx="0" cy="0"/>
        </a:xfrm>
      </p:grpSpPr>
      <p:pic>
        <p:nvPicPr>
          <p:cNvPr id="412" name="Google Shape;412;p40"/>
          <p:cNvPicPr preferRelativeResize="0"/>
          <p:nvPr/>
        </p:nvPicPr>
        <p:blipFill rotWithShape="1">
          <a:blip r:embed="rId3">
            <a:alphaModFix/>
          </a:blip>
          <a:srcRect b="0" l="0" r="0" t="0"/>
          <a:stretch/>
        </p:blipFill>
        <p:spPr>
          <a:xfrm>
            <a:off x="2306637" y="2924175"/>
            <a:ext cx="4856162" cy="1008062"/>
          </a:xfrm>
          <a:prstGeom prst="rect">
            <a:avLst/>
          </a:prstGeom>
          <a:noFill/>
          <a:ln>
            <a:noFill/>
          </a:ln>
        </p:spPr>
      </p:pic>
      <p:sp>
        <p:nvSpPr>
          <p:cNvPr id="413" name="Google Shape;413;p40"/>
          <p:cNvSpPr txBox="1"/>
          <p:nvPr/>
        </p:nvSpPr>
        <p:spPr>
          <a:xfrm>
            <a:off x="1676400" y="1371600"/>
            <a:ext cx="587375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Times New Roman"/>
              <a:buNone/>
            </a:pPr>
            <a:r>
              <a:rPr b="1" i="0" lang="en-US" sz="3200" u="none">
                <a:solidFill>
                  <a:schemeClr val="accent2"/>
                </a:solidFill>
                <a:latin typeface="Times New Roman"/>
                <a:ea typeface="Times New Roman"/>
                <a:cs typeface="Times New Roman"/>
                <a:sym typeface="Times New Roman"/>
              </a:rPr>
              <a:t>Slash notation or CIDR notation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7" name="Shape 417"/>
        <p:cNvGrpSpPr/>
        <p:nvPr/>
      </p:nvGrpSpPr>
      <p:grpSpPr>
        <a:xfrm>
          <a:off x="0" y="0"/>
          <a:ext cx="0" cy="0"/>
          <a:chOff x="0" y="0"/>
          <a:chExt cx="0" cy="0"/>
        </a:xfrm>
      </p:grpSpPr>
      <p:sp>
        <p:nvSpPr>
          <p:cNvPr id="418" name="Google Shape;418;p41"/>
          <p:cNvSpPr txBox="1"/>
          <p:nvPr/>
        </p:nvSpPr>
        <p:spPr>
          <a:xfrm>
            <a:off x="762000" y="2195512"/>
            <a:ext cx="7467600" cy="1797050"/>
          </a:xfrm>
          <a:prstGeom prst="rect">
            <a:avLst/>
          </a:prstGeom>
          <a:noFill/>
          <a:ln cap="flat" cmpd="sng" w="5715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a:buNone/>
            </a:pPr>
            <a:r>
              <a:rPr b="1" i="1" lang="en-US" sz="3600" u="none">
                <a:solidFill>
                  <a:schemeClr val="dk1"/>
                </a:solidFill>
                <a:latin typeface="Times"/>
                <a:ea typeface="Times"/>
                <a:cs typeface="Times"/>
                <a:sym typeface="Times"/>
              </a:rPr>
              <a:t>Slash notation is also called </a:t>
            </a:r>
            <a:br>
              <a:rPr b="1" i="1" lang="en-US" sz="3600" u="none">
                <a:solidFill>
                  <a:schemeClr val="dk1"/>
                </a:solidFill>
                <a:latin typeface="Times"/>
                <a:ea typeface="Times"/>
                <a:cs typeface="Times"/>
                <a:sym typeface="Times"/>
              </a:rPr>
            </a:br>
            <a:r>
              <a:rPr b="1" i="1" lang="en-US" sz="3600" u="none">
                <a:solidFill>
                  <a:srgbClr val="FF3300"/>
                </a:solidFill>
                <a:latin typeface="Times"/>
                <a:ea typeface="Times"/>
                <a:cs typeface="Times"/>
                <a:sym typeface="Times"/>
              </a:rPr>
              <a:t>CIDR</a:t>
            </a:r>
            <a:r>
              <a:rPr b="1" i="1" lang="en-US" sz="3600" u="none">
                <a:solidFill>
                  <a:schemeClr val="dk1"/>
                </a:solidFill>
                <a:latin typeface="Times"/>
                <a:ea typeface="Times"/>
                <a:cs typeface="Times"/>
                <a:sym typeface="Times"/>
              </a:rPr>
              <a:t> </a:t>
            </a:r>
            <a:br>
              <a:rPr b="1" i="1" lang="en-US" sz="3600" u="none">
                <a:solidFill>
                  <a:schemeClr val="dk1"/>
                </a:solidFill>
                <a:latin typeface="Times"/>
                <a:ea typeface="Times"/>
                <a:cs typeface="Times"/>
                <a:sym typeface="Times"/>
              </a:rPr>
            </a:br>
            <a:r>
              <a:rPr b="1" i="1" lang="en-US" sz="3600" u="none">
                <a:solidFill>
                  <a:schemeClr val="dk1"/>
                </a:solidFill>
                <a:latin typeface="Times"/>
                <a:ea typeface="Times"/>
                <a:cs typeface="Times"/>
                <a:sym typeface="Times"/>
              </a:rPr>
              <a:t>notation.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422" name="Shape 422"/>
        <p:cNvGrpSpPr/>
        <p:nvPr/>
      </p:nvGrpSpPr>
      <p:grpSpPr>
        <a:xfrm>
          <a:off x="0" y="0"/>
          <a:ext cx="0" cy="0"/>
          <a:chOff x="0" y="0"/>
          <a:chExt cx="0" cy="0"/>
        </a:xfrm>
      </p:grpSpPr>
      <p:sp>
        <p:nvSpPr>
          <p:cNvPr id="423" name="Google Shape;423;p42"/>
          <p:cNvSpPr txBox="1"/>
          <p:nvPr/>
        </p:nvSpPr>
        <p:spPr>
          <a:xfrm>
            <a:off x="144462" y="76200"/>
            <a:ext cx="232251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Example 11 </a:t>
            </a:r>
            <a:endParaRPr/>
          </a:p>
        </p:txBody>
      </p:sp>
      <p:sp>
        <p:nvSpPr>
          <p:cNvPr id="424" name="Google Shape;424;p42"/>
          <p:cNvSpPr txBox="1"/>
          <p:nvPr/>
        </p:nvSpPr>
        <p:spPr>
          <a:xfrm>
            <a:off x="457200" y="838200"/>
            <a:ext cx="84582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A small organization is given a block with the beginning address and the prefix length </a:t>
            </a:r>
            <a:r>
              <a:rPr b="1" i="0" lang="en-US" sz="2800" u="none">
                <a:solidFill>
                  <a:srgbClr val="002060"/>
                </a:solidFill>
                <a:latin typeface="Times"/>
                <a:ea typeface="Times"/>
                <a:cs typeface="Times"/>
                <a:sym typeface="Times"/>
              </a:rPr>
              <a:t>205.16.37.24/29</a:t>
            </a:r>
            <a:r>
              <a:rPr b="0" i="0" lang="en-US" sz="2800" u="none">
                <a:solidFill>
                  <a:srgbClr val="002060"/>
                </a:solidFill>
                <a:latin typeface="Times"/>
                <a:ea typeface="Times"/>
                <a:cs typeface="Times"/>
                <a:sym typeface="Times"/>
              </a:rPr>
              <a:t> (in slash notation). What is the range of the block? </a:t>
            </a:r>
            <a:endParaRPr/>
          </a:p>
        </p:txBody>
      </p:sp>
      <p:sp>
        <p:nvSpPr>
          <p:cNvPr id="425" name="Google Shape;425;p42"/>
          <p:cNvSpPr txBox="1"/>
          <p:nvPr/>
        </p:nvSpPr>
        <p:spPr>
          <a:xfrm>
            <a:off x="228600" y="2362200"/>
            <a:ext cx="164306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a:t>
            </a:r>
            <a:endParaRPr/>
          </a:p>
        </p:txBody>
      </p:sp>
      <p:sp>
        <p:nvSpPr>
          <p:cNvPr id="426" name="Google Shape;426;p42"/>
          <p:cNvSpPr txBox="1"/>
          <p:nvPr/>
        </p:nvSpPr>
        <p:spPr>
          <a:xfrm>
            <a:off x="304800" y="3048000"/>
            <a:ext cx="8610600" cy="30384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The beginning address is 205.16.37.24. To find the last address we keep the first 29 bits and change the last 3 bits to 1s.</a:t>
            </a:r>
            <a:endParaRPr/>
          </a:p>
          <a:p>
            <a:pPr indent="0" lvl="0" marL="0" marR="0" rtl="0" algn="ctr">
              <a:lnSpc>
                <a:spcPct val="100000"/>
              </a:lnSpc>
              <a:spcBef>
                <a:spcPts val="700"/>
              </a:spcBef>
              <a:spcAft>
                <a:spcPts val="0"/>
              </a:spcAft>
              <a:buClr>
                <a:schemeClr val="lt2"/>
              </a:buClr>
              <a:buSzPts val="2800"/>
              <a:buFont typeface="Times"/>
              <a:buNone/>
            </a:pPr>
            <a:r>
              <a:rPr b="0" i="0" lang="en-US" sz="2800" u="none">
                <a:solidFill>
                  <a:schemeClr val="lt2"/>
                </a:solidFill>
                <a:latin typeface="Times"/>
                <a:ea typeface="Times"/>
                <a:cs typeface="Times"/>
                <a:sym typeface="Times"/>
              </a:rPr>
              <a:t>Beginning:</a:t>
            </a:r>
            <a:r>
              <a:rPr b="1" i="0" lang="en-US" sz="2800" u="sng">
                <a:solidFill>
                  <a:schemeClr val="lt2"/>
                </a:solidFill>
                <a:latin typeface="Times"/>
                <a:ea typeface="Times"/>
                <a:cs typeface="Times"/>
                <a:sym typeface="Times"/>
              </a:rPr>
              <a:t>11001111  00010000  00100101  00011</a:t>
            </a:r>
            <a:r>
              <a:rPr b="0" i="0" lang="en-US" sz="2800" u="none">
                <a:solidFill>
                  <a:srgbClr val="000000"/>
                </a:solidFill>
                <a:latin typeface="Times"/>
                <a:ea typeface="Times"/>
                <a:cs typeface="Times"/>
                <a:sym typeface="Times"/>
              </a:rPr>
              <a:t>000</a:t>
            </a:r>
            <a:endParaRPr/>
          </a:p>
          <a:p>
            <a:pPr indent="0" lvl="0" marL="0" marR="0" rtl="0" algn="ctr">
              <a:lnSpc>
                <a:spcPct val="100000"/>
              </a:lnSpc>
              <a:spcBef>
                <a:spcPts val="100"/>
              </a:spcBef>
              <a:spcAft>
                <a:spcPts val="0"/>
              </a:spcAft>
              <a:buClr>
                <a:srgbClr val="000000"/>
              </a:buClr>
              <a:buSzPts val="2800"/>
              <a:buFont typeface="Times"/>
              <a:buNone/>
            </a:pPr>
            <a:r>
              <a:rPr b="0" i="0" lang="en-US" sz="2800" u="none">
                <a:solidFill>
                  <a:srgbClr val="000000"/>
                </a:solidFill>
                <a:latin typeface="Times"/>
                <a:ea typeface="Times"/>
                <a:cs typeface="Times"/>
                <a:sym typeface="Times"/>
              </a:rPr>
              <a:t>Ending     : </a:t>
            </a:r>
            <a:r>
              <a:rPr b="1" i="0" lang="en-US" sz="2800" u="sng">
                <a:solidFill>
                  <a:schemeClr val="lt2"/>
                </a:solidFill>
                <a:latin typeface="Times"/>
                <a:ea typeface="Times"/>
                <a:cs typeface="Times"/>
                <a:sym typeface="Times"/>
              </a:rPr>
              <a:t>11001111  00010000  00100101  00011</a:t>
            </a:r>
            <a:r>
              <a:rPr b="0" i="0" lang="en-US" sz="2800" u="none">
                <a:solidFill>
                  <a:srgbClr val="000000"/>
                </a:solidFill>
                <a:latin typeface="Times"/>
                <a:ea typeface="Times"/>
                <a:cs typeface="Times"/>
                <a:sym typeface="Times"/>
              </a:rPr>
              <a:t>111</a:t>
            </a:r>
            <a:endParaRPr/>
          </a:p>
          <a:p>
            <a:pPr indent="0" lvl="0" marL="0" marR="0" rtl="0" algn="ctr">
              <a:lnSpc>
                <a:spcPct val="100000"/>
              </a:lnSpc>
              <a:spcBef>
                <a:spcPts val="800"/>
              </a:spcBef>
              <a:spcAft>
                <a:spcPts val="0"/>
              </a:spcAft>
              <a:buClr>
                <a:srgbClr val="000000"/>
              </a:buClr>
              <a:buSzPts val="2800"/>
              <a:buFont typeface="Times"/>
              <a:buNone/>
            </a:pPr>
            <a:r>
              <a:rPr b="0" i="0" lang="en-US" sz="2800" u="none">
                <a:solidFill>
                  <a:srgbClr val="000000"/>
                </a:solidFill>
                <a:latin typeface="Times"/>
                <a:ea typeface="Times"/>
                <a:cs typeface="Times"/>
                <a:sym typeface="Times"/>
              </a:rPr>
              <a:t> There are only 8 addresses in this block.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430" name="Shape 430"/>
        <p:cNvGrpSpPr/>
        <p:nvPr/>
      </p:nvGrpSpPr>
      <p:grpSpPr>
        <a:xfrm>
          <a:off x="0" y="0"/>
          <a:ext cx="0" cy="0"/>
          <a:chOff x="0" y="0"/>
          <a:chExt cx="0" cy="0"/>
        </a:xfrm>
      </p:grpSpPr>
      <p:sp>
        <p:nvSpPr>
          <p:cNvPr id="431" name="Google Shape;431;p43"/>
          <p:cNvSpPr txBox="1"/>
          <p:nvPr/>
        </p:nvSpPr>
        <p:spPr>
          <a:xfrm>
            <a:off x="144462" y="76200"/>
            <a:ext cx="232251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Example 12 </a:t>
            </a:r>
            <a:endParaRPr/>
          </a:p>
        </p:txBody>
      </p:sp>
      <p:sp>
        <p:nvSpPr>
          <p:cNvPr id="432" name="Google Shape;432;p43"/>
          <p:cNvSpPr txBox="1"/>
          <p:nvPr/>
        </p:nvSpPr>
        <p:spPr>
          <a:xfrm>
            <a:off x="457200" y="838200"/>
            <a:ext cx="8458200" cy="28686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We can find the range of addresses in Example 11 by another method. We can argue that the length of the suffix is 32 </a:t>
            </a:r>
            <a:r>
              <a:rPr b="0" i="0" lang="en-US" sz="2800" u="none">
                <a:solidFill>
                  <a:srgbClr val="002060"/>
                </a:solidFill>
                <a:latin typeface="Noto Sans Symbols"/>
                <a:ea typeface="Noto Sans Symbols"/>
                <a:cs typeface="Noto Sans Symbols"/>
                <a:sym typeface="Noto Sans Symbols"/>
              </a:rPr>
              <a:t>−</a:t>
            </a:r>
            <a:r>
              <a:rPr b="0" i="0" lang="en-US" sz="2800" u="none">
                <a:solidFill>
                  <a:srgbClr val="002060"/>
                </a:solidFill>
                <a:latin typeface="Times"/>
                <a:ea typeface="Times"/>
                <a:cs typeface="Times"/>
                <a:sym typeface="Times"/>
              </a:rPr>
              <a:t> 29 or 3. So there are 2</a:t>
            </a:r>
            <a:r>
              <a:rPr b="0" baseline="30000" i="0" lang="en-US" sz="2800" u="none">
                <a:solidFill>
                  <a:srgbClr val="002060"/>
                </a:solidFill>
                <a:latin typeface="Times"/>
                <a:ea typeface="Times"/>
                <a:cs typeface="Times"/>
                <a:sym typeface="Times"/>
              </a:rPr>
              <a:t>3</a:t>
            </a:r>
            <a:r>
              <a:rPr b="0" i="0" lang="en-US" sz="2800" u="none">
                <a:solidFill>
                  <a:srgbClr val="002060"/>
                </a:solidFill>
                <a:latin typeface="Times"/>
                <a:ea typeface="Times"/>
                <a:cs typeface="Times"/>
                <a:sym typeface="Times"/>
              </a:rPr>
              <a:t> </a:t>
            </a:r>
            <a:r>
              <a:rPr b="0" i="0" lang="en-US" sz="2800" u="none">
                <a:solidFill>
                  <a:srgbClr val="002060"/>
                </a:solidFill>
                <a:latin typeface="Noto Sans Symbols"/>
                <a:ea typeface="Noto Sans Symbols"/>
                <a:cs typeface="Noto Sans Symbols"/>
                <a:sym typeface="Noto Sans Symbols"/>
              </a:rPr>
              <a:t>=</a:t>
            </a:r>
            <a:r>
              <a:rPr b="0" i="0" lang="en-US" sz="2800" u="none">
                <a:solidFill>
                  <a:srgbClr val="002060"/>
                </a:solidFill>
                <a:latin typeface="Times"/>
                <a:ea typeface="Times"/>
                <a:cs typeface="Times"/>
                <a:sym typeface="Times"/>
              </a:rPr>
              <a:t> 8 addresses in this block. If the first address is 205.16.37.24, the last address is 205.16.37.31 (24 </a:t>
            </a:r>
            <a:r>
              <a:rPr b="0" i="0" lang="en-US" sz="2800" u="none">
                <a:solidFill>
                  <a:srgbClr val="002060"/>
                </a:solidFill>
                <a:latin typeface="Noto Sans Symbols"/>
                <a:ea typeface="Noto Sans Symbols"/>
                <a:cs typeface="Noto Sans Symbols"/>
                <a:sym typeface="Noto Sans Symbols"/>
              </a:rPr>
              <a:t>+</a:t>
            </a:r>
            <a:r>
              <a:rPr b="0" i="0" lang="en-US" sz="2800" u="none">
                <a:solidFill>
                  <a:srgbClr val="002060"/>
                </a:solidFill>
                <a:latin typeface="Times"/>
                <a:ea typeface="Times"/>
                <a:cs typeface="Times"/>
                <a:sym typeface="Times"/>
              </a:rPr>
              <a:t> 7 </a:t>
            </a:r>
            <a:r>
              <a:rPr b="0" i="0" lang="en-US" sz="2800" u="none">
                <a:solidFill>
                  <a:srgbClr val="002060"/>
                </a:solidFill>
                <a:latin typeface="Noto Sans Symbols"/>
                <a:ea typeface="Noto Sans Symbols"/>
                <a:cs typeface="Noto Sans Symbols"/>
                <a:sym typeface="Noto Sans Symbols"/>
              </a:rPr>
              <a:t>=</a:t>
            </a:r>
            <a:r>
              <a:rPr b="0" i="0" lang="en-US" sz="2800" u="none">
                <a:solidFill>
                  <a:srgbClr val="002060"/>
                </a:solidFill>
                <a:latin typeface="Times"/>
                <a:ea typeface="Times"/>
                <a:cs typeface="Times"/>
                <a:sym typeface="Times"/>
              </a:rPr>
              <a:t> 31). </a:t>
            </a:r>
            <a:endParaRPr/>
          </a:p>
          <a:p>
            <a:pPr indent="0" lvl="0" marL="0" marR="0" rtl="0" algn="l">
              <a:lnSpc>
                <a:spcPct val="100000"/>
              </a:lnSpc>
              <a:spcBef>
                <a:spcPts val="0"/>
              </a:spcBef>
              <a:spcAft>
                <a:spcPts val="0"/>
              </a:spcAft>
              <a:buNone/>
            </a:pPr>
            <a:r>
              <a:t/>
            </a:r>
            <a:endParaRPr b="0" i="0" sz="2800" u="none">
              <a:solidFill>
                <a:srgbClr val="002060"/>
              </a:solidFill>
              <a:latin typeface="Times"/>
              <a:ea typeface="Times"/>
              <a:cs typeface="Times"/>
              <a:sym typeface="Time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6" name="Shape 436"/>
        <p:cNvGrpSpPr/>
        <p:nvPr/>
      </p:nvGrpSpPr>
      <p:grpSpPr>
        <a:xfrm>
          <a:off x="0" y="0"/>
          <a:ext cx="0" cy="0"/>
          <a:chOff x="0" y="0"/>
          <a:chExt cx="0" cy="0"/>
        </a:xfrm>
      </p:grpSpPr>
      <p:sp>
        <p:nvSpPr>
          <p:cNvPr id="437" name="Google Shape;437;p44"/>
          <p:cNvSpPr txBox="1"/>
          <p:nvPr/>
        </p:nvSpPr>
        <p:spPr>
          <a:xfrm>
            <a:off x="533400" y="1828800"/>
            <a:ext cx="7848600" cy="3994150"/>
          </a:xfrm>
          <a:prstGeom prst="rect">
            <a:avLst/>
          </a:prstGeom>
          <a:noFill/>
          <a:ln cap="flat" cmpd="sng" w="5715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a:buNone/>
            </a:pPr>
            <a:r>
              <a:rPr b="1" i="0" lang="en-US" sz="3600" u="none">
                <a:solidFill>
                  <a:schemeClr val="dk1"/>
                </a:solidFill>
                <a:latin typeface="Times"/>
                <a:ea typeface="Times"/>
                <a:cs typeface="Times"/>
                <a:sym typeface="Times"/>
              </a:rPr>
              <a:t>A block in classes A, B, and C </a:t>
            </a:r>
            <a:br>
              <a:rPr b="1" i="0" lang="en-US" sz="3600" u="none">
                <a:solidFill>
                  <a:schemeClr val="dk1"/>
                </a:solidFill>
                <a:latin typeface="Times"/>
                <a:ea typeface="Times"/>
                <a:cs typeface="Times"/>
                <a:sym typeface="Times"/>
              </a:rPr>
            </a:br>
            <a:r>
              <a:rPr b="1" i="0" lang="en-US" sz="3600" u="none">
                <a:solidFill>
                  <a:schemeClr val="dk1"/>
                </a:solidFill>
                <a:latin typeface="Times"/>
                <a:ea typeface="Times"/>
                <a:cs typeface="Times"/>
                <a:sym typeface="Times"/>
              </a:rPr>
              <a:t>can easily be represented in slash </a:t>
            </a:r>
            <a:br>
              <a:rPr b="1" i="0" lang="en-US" sz="3600" u="none">
                <a:solidFill>
                  <a:schemeClr val="dk1"/>
                </a:solidFill>
                <a:latin typeface="Times"/>
                <a:ea typeface="Times"/>
                <a:cs typeface="Times"/>
                <a:sym typeface="Times"/>
              </a:rPr>
            </a:br>
            <a:r>
              <a:rPr b="1" i="0" lang="en-US" sz="3600" u="none">
                <a:solidFill>
                  <a:schemeClr val="dk1"/>
                </a:solidFill>
                <a:latin typeface="Times"/>
                <a:ea typeface="Times"/>
                <a:cs typeface="Times"/>
                <a:sym typeface="Times"/>
              </a:rPr>
              <a:t>notation as </a:t>
            </a:r>
            <a:br>
              <a:rPr b="1" i="0" lang="en-US" sz="3600" u="none">
                <a:solidFill>
                  <a:schemeClr val="dk1"/>
                </a:solidFill>
                <a:latin typeface="Times"/>
                <a:ea typeface="Times"/>
                <a:cs typeface="Times"/>
                <a:sym typeface="Times"/>
              </a:rPr>
            </a:br>
            <a:r>
              <a:rPr b="1" i="0" lang="en-US" sz="3600" u="none">
                <a:solidFill>
                  <a:srgbClr val="FF3300"/>
                </a:solidFill>
                <a:latin typeface="Times"/>
                <a:ea typeface="Times"/>
                <a:cs typeface="Times"/>
                <a:sym typeface="Times"/>
              </a:rPr>
              <a:t>A.B.C.D/ </a:t>
            </a:r>
            <a:r>
              <a:rPr b="1" i="1" lang="en-US" sz="3600" u="none">
                <a:solidFill>
                  <a:srgbClr val="FF3300"/>
                </a:solidFill>
                <a:latin typeface="Times"/>
                <a:ea typeface="Times"/>
                <a:cs typeface="Times"/>
                <a:sym typeface="Times"/>
              </a:rPr>
              <a:t>n</a:t>
            </a:r>
            <a:r>
              <a:rPr b="1" i="0" lang="en-US" sz="3600" u="none">
                <a:solidFill>
                  <a:schemeClr val="dk1"/>
                </a:solidFill>
                <a:latin typeface="Times"/>
                <a:ea typeface="Times"/>
                <a:cs typeface="Times"/>
                <a:sym typeface="Times"/>
              </a:rPr>
              <a:t> </a:t>
            </a:r>
            <a:br>
              <a:rPr b="1" i="0" lang="en-US" sz="3600" u="none">
                <a:solidFill>
                  <a:schemeClr val="dk1"/>
                </a:solidFill>
                <a:latin typeface="Times"/>
                <a:ea typeface="Times"/>
                <a:cs typeface="Times"/>
                <a:sym typeface="Times"/>
              </a:rPr>
            </a:br>
            <a:r>
              <a:rPr b="1" i="0" lang="en-US" sz="3600" u="none">
                <a:solidFill>
                  <a:schemeClr val="dk1"/>
                </a:solidFill>
                <a:latin typeface="Times"/>
                <a:ea typeface="Times"/>
                <a:cs typeface="Times"/>
                <a:sym typeface="Times"/>
              </a:rPr>
              <a:t>where </a:t>
            </a:r>
            <a:r>
              <a:rPr b="1" i="1" lang="en-US" sz="3600" u="none">
                <a:solidFill>
                  <a:schemeClr val="dk1"/>
                </a:solidFill>
                <a:latin typeface="Times"/>
                <a:ea typeface="Times"/>
                <a:cs typeface="Times"/>
                <a:sym typeface="Times"/>
              </a:rPr>
              <a:t>n</a:t>
            </a:r>
            <a:r>
              <a:rPr b="1" i="0" lang="en-US" sz="3600" u="none">
                <a:solidFill>
                  <a:schemeClr val="dk1"/>
                </a:solidFill>
                <a:latin typeface="Times"/>
                <a:ea typeface="Times"/>
                <a:cs typeface="Times"/>
                <a:sym typeface="Times"/>
              </a:rPr>
              <a:t> is </a:t>
            </a:r>
            <a:br>
              <a:rPr b="1" i="0" lang="en-US" sz="3600" u="none">
                <a:solidFill>
                  <a:schemeClr val="dk1"/>
                </a:solidFill>
                <a:latin typeface="Times"/>
                <a:ea typeface="Times"/>
                <a:cs typeface="Times"/>
                <a:sym typeface="Times"/>
              </a:rPr>
            </a:br>
            <a:r>
              <a:rPr b="1" i="0" lang="en-US" sz="3600" u="none">
                <a:solidFill>
                  <a:schemeClr val="dk1"/>
                </a:solidFill>
                <a:latin typeface="Times"/>
                <a:ea typeface="Times"/>
                <a:cs typeface="Times"/>
                <a:sym typeface="Times"/>
              </a:rPr>
              <a:t>either 8 (class A), 16 (class B), or </a:t>
            </a:r>
            <a:br>
              <a:rPr b="1" i="0" lang="en-US" sz="3600" u="none">
                <a:solidFill>
                  <a:schemeClr val="dk1"/>
                </a:solidFill>
                <a:latin typeface="Times"/>
                <a:ea typeface="Times"/>
                <a:cs typeface="Times"/>
                <a:sym typeface="Times"/>
              </a:rPr>
            </a:br>
            <a:r>
              <a:rPr b="1" i="0" lang="en-US" sz="3600" u="none">
                <a:solidFill>
                  <a:schemeClr val="dk1"/>
                </a:solidFill>
                <a:latin typeface="Times"/>
                <a:ea typeface="Times"/>
                <a:cs typeface="Times"/>
                <a:sym typeface="Times"/>
              </a:rPr>
              <a:t>24 (class C).</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441" name="Shape 441"/>
        <p:cNvGrpSpPr/>
        <p:nvPr/>
      </p:nvGrpSpPr>
      <p:grpSpPr>
        <a:xfrm>
          <a:off x="0" y="0"/>
          <a:ext cx="0" cy="0"/>
          <a:chOff x="0" y="0"/>
          <a:chExt cx="0" cy="0"/>
        </a:xfrm>
      </p:grpSpPr>
      <p:sp>
        <p:nvSpPr>
          <p:cNvPr id="442" name="Google Shape;442;p45"/>
          <p:cNvSpPr txBox="1"/>
          <p:nvPr/>
        </p:nvSpPr>
        <p:spPr>
          <a:xfrm>
            <a:off x="144462" y="76200"/>
            <a:ext cx="232251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Example 13 </a:t>
            </a:r>
            <a:endParaRPr/>
          </a:p>
        </p:txBody>
      </p:sp>
      <p:sp>
        <p:nvSpPr>
          <p:cNvPr id="443" name="Google Shape;443;p45"/>
          <p:cNvSpPr txBox="1"/>
          <p:nvPr/>
        </p:nvSpPr>
        <p:spPr>
          <a:xfrm>
            <a:off x="457200" y="838200"/>
            <a:ext cx="84582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What is the network address if one of the addresses is 167.199.170.82/27?</a:t>
            </a:r>
            <a:endParaRPr/>
          </a:p>
        </p:txBody>
      </p:sp>
      <p:sp>
        <p:nvSpPr>
          <p:cNvPr id="444" name="Google Shape;444;p45"/>
          <p:cNvSpPr txBox="1"/>
          <p:nvPr/>
        </p:nvSpPr>
        <p:spPr>
          <a:xfrm>
            <a:off x="228600" y="2362200"/>
            <a:ext cx="164306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a:t>
            </a:r>
            <a:endParaRPr/>
          </a:p>
        </p:txBody>
      </p:sp>
      <p:sp>
        <p:nvSpPr>
          <p:cNvPr id="445" name="Google Shape;445;p45"/>
          <p:cNvSpPr txBox="1"/>
          <p:nvPr/>
        </p:nvSpPr>
        <p:spPr>
          <a:xfrm>
            <a:off x="304800" y="3048000"/>
            <a:ext cx="8610600" cy="30162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The prefix length is 27, which means that we must keep the first 27 bits as is and change the remaining bits (5) to 0s. The 5 bits affect only the last byte. The last byte is 01010010. Changing the last 5 bits to 0s, we get 01000000 or 64. The network address is 167.199.170.64/27.</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449" name="Shape 449"/>
        <p:cNvGrpSpPr/>
        <p:nvPr/>
      </p:nvGrpSpPr>
      <p:grpSpPr>
        <a:xfrm>
          <a:off x="0" y="0"/>
          <a:ext cx="0" cy="0"/>
          <a:chOff x="0" y="0"/>
          <a:chExt cx="0" cy="0"/>
        </a:xfrm>
      </p:grpSpPr>
      <p:sp>
        <p:nvSpPr>
          <p:cNvPr id="450" name="Google Shape;450;p46"/>
          <p:cNvSpPr txBox="1"/>
          <p:nvPr/>
        </p:nvSpPr>
        <p:spPr>
          <a:xfrm>
            <a:off x="144462" y="76200"/>
            <a:ext cx="232251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Example 14 </a:t>
            </a:r>
            <a:endParaRPr/>
          </a:p>
        </p:txBody>
      </p:sp>
      <p:sp>
        <p:nvSpPr>
          <p:cNvPr id="451" name="Google Shape;451;p46"/>
          <p:cNvSpPr txBox="1"/>
          <p:nvPr/>
        </p:nvSpPr>
        <p:spPr>
          <a:xfrm>
            <a:off x="457200" y="838200"/>
            <a:ext cx="8458200" cy="24415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An organization is granted the block 130.34.12.64/26. The organization needs to have four subnets. What are the subnet addresses and the range of addresses for each subnet?</a:t>
            </a:r>
            <a:endParaRPr/>
          </a:p>
          <a:p>
            <a:pPr indent="0" lvl="0" marL="0" marR="0" rtl="0" algn="l">
              <a:lnSpc>
                <a:spcPct val="100000"/>
              </a:lnSpc>
              <a:spcBef>
                <a:spcPts val="0"/>
              </a:spcBef>
              <a:spcAft>
                <a:spcPts val="0"/>
              </a:spcAft>
              <a:buNone/>
            </a:pPr>
            <a:r>
              <a:t/>
            </a:r>
            <a:endParaRPr b="0" i="0" sz="2800" u="none">
              <a:solidFill>
                <a:srgbClr val="002060"/>
              </a:solidFill>
              <a:latin typeface="Times"/>
              <a:ea typeface="Times"/>
              <a:cs typeface="Times"/>
              <a:sym typeface="Times"/>
            </a:endParaRPr>
          </a:p>
        </p:txBody>
      </p:sp>
      <p:sp>
        <p:nvSpPr>
          <p:cNvPr id="452" name="Google Shape;452;p46"/>
          <p:cNvSpPr txBox="1"/>
          <p:nvPr/>
        </p:nvSpPr>
        <p:spPr>
          <a:xfrm>
            <a:off x="228600" y="3268662"/>
            <a:ext cx="164306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a:t>
            </a:r>
            <a:endParaRPr/>
          </a:p>
        </p:txBody>
      </p:sp>
      <p:sp>
        <p:nvSpPr>
          <p:cNvPr id="453" name="Google Shape;453;p46"/>
          <p:cNvSpPr txBox="1"/>
          <p:nvPr/>
        </p:nvSpPr>
        <p:spPr>
          <a:xfrm>
            <a:off x="304800" y="4084637"/>
            <a:ext cx="8610600" cy="15541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The suffix length is 6. This means the total number of addresses in the block is 64 (2</a:t>
            </a:r>
            <a:r>
              <a:rPr b="0" baseline="30000" i="0" lang="en-US" sz="3200" u="none">
                <a:solidFill>
                  <a:schemeClr val="lt2"/>
                </a:solidFill>
                <a:latin typeface="Times"/>
                <a:ea typeface="Times"/>
                <a:cs typeface="Times"/>
                <a:sym typeface="Times"/>
              </a:rPr>
              <a:t>6</a:t>
            </a:r>
            <a:r>
              <a:rPr b="0" i="0" lang="en-US" sz="3200" u="none">
                <a:solidFill>
                  <a:schemeClr val="lt2"/>
                </a:solidFill>
                <a:latin typeface="Times"/>
                <a:ea typeface="Times"/>
                <a:cs typeface="Times"/>
                <a:sym typeface="Times"/>
              </a:rPr>
              <a:t>). If we create four subnets, each subnet will have 16 addresses.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457" name="Shape 457"/>
        <p:cNvGrpSpPr/>
        <p:nvPr/>
      </p:nvGrpSpPr>
      <p:grpSpPr>
        <a:xfrm>
          <a:off x="0" y="0"/>
          <a:ext cx="0" cy="0"/>
          <a:chOff x="0" y="0"/>
          <a:chExt cx="0" cy="0"/>
        </a:xfrm>
      </p:grpSpPr>
      <p:sp>
        <p:nvSpPr>
          <p:cNvPr id="458" name="Google Shape;458;p47"/>
          <p:cNvSpPr txBox="1"/>
          <p:nvPr/>
        </p:nvSpPr>
        <p:spPr>
          <a:xfrm>
            <a:off x="228600" y="228600"/>
            <a:ext cx="3775075"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 (Continued)</a:t>
            </a:r>
            <a:endParaRPr/>
          </a:p>
        </p:txBody>
      </p:sp>
      <p:sp>
        <p:nvSpPr>
          <p:cNvPr id="459" name="Google Shape;459;p47"/>
          <p:cNvSpPr txBox="1"/>
          <p:nvPr/>
        </p:nvSpPr>
        <p:spPr>
          <a:xfrm>
            <a:off x="304800" y="1022350"/>
            <a:ext cx="8610600" cy="57007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Let us first find the subnet prefix (subnet mask). We need four subnets, which means we need to add two more 1s to the site prefix. The subnet prefix is then /28. </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Subnet 1: 130.34.12.64/28 to 130.34.12.79/28.</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Subnet 2 : 130.34.12.80/28 to 130.34.12.95/28.</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Subnet 3: 130.34.12.96/28 to 130.34.12.111/28.</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Subnet 4: 130.34.12.112/28 to 130.34.12.127/28.</a:t>
            </a:r>
            <a:endParaRPr/>
          </a:p>
          <a:p>
            <a:pPr indent="0" lvl="0" marL="0" marR="0" rtl="0" algn="just">
              <a:lnSpc>
                <a:spcPct val="100000"/>
              </a:lnSpc>
              <a:spcBef>
                <a:spcPts val="1600"/>
              </a:spcBef>
              <a:spcAft>
                <a:spcPts val="0"/>
              </a:spcAft>
              <a:buClr>
                <a:schemeClr val="lt2"/>
              </a:buClr>
              <a:buSzPts val="3200"/>
              <a:buFont typeface="Times"/>
              <a:buNone/>
            </a:pPr>
            <a:r>
              <a:rPr b="1" i="0" lang="en-US" sz="3200" u="none">
                <a:solidFill>
                  <a:schemeClr val="lt2"/>
                </a:solidFill>
                <a:latin typeface="Times"/>
                <a:ea typeface="Times"/>
                <a:cs typeface="Times"/>
                <a:sym typeface="Times"/>
              </a:rPr>
              <a:t>See Figure 5.15</a:t>
            </a:r>
            <a:r>
              <a:rPr b="0" i="0" lang="en-US" sz="3200" u="none">
                <a:solidFill>
                  <a:schemeClr val="lt2"/>
                </a:solidFill>
                <a:latin typeface="Times"/>
                <a:ea typeface="Times"/>
                <a:cs typeface="Times"/>
                <a:sym typeface="Times"/>
              </a:rPr>
              <a:t>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3" name="Shape 463"/>
        <p:cNvGrpSpPr/>
        <p:nvPr/>
      </p:nvGrpSpPr>
      <p:grpSpPr>
        <a:xfrm>
          <a:off x="0" y="0"/>
          <a:ext cx="0" cy="0"/>
          <a:chOff x="0" y="0"/>
          <a:chExt cx="0" cy="0"/>
        </a:xfrm>
      </p:grpSpPr>
      <p:sp>
        <p:nvSpPr>
          <p:cNvPr id="464" name="Google Shape;464;p48"/>
          <p:cNvSpPr txBox="1"/>
          <p:nvPr/>
        </p:nvSpPr>
        <p:spPr>
          <a:xfrm>
            <a:off x="76200" y="0"/>
            <a:ext cx="16144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600"/>
              <a:buFont typeface="Times New Roman"/>
              <a:buNone/>
            </a:pPr>
            <a:r>
              <a:rPr b="1" i="0" lang="en-US" sz="1600" u="none">
                <a:solidFill>
                  <a:schemeClr val="accent2"/>
                </a:solidFill>
                <a:latin typeface="Times New Roman"/>
                <a:ea typeface="Times New Roman"/>
                <a:cs typeface="Times New Roman"/>
                <a:sym typeface="Times New Roman"/>
              </a:rPr>
              <a:t>Figure  5-15</a:t>
            </a:r>
            <a:endParaRPr/>
          </a:p>
        </p:txBody>
      </p:sp>
      <p:pic>
        <p:nvPicPr>
          <p:cNvPr id="465" name="Google Shape;465;p48"/>
          <p:cNvPicPr preferRelativeResize="0"/>
          <p:nvPr/>
        </p:nvPicPr>
        <p:blipFill rotWithShape="1">
          <a:blip r:embed="rId3">
            <a:alphaModFix/>
          </a:blip>
          <a:srcRect b="0" l="0" r="0" t="0"/>
          <a:stretch/>
        </p:blipFill>
        <p:spPr>
          <a:xfrm>
            <a:off x="344487" y="1365250"/>
            <a:ext cx="7924800" cy="4806950"/>
          </a:xfrm>
          <a:prstGeom prst="rect">
            <a:avLst/>
          </a:prstGeom>
          <a:noFill/>
          <a:ln>
            <a:noFill/>
          </a:ln>
        </p:spPr>
      </p:pic>
      <p:sp>
        <p:nvSpPr>
          <p:cNvPr id="466" name="Google Shape;466;p48"/>
          <p:cNvSpPr txBox="1"/>
          <p:nvPr/>
        </p:nvSpPr>
        <p:spPr>
          <a:xfrm>
            <a:off x="2894012" y="95250"/>
            <a:ext cx="22272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Times New Roman"/>
              <a:buNone/>
            </a:pPr>
            <a:r>
              <a:rPr b="1" i="0" lang="en-US" sz="3200" u="none">
                <a:solidFill>
                  <a:schemeClr val="accent2"/>
                </a:solidFill>
                <a:latin typeface="Times New Roman"/>
                <a:ea typeface="Times New Roman"/>
                <a:cs typeface="Times New Roman"/>
                <a:sym typeface="Times New Roman"/>
              </a:rPr>
              <a:t>Example 14</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9"/>
          <p:cNvSpPr txBox="1"/>
          <p:nvPr>
            <p:ph idx="4294967295" type="body"/>
          </p:nvPr>
        </p:nvSpPr>
        <p:spPr>
          <a:xfrm>
            <a:off x="609600" y="2819400"/>
            <a:ext cx="7924800" cy="335756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rgbClr val="002060"/>
              </a:buClr>
              <a:buSzPts val="2800"/>
              <a:buFont typeface="Arial"/>
              <a:buChar char="•"/>
            </a:pPr>
            <a:r>
              <a:rPr b="0" i="0" lang="en-US" sz="2800" u="none" cap="none" strike="noStrike">
                <a:solidFill>
                  <a:srgbClr val="002060"/>
                </a:solidFill>
                <a:latin typeface="Times New Roman"/>
                <a:ea typeface="Times New Roman"/>
                <a:cs typeface="Times New Roman"/>
                <a:sym typeface="Times New Roman"/>
              </a:rPr>
              <a:t>An organization is granted a block of addresses with beginning address 14.24.74.0/24. The organization needs to have 3 blocks of addresses to use in its three subnets as shown below:</a:t>
            </a:r>
            <a:endParaRPr/>
          </a:p>
          <a:p>
            <a:pPr indent="-457200" lvl="1" marL="914400" marR="0" rtl="0" algn="l">
              <a:lnSpc>
                <a:spcPct val="90000"/>
              </a:lnSpc>
              <a:spcBef>
                <a:spcPts val="500"/>
              </a:spcBef>
              <a:spcAft>
                <a:spcPts val="0"/>
              </a:spcAft>
              <a:buClr>
                <a:srgbClr val="002060"/>
              </a:buClr>
              <a:buSzPts val="2400"/>
              <a:buFont typeface="Calibri"/>
              <a:buAutoNum type="alphaLcPeriod"/>
            </a:pPr>
            <a:r>
              <a:rPr b="0" i="0" lang="en-US" sz="2400" u="none" cap="none" strike="noStrike">
                <a:solidFill>
                  <a:srgbClr val="002060"/>
                </a:solidFill>
                <a:latin typeface="Times New Roman"/>
                <a:ea typeface="Times New Roman"/>
                <a:cs typeface="Times New Roman"/>
                <a:sym typeface="Times New Roman"/>
              </a:rPr>
              <a:t>One block of 120 addresses.</a:t>
            </a:r>
            <a:endParaRPr/>
          </a:p>
          <a:p>
            <a:pPr indent="-457200" lvl="1" marL="914400" marR="0" rtl="0" algn="l">
              <a:lnSpc>
                <a:spcPct val="90000"/>
              </a:lnSpc>
              <a:spcBef>
                <a:spcPts val="500"/>
              </a:spcBef>
              <a:spcAft>
                <a:spcPts val="0"/>
              </a:spcAft>
              <a:buClr>
                <a:srgbClr val="002060"/>
              </a:buClr>
              <a:buSzPts val="2400"/>
              <a:buFont typeface="Calibri"/>
              <a:buAutoNum type="alphaLcPeriod"/>
            </a:pPr>
            <a:r>
              <a:rPr b="0" i="0" lang="en-US" sz="2400" u="none" cap="none" strike="noStrike">
                <a:solidFill>
                  <a:srgbClr val="002060"/>
                </a:solidFill>
                <a:latin typeface="Times New Roman"/>
                <a:ea typeface="Times New Roman"/>
                <a:cs typeface="Times New Roman"/>
                <a:sym typeface="Times New Roman"/>
              </a:rPr>
              <a:t>One block of 60 addresses.</a:t>
            </a:r>
            <a:endParaRPr/>
          </a:p>
          <a:p>
            <a:pPr indent="-457200" lvl="1" marL="914400" marR="0" rtl="0" algn="l">
              <a:lnSpc>
                <a:spcPct val="90000"/>
              </a:lnSpc>
              <a:spcBef>
                <a:spcPts val="500"/>
              </a:spcBef>
              <a:spcAft>
                <a:spcPts val="0"/>
              </a:spcAft>
              <a:buClr>
                <a:srgbClr val="002060"/>
              </a:buClr>
              <a:buSzPts val="2400"/>
              <a:buFont typeface="Calibri"/>
              <a:buAutoNum type="alphaLcPeriod"/>
            </a:pPr>
            <a:r>
              <a:rPr b="0" i="0" lang="en-US" sz="2400" u="none" cap="none" strike="noStrike">
                <a:solidFill>
                  <a:srgbClr val="002060"/>
                </a:solidFill>
                <a:latin typeface="Times New Roman"/>
                <a:ea typeface="Times New Roman"/>
                <a:cs typeface="Times New Roman"/>
                <a:sym typeface="Times New Roman"/>
              </a:rPr>
              <a:t>One block of 10 addresses.</a:t>
            </a:r>
            <a:endParaRPr/>
          </a:p>
          <a:p>
            <a:pPr indent="-76200" lvl="0" marL="228600" marR="0" rtl="0" algn="l">
              <a:lnSpc>
                <a:spcPct val="90000"/>
              </a:lnSpc>
              <a:spcBef>
                <a:spcPts val="1000"/>
              </a:spcBef>
              <a:spcAft>
                <a:spcPts val="0"/>
              </a:spcAft>
              <a:buClr>
                <a:schemeClr val="dk1"/>
              </a:buClr>
              <a:buSzPts val="2400"/>
              <a:buFont typeface="Arial"/>
              <a:buNone/>
            </a:pPr>
            <a:r>
              <a:t/>
            </a:r>
            <a:endParaRPr b="0" i="0" sz="2400" u="none" cap="none" strike="noStrike">
              <a:solidFill>
                <a:srgbClr val="002060"/>
              </a:solidFill>
              <a:latin typeface="Times New Roman"/>
              <a:ea typeface="Times New Roman"/>
              <a:cs typeface="Times New Roman"/>
              <a:sym typeface="Times New Roman"/>
            </a:endParaRPr>
          </a:p>
        </p:txBody>
      </p:sp>
      <p:sp>
        <p:nvSpPr>
          <p:cNvPr id="472" name="Google Shape;472;p49"/>
          <p:cNvSpPr txBox="1"/>
          <p:nvPr/>
        </p:nvSpPr>
        <p:spPr>
          <a:xfrm>
            <a:off x="304800" y="1828800"/>
            <a:ext cx="2305050" cy="584200"/>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1" lang="en-US" sz="3200" u="none">
                <a:solidFill>
                  <a:schemeClr val="lt1"/>
                </a:solidFill>
                <a:latin typeface="Times New Roman"/>
                <a:ea typeface="Times New Roman"/>
                <a:cs typeface="Times New Roman"/>
                <a:sym typeface="Times New Roman"/>
              </a:rPr>
              <a:t>Example 15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0"/>
          <p:cNvSpPr txBox="1"/>
          <p:nvPr>
            <p:ph idx="1" type="body"/>
          </p:nvPr>
        </p:nvSpPr>
        <p:spPr>
          <a:xfrm>
            <a:off x="381000" y="1066800"/>
            <a:ext cx="7886700" cy="511016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Total Addresses in block = 2</a:t>
            </a:r>
            <a:r>
              <a:rPr b="0" baseline="30000" i="0" lang="en-US" sz="2800" u="none">
                <a:solidFill>
                  <a:schemeClr val="dk1"/>
                </a:solidFill>
                <a:latin typeface="Calibri"/>
                <a:ea typeface="Calibri"/>
                <a:cs typeface="Calibri"/>
                <a:sym typeface="Calibri"/>
              </a:rPr>
              <a:t>32</a:t>
            </a:r>
            <a:r>
              <a:rPr b="0" i="0" lang="en-US" sz="2800" u="none">
                <a:solidFill>
                  <a:schemeClr val="dk1"/>
                </a:solidFill>
                <a:latin typeface="Calibri"/>
                <a:ea typeface="Calibri"/>
                <a:cs typeface="Calibri"/>
                <a:sym typeface="Calibri"/>
              </a:rPr>
              <a:t>-2</a:t>
            </a:r>
            <a:r>
              <a:rPr b="0" baseline="30000" i="0" lang="en-US" sz="2800" u="none">
                <a:solidFill>
                  <a:schemeClr val="dk1"/>
                </a:solidFill>
                <a:latin typeface="Calibri"/>
                <a:ea typeface="Calibri"/>
                <a:cs typeface="Calibri"/>
                <a:sym typeface="Calibri"/>
              </a:rPr>
              <a:t>24</a:t>
            </a:r>
            <a:r>
              <a:rPr b="0" i="0" lang="en-US" sz="2800" u="none">
                <a:solidFill>
                  <a:schemeClr val="dk1"/>
                </a:solidFill>
                <a:latin typeface="Calibri"/>
                <a:ea typeface="Calibri"/>
                <a:cs typeface="Calibri"/>
                <a:sym typeface="Calibri"/>
              </a:rPr>
              <a:t> = 256</a:t>
            </a:r>
            <a:endParaRPr/>
          </a:p>
          <a:p>
            <a:pPr indent="-228600" lvl="0" marL="228600" marR="0" rtl="0" algn="l">
              <a:lnSpc>
                <a:spcPct val="90000"/>
              </a:lnSpc>
              <a:spcBef>
                <a:spcPts val="1000"/>
              </a:spcBef>
              <a:spcAft>
                <a:spcPts val="0"/>
              </a:spcAft>
              <a:buClr>
                <a:schemeClr val="dk1"/>
              </a:buClr>
              <a:buSzPts val="2800"/>
              <a:buFont typeface="Arial"/>
              <a:buChar char="•"/>
            </a:pPr>
            <a:r>
              <a:rPr b="0" baseline="30000" i="0" lang="en-US" sz="2800" u="none">
                <a:solidFill>
                  <a:schemeClr val="dk1"/>
                </a:solidFill>
                <a:latin typeface="Calibri"/>
                <a:ea typeface="Calibri"/>
                <a:cs typeface="Calibri"/>
                <a:sym typeface="Calibri"/>
              </a:rPr>
              <a:t> </a:t>
            </a:r>
            <a:r>
              <a:rPr b="0" i="0" lang="en-US" sz="2800" u="none">
                <a:solidFill>
                  <a:schemeClr val="dk1"/>
                </a:solidFill>
                <a:latin typeface="Calibri"/>
                <a:ea typeface="Calibri"/>
                <a:cs typeface="Calibri"/>
                <a:sym typeface="Calibri"/>
              </a:rPr>
              <a:t> first address = 14.24.74.0/24</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Last address = 14.24.74.255/24</a:t>
            </a:r>
            <a:endParaRPr/>
          </a:p>
          <a:p>
            <a:pPr indent="-228600" lvl="0" marL="228600" marR="0" rtl="0" algn="l">
              <a:lnSpc>
                <a:spcPct val="90000"/>
              </a:lnSpc>
              <a:spcBef>
                <a:spcPts val="1000"/>
              </a:spcBef>
              <a:spcAft>
                <a:spcPts val="0"/>
              </a:spcAft>
              <a:buClr>
                <a:schemeClr val="dk1"/>
              </a:buClr>
              <a:buSzPts val="2800"/>
              <a:buFont typeface="Calibri"/>
              <a:buAutoNum type="alphaLcPeriod"/>
            </a:pPr>
            <a:r>
              <a:rPr b="0" i="0" lang="en-US" sz="2800" u="none">
                <a:solidFill>
                  <a:schemeClr val="dk1"/>
                </a:solidFill>
                <a:latin typeface="Calibri"/>
                <a:ea typeface="Calibri"/>
                <a:cs typeface="Calibri"/>
                <a:sym typeface="Calibri"/>
              </a:rPr>
              <a:t>No. of addresses in first block is not power of 2. We allocate 128 addresses.</a:t>
            </a:r>
            <a:endParaRPr/>
          </a:p>
          <a:p>
            <a:pPr indent="-228600" lvl="0" marL="228600" marR="0" rtl="0" algn="l">
              <a:lnSpc>
                <a:spcPct val="9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subnet mask =25 </a:t>
            </a:r>
            <a:endParaRPr/>
          </a:p>
          <a:p>
            <a:pPr indent="-228600" lvl="0" marL="228600" marR="0" rtl="0" algn="l">
              <a:lnSpc>
                <a:spcPct val="90000"/>
              </a:lnSpc>
              <a:spcBef>
                <a:spcPts val="1000"/>
              </a:spcBef>
              <a:spcAft>
                <a:spcPts val="0"/>
              </a:spcAft>
              <a:buClr>
                <a:schemeClr val="dk1"/>
              </a:buClr>
              <a:buSzPts val="2800"/>
              <a:buFont typeface="Calibri"/>
              <a:buAutoNum type="alphaLcPeriod" startAt="2"/>
            </a:pPr>
            <a:r>
              <a:rPr b="0" i="0" lang="en-US" sz="2800" u="none">
                <a:solidFill>
                  <a:schemeClr val="dk1"/>
                </a:solidFill>
                <a:latin typeface="Calibri"/>
                <a:ea typeface="Calibri"/>
                <a:cs typeface="Calibri"/>
                <a:sym typeface="Calibri"/>
              </a:rPr>
              <a:t>No. of addresses in first block is not power of 2. We allocate 64 addresses.</a:t>
            </a:r>
            <a:endParaRPr/>
          </a:p>
          <a:p>
            <a:pPr indent="-228600" lvl="0" marL="228600" marR="0" rtl="0" algn="l">
              <a:lnSpc>
                <a:spcPct val="9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subnet mask =26</a:t>
            </a:r>
            <a:endParaRPr/>
          </a:p>
          <a:p>
            <a:pPr indent="-228600" lvl="0" marL="228600" marR="0" rtl="0" algn="l">
              <a:lnSpc>
                <a:spcPct val="90000"/>
              </a:lnSpc>
              <a:spcBef>
                <a:spcPts val="1000"/>
              </a:spcBef>
              <a:spcAft>
                <a:spcPts val="0"/>
              </a:spcAft>
              <a:buClr>
                <a:schemeClr val="dk1"/>
              </a:buClr>
              <a:buSzPts val="2800"/>
              <a:buFont typeface="Calibri"/>
              <a:buAutoNum type="alphaLcPeriod" startAt="3"/>
            </a:pPr>
            <a:r>
              <a:rPr b="0" i="0" lang="en-US" sz="2800" u="none">
                <a:solidFill>
                  <a:schemeClr val="dk1"/>
                </a:solidFill>
                <a:latin typeface="Calibri"/>
                <a:ea typeface="Calibri"/>
                <a:cs typeface="Calibri"/>
                <a:sym typeface="Calibri"/>
              </a:rPr>
              <a:t>No. of addresses in first block is not power of 2. We allocate 16 addresses.</a:t>
            </a:r>
            <a:endParaRPr/>
          </a:p>
          <a:p>
            <a:pPr indent="-228600" lvl="0" marL="228600" marR="0" rtl="0" algn="l">
              <a:lnSpc>
                <a:spcPct val="9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subnet mask =28</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478" name="Google Shape;478;p50"/>
          <p:cNvSpPr txBox="1"/>
          <p:nvPr/>
        </p:nvSpPr>
        <p:spPr>
          <a:xfrm>
            <a:off x="304800" y="228600"/>
            <a:ext cx="1722437" cy="584200"/>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1" lang="en-US" sz="3200" u="none">
                <a:solidFill>
                  <a:schemeClr val="lt1"/>
                </a:solidFill>
                <a:latin typeface="Times New Roman"/>
                <a:ea typeface="Times New Roman"/>
                <a:cs typeface="Times New Roman"/>
                <a:sym typeface="Times New Roman"/>
              </a:rPr>
              <a:t>Solution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pic>
        <p:nvPicPr>
          <p:cNvPr id="483" name="Google Shape;483;p51"/>
          <p:cNvPicPr preferRelativeResize="0"/>
          <p:nvPr>
            <p:ph idx="1" type="body"/>
          </p:nvPr>
        </p:nvPicPr>
        <p:blipFill rotWithShape="1">
          <a:blip r:embed="rId3">
            <a:alphaModFix/>
          </a:blip>
          <a:srcRect b="0" l="0" r="0" t="0"/>
          <a:stretch/>
        </p:blipFill>
        <p:spPr>
          <a:xfrm>
            <a:off x="582612" y="2133600"/>
            <a:ext cx="7975600" cy="37338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2"/>
          <p:cNvSpPr txBox="1"/>
          <p:nvPr>
            <p:ph idx="1" type="body"/>
          </p:nvPr>
        </p:nvSpPr>
        <p:spPr>
          <a:xfrm>
            <a:off x="457200" y="914400"/>
            <a:ext cx="8210550" cy="37338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t/>
            </a:r>
            <a:endParaRPr b="0" i="0" sz="2800" u="none">
              <a:solidFill>
                <a:srgbClr val="002060"/>
              </a:solidFill>
              <a:latin typeface="Times"/>
              <a:ea typeface="Times"/>
              <a:cs typeface="Times"/>
              <a:sym typeface="Times"/>
            </a:endParaRPr>
          </a:p>
          <a:p>
            <a:pPr indent="0" lvl="0" marL="0" marR="0" rtl="0" algn="l">
              <a:lnSpc>
                <a:spcPct val="90000"/>
              </a:lnSpc>
              <a:spcBef>
                <a:spcPts val="1000"/>
              </a:spcBef>
              <a:spcAft>
                <a:spcPts val="0"/>
              </a:spcAft>
              <a:buClr>
                <a:srgbClr val="002060"/>
              </a:buClr>
              <a:buSzPts val="2800"/>
              <a:buFont typeface="Arial"/>
              <a:buNone/>
            </a:pPr>
            <a:r>
              <a:rPr b="0" i="0" lang="en-US" sz="2800" u="none">
                <a:solidFill>
                  <a:srgbClr val="002060"/>
                </a:solidFill>
                <a:latin typeface="Times"/>
                <a:ea typeface="Times"/>
                <a:cs typeface="Times"/>
                <a:sym typeface="Times"/>
              </a:rPr>
              <a:t>Assume a company has three offices: Central, East, and West. The Central office is connected to the East and West offices via private, WAN lines. The company is granted a block of 64 addresses with the beginning address 70.12.100.128/26. The management has decided to allocate 32 addresses for the Central office and divides the rest of   addresses between the two other offices.</a:t>
            </a:r>
            <a:endParaRPr/>
          </a:p>
          <a:p>
            <a:pPr indent="0" lvl="0" marL="0" marR="0" rtl="0" algn="l">
              <a:lnSpc>
                <a:spcPct val="90000"/>
              </a:lnSpc>
              <a:spcBef>
                <a:spcPts val="1000"/>
              </a:spcBef>
              <a:spcAft>
                <a:spcPts val="0"/>
              </a:spcAft>
              <a:buClr>
                <a:schemeClr val="hlink"/>
              </a:buClr>
              <a:buSzPts val="2800"/>
              <a:buFont typeface="Arial"/>
              <a:buNone/>
            </a:pPr>
            <a:r>
              <a:rPr b="0" i="0" lang="en-US" sz="2800" u="none">
                <a:solidFill>
                  <a:schemeClr val="hlink"/>
                </a:solidFill>
                <a:latin typeface="Arimo"/>
                <a:ea typeface="Arimo"/>
                <a:cs typeface="Arimo"/>
                <a:sym typeface="Arimo"/>
              </a:rPr>
              <a:t>1.</a:t>
            </a:r>
            <a:r>
              <a:rPr b="0" i="0" lang="en-US" sz="2800" u="none">
                <a:solidFill>
                  <a:schemeClr val="dk1"/>
                </a:solidFill>
                <a:latin typeface="Arimo"/>
                <a:ea typeface="Arimo"/>
                <a:cs typeface="Arimo"/>
                <a:sym typeface="Arimo"/>
              </a:rPr>
              <a:t> The number of addresses are assigned as follows:</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Arimo"/>
              <a:ea typeface="Arimo"/>
              <a:cs typeface="Arimo"/>
              <a:sym typeface="Arimo"/>
            </a:endParaRPr>
          </a:p>
        </p:txBody>
      </p:sp>
      <p:sp>
        <p:nvSpPr>
          <p:cNvPr id="489" name="Google Shape;489;p52"/>
          <p:cNvSpPr txBox="1"/>
          <p:nvPr/>
        </p:nvSpPr>
        <p:spPr>
          <a:xfrm>
            <a:off x="304800" y="228600"/>
            <a:ext cx="2305050" cy="584200"/>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1" lang="en-US" sz="3200" u="none">
                <a:solidFill>
                  <a:schemeClr val="lt1"/>
                </a:solidFill>
                <a:latin typeface="Times New Roman"/>
                <a:ea typeface="Times New Roman"/>
                <a:cs typeface="Times New Roman"/>
                <a:sym typeface="Times New Roman"/>
              </a:rPr>
              <a:t>Example 16 </a:t>
            </a:r>
            <a:endParaRPr/>
          </a:p>
        </p:txBody>
      </p:sp>
      <p:pic>
        <p:nvPicPr>
          <p:cNvPr id="490" name="Google Shape;490;p52"/>
          <p:cNvPicPr preferRelativeResize="0"/>
          <p:nvPr/>
        </p:nvPicPr>
        <p:blipFill rotWithShape="1">
          <a:blip r:embed="rId3">
            <a:alphaModFix/>
          </a:blip>
          <a:srcRect b="0" l="0" r="0" t="0"/>
          <a:stretch/>
        </p:blipFill>
        <p:spPr>
          <a:xfrm>
            <a:off x="130175" y="5416550"/>
            <a:ext cx="9013825" cy="506412"/>
          </a:xfrm>
          <a:prstGeom prst="rect">
            <a:avLst/>
          </a:prstGeom>
          <a:noFill/>
          <a:ln>
            <a:noFill/>
          </a:ln>
        </p:spPr>
      </p:pic>
      <p:sp>
        <p:nvSpPr>
          <p:cNvPr id="491" name="Google Shape;491;p52"/>
          <p:cNvSpPr txBox="1"/>
          <p:nvPr/>
        </p:nvSpPr>
        <p:spPr>
          <a:xfrm>
            <a:off x="457200" y="5965825"/>
            <a:ext cx="79248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Arimo"/>
              <a:buNone/>
            </a:pPr>
            <a:r>
              <a:rPr b="1" i="0" lang="en-US" sz="2400" u="none">
                <a:solidFill>
                  <a:schemeClr val="hlink"/>
                </a:solidFill>
                <a:latin typeface="Arimo"/>
                <a:ea typeface="Arimo"/>
                <a:cs typeface="Arimo"/>
                <a:sym typeface="Arimo"/>
              </a:rPr>
              <a:t>2</a:t>
            </a:r>
            <a:r>
              <a:rPr b="1" i="0" lang="en-US" sz="2400" u="none">
                <a:solidFill>
                  <a:schemeClr val="dk1"/>
                </a:solidFill>
                <a:latin typeface="Arimo"/>
                <a:ea typeface="Arimo"/>
                <a:cs typeface="Arimo"/>
                <a:sym typeface="Arimo"/>
              </a:rPr>
              <a:t>. </a:t>
            </a:r>
            <a:r>
              <a:rPr b="0" i="0" lang="en-US" sz="2800" u="none">
                <a:solidFill>
                  <a:srgbClr val="002060"/>
                </a:solidFill>
                <a:latin typeface="Times"/>
                <a:ea typeface="Times"/>
                <a:cs typeface="Times"/>
                <a:sym typeface="Times"/>
              </a:rPr>
              <a:t>We can find the prefix length for each subnetwork: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pic>
        <p:nvPicPr>
          <p:cNvPr id="496" name="Google Shape;496;p53"/>
          <p:cNvPicPr preferRelativeResize="0"/>
          <p:nvPr>
            <p:ph idx="1" type="body"/>
          </p:nvPr>
        </p:nvPicPr>
        <p:blipFill rotWithShape="1">
          <a:blip r:embed="rId3">
            <a:alphaModFix/>
          </a:blip>
          <a:srcRect b="0" l="0" r="0" t="0"/>
          <a:stretch/>
        </p:blipFill>
        <p:spPr>
          <a:xfrm>
            <a:off x="628650" y="2509837"/>
            <a:ext cx="7886700" cy="298291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500" name="Shape 500"/>
        <p:cNvGrpSpPr/>
        <p:nvPr/>
      </p:nvGrpSpPr>
      <p:grpSpPr>
        <a:xfrm>
          <a:off x="0" y="0"/>
          <a:ext cx="0" cy="0"/>
          <a:chOff x="0" y="0"/>
          <a:chExt cx="0" cy="0"/>
        </a:xfrm>
      </p:grpSpPr>
      <p:sp>
        <p:nvSpPr>
          <p:cNvPr id="501" name="Google Shape;501;p54"/>
          <p:cNvSpPr txBox="1"/>
          <p:nvPr/>
        </p:nvSpPr>
        <p:spPr>
          <a:xfrm>
            <a:off x="144462" y="39687"/>
            <a:ext cx="2305050" cy="584200"/>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Example 17 </a:t>
            </a:r>
            <a:endParaRPr/>
          </a:p>
        </p:txBody>
      </p:sp>
      <p:sp>
        <p:nvSpPr>
          <p:cNvPr id="502" name="Google Shape;502;p54"/>
          <p:cNvSpPr txBox="1"/>
          <p:nvPr/>
        </p:nvSpPr>
        <p:spPr>
          <a:xfrm>
            <a:off x="457200" y="838200"/>
            <a:ext cx="8458200" cy="5245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An ISP is granted a block of addresses starting with 190.100.0.0/16. The ISP needs to distribute these addresses to three groups of customers as follows:</a:t>
            </a:r>
            <a:br>
              <a:rPr b="0" i="0" lang="en-US" sz="2800" u="none">
                <a:solidFill>
                  <a:srgbClr val="002060"/>
                </a:solidFill>
                <a:latin typeface="Times"/>
                <a:ea typeface="Times"/>
                <a:cs typeface="Times"/>
                <a:sym typeface="Times"/>
              </a:rPr>
            </a:br>
            <a:endParaRPr/>
          </a:p>
          <a:p>
            <a:pPr indent="0" lvl="0" marL="0" marR="0" rtl="0" algn="just">
              <a:lnSpc>
                <a:spcPct val="100000"/>
              </a:lnSpc>
              <a:spcBef>
                <a:spcPts val="1200"/>
              </a:spcBef>
              <a:spcAft>
                <a:spcPts val="0"/>
              </a:spcAft>
              <a:buClr>
                <a:schemeClr val="lt2"/>
              </a:buClr>
              <a:buSzPts val="2400"/>
              <a:buFont typeface="Times"/>
              <a:buNone/>
            </a:pPr>
            <a:r>
              <a:rPr b="0" i="0" lang="en-US" sz="2400" u="none">
                <a:solidFill>
                  <a:schemeClr val="lt2"/>
                </a:solidFill>
                <a:latin typeface="Times"/>
                <a:ea typeface="Times"/>
                <a:cs typeface="Times"/>
                <a:sym typeface="Times"/>
              </a:rPr>
              <a:t>1. The first group has 64 customers; each needs 256 addresses.</a:t>
            </a:r>
            <a:endParaRPr/>
          </a:p>
          <a:p>
            <a:pPr indent="0" lvl="0" marL="0" marR="0" rtl="0" algn="just">
              <a:lnSpc>
                <a:spcPct val="100000"/>
              </a:lnSpc>
              <a:spcBef>
                <a:spcPts val="1200"/>
              </a:spcBef>
              <a:spcAft>
                <a:spcPts val="0"/>
              </a:spcAft>
              <a:buClr>
                <a:schemeClr val="lt2"/>
              </a:buClr>
              <a:buSzPts val="2400"/>
              <a:buFont typeface="Times"/>
              <a:buNone/>
            </a:pPr>
            <a:r>
              <a:rPr b="0" i="0" lang="en-US" sz="2400" u="none">
                <a:solidFill>
                  <a:schemeClr val="lt2"/>
                </a:solidFill>
                <a:latin typeface="Times"/>
                <a:ea typeface="Times"/>
                <a:cs typeface="Times"/>
                <a:sym typeface="Times"/>
              </a:rPr>
              <a:t>2. The second group has 128 customers; each needs 128 addresses.</a:t>
            </a:r>
            <a:endParaRPr/>
          </a:p>
          <a:p>
            <a:pPr indent="0" lvl="0" marL="0" marR="0" rtl="0" algn="just">
              <a:lnSpc>
                <a:spcPct val="100000"/>
              </a:lnSpc>
              <a:spcBef>
                <a:spcPts val="1400"/>
              </a:spcBef>
              <a:spcAft>
                <a:spcPts val="0"/>
              </a:spcAft>
              <a:buClr>
                <a:schemeClr val="lt2"/>
              </a:buClr>
              <a:buSzPts val="2400"/>
              <a:buFont typeface="Times"/>
              <a:buNone/>
            </a:pPr>
            <a:r>
              <a:rPr b="0" i="0" lang="en-US" sz="2400" u="none">
                <a:solidFill>
                  <a:schemeClr val="lt2"/>
                </a:solidFill>
                <a:latin typeface="Times"/>
                <a:ea typeface="Times"/>
                <a:cs typeface="Times"/>
                <a:sym typeface="Times"/>
              </a:rPr>
              <a:t>3. The third group has 128 customers; each needs 64 addresses</a:t>
            </a:r>
            <a:r>
              <a:rPr b="0" i="0" lang="en-US" sz="2800" u="none">
                <a:solidFill>
                  <a:schemeClr val="lt2"/>
                </a:solidFill>
                <a:latin typeface="Times"/>
                <a:ea typeface="Times"/>
                <a:cs typeface="Times"/>
                <a:sym typeface="Times"/>
              </a:rPr>
              <a:t>.</a:t>
            </a:r>
            <a:br>
              <a:rPr b="0" i="0" lang="en-US" sz="2800" u="none">
                <a:solidFill>
                  <a:schemeClr val="dk1"/>
                </a:solidFill>
                <a:latin typeface="Times"/>
                <a:ea typeface="Times"/>
                <a:cs typeface="Times"/>
                <a:sym typeface="Times"/>
              </a:rPr>
            </a:br>
            <a:br>
              <a:rPr b="0" i="0" lang="en-US" sz="2800" u="none">
                <a:solidFill>
                  <a:schemeClr val="dk1"/>
                </a:solidFill>
                <a:latin typeface="Times"/>
                <a:ea typeface="Times"/>
                <a:cs typeface="Times"/>
                <a:sym typeface="Times"/>
              </a:rPr>
            </a:br>
            <a:r>
              <a:rPr b="0" i="0" lang="en-US" sz="2800" u="none">
                <a:solidFill>
                  <a:srgbClr val="002060"/>
                </a:solidFill>
                <a:latin typeface="Times"/>
                <a:ea typeface="Times"/>
                <a:cs typeface="Times"/>
                <a:sym typeface="Times"/>
              </a:rPr>
              <a:t>Design the subblocks and give the slash notation for each subblock. Find out how many addresses are still available after these allocations.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506" name="Shape 506"/>
        <p:cNvGrpSpPr/>
        <p:nvPr/>
      </p:nvGrpSpPr>
      <p:grpSpPr>
        <a:xfrm>
          <a:off x="0" y="0"/>
          <a:ext cx="0" cy="0"/>
          <a:chOff x="0" y="0"/>
          <a:chExt cx="0" cy="0"/>
        </a:xfrm>
      </p:grpSpPr>
      <p:sp>
        <p:nvSpPr>
          <p:cNvPr id="507" name="Google Shape;507;p55"/>
          <p:cNvSpPr txBox="1"/>
          <p:nvPr/>
        </p:nvSpPr>
        <p:spPr>
          <a:xfrm>
            <a:off x="76200" y="68262"/>
            <a:ext cx="174466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 </a:t>
            </a:r>
            <a:endParaRPr/>
          </a:p>
        </p:txBody>
      </p:sp>
      <p:sp>
        <p:nvSpPr>
          <p:cNvPr id="508" name="Google Shape;508;p55"/>
          <p:cNvSpPr txBox="1"/>
          <p:nvPr/>
        </p:nvSpPr>
        <p:spPr>
          <a:xfrm>
            <a:off x="304800" y="762000"/>
            <a:ext cx="8610600" cy="55086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200"/>
              <a:buFont typeface="Times"/>
              <a:buNone/>
            </a:pPr>
            <a:r>
              <a:rPr b="1" i="0" lang="en-US" sz="3200" u="none">
                <a:solidFill>
                  <a:schemeClr val="lt2"/>
                </a:solidFill>
                <a:latin typeface="Times"/>
                <a:ea typeface="Times"/>
                <a:cs typeface="Times"/>
                <a:sym typeface="Times"/>
              </a:rPr>
              <a:t>Group 1</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For this group, there are 64 customers and each customer needs 256 addresses.</a:t>
            </a:r>
            <a:endParaRPr/>
          </a:p>
          <a:p>
            <a:pPr indent="0" lvl="0" marL="0" marR="0" rtl="0" algn="just">
              <a:lnSpc>
                <a:spcPct val="100000"/>
              </a:lnSpc>
              <a:spcBef>
                <a:spcPts val="1600"/>
              </a:spcBef>
              <a:spcAft>
                <a:spcPts val="0"/>
              </a:spcAft>
              <a:buClr>
                <a:srgbClr val="000000"/>
              </a:buClr>
              <a:buSzPts val="3200"/>
              <a:buFont typeface="Times"/>
              <a:buNone/>
            </a:pPr>
            <a:r>
              <a:rPr b="0" i="0" lang="en-US" sz="3200" u="none">
                <a:solidFill>
                  <a:srgbClr val="000000"/>
                </a:solidFill>
                <a:latin typeface="Times"/>
                <a:ea typeface="Times"/>
                <a:cs typeface="Times"/>
                <a:sym typeface="Times"/>
              </a:rPr>
              <a:t>Total addresses </a:t>
            </a:r>
            <a:r>
              <a:rPr b="0" i="0" lang="en-US" sz="3200" u="none">
                <a:solidFill>
                  <a:srgbClr val="000000"/>
                </a:solidFill>
                <a:latin typeface="Noto Sans Symbols"/>
                <a:ea typeface="Noto Sans Symbols"/>
                <a:cs typeface="Noto Sans Symbols"/>
                <a:sym typeface="Noto Sans Symbols"/>
              </a:rPr>
              <a:t>=</a:t>
            </a:r>
            <a:r>
              <a:rPr b="0" i="0" lang="en-US" sz="3200" u="none">
                <a:solidFill>
                  <a:srgbClr val="000000"/>
                </a:solidFill>
                <a:latin typeface="Times"/>
                <a:ea typeface="Times"/>
                <a:cs typeface="Times"/>
                <a:sym typeface="Times"/>
              </a:rPr>
              <a:t> 64 </a:t>
            </a:r>
            <a:r>
              <a:rPr b="0" i="0" lang="en-US" sz="3200" u="none">
                <a:solidFill>
                  <a:srgbClr val="000000"/>
                </a:solidFill>
                <a:latin typeface="Noto Sans Symbols"/>
                <a:ea typeface="Noto Sans Symbols"/>
                <a:cs typeface="Noto Sans Symbols"/>
                <a:sym typeface="Noto Sans Symbols"/>
              </a:rPr>
              <a:t>×</a:t>
            </a:r>
            <a:r>
              <a:rPr b="0" i="0" lang="en-US" sz="3200" u="none">
                <a:solidFill>
                  <a:srgbClr val="000000"/>
                </a:solidFill>
                <a:latin typeface="Times"/>
                <a:ea typeface="Times"/>
                <a:cs typeface="Times"/>
                <a:sym typeface="Times"/>
              </a:rPr>
              <a:t> 256 </a:t>
            </a:r>
            <a:r>
              <a:rPr b="0" i="0" lang="en-US" sz="3200" u="none">
                <a:solidFill>
                  <a:srgbClr val="000000"/>
                </a:solidFill>
                <a:latin typeface="Noto Sans Symbols"/>
                <a:ea typeface="Noto Sans Symbols"/>
                <a:cs typeface="Noto Sans Symbols"/>
                <a:sym typeface="Noto Sans Symbols"/>
              </a:rPr>
              <a:t>=</a:t>
            </a:r>
            <a:r>
              <a:rPr b="0" i="0" lang="en-US" sz="3200" u="none">
                <a:solidFill>
                  <a:srgbClr val="000000"/>
                </a:solidFill>
                <a:latin typeface="Times"/>
                <a:ea typeface="Times"/>
                <a:cs typeface="Times"/>
                <a:sym typeface="Times"/>
              </a:rPr>
              <a:t> 16,384 = 2</a:t>
            </a:r>
            <a:r>
              <a:rPr b="0" baseline="30000" i="0" lang="en-US" sz="3200" u="none">
                <a:solidFill>
                  <a:srgbClr val="000000"/>
                </a:solidFill>
                <a:latin typeface="Times"/>
                <a:ea typeface="Times"/>
                <a:cs typeface="Times"/>
                <a:sym typeface="Times"/>
              </a:rPr>
              <a:t>14</a:t>
            </a:r>
            <a:r>
              <a:rPr b="0" i="0" lang="en-US" sz="3200" u="none">
                <a:solidFill>
                  <a:srgbClr val="000000"/>
                </a:solidFill>
                <a:latin typeface="Times"/>
                <a:ea typeface="Times"/>
                <a:cs typeface="Times"/>
                <a:sym typeface="Times"/>
              </a:rPr>
              <a:t> </a:t>
            </a:r>
            <a:endParaRPr/>
          </a:p>
          <a:p>
            <a:pPr indent="0" lvl="0" marL="0" marR="0" rtl="0" algn="just">
              <a:lnSpc>
                <a:spcPct val="100000"/>
              </a:lnSpc>
              <a:spcBef>
                <a:spcPts val="1600"/>
              </a:spcBef>
              <a:spcAft>
                <a:spcPts val="0"/>
              </a:spcAft>
              <a:buClr>
                <a:schemeClr val="lt2"/>
              </a:buClr>
              <a:buSzPts val="3200"/>
              <a:buFont typeface="Times"/>
              <a:buNone/>
            </a:pPr>
            <a:r>
              <a:rPr b="0" baseline="30000" i="0" lang="en-US" sz="3200" u="none">
                <a:solidFill>
                  <a:schemeClr val="lt2"/>
                </a:solidFill>
                <a:latin typeface="Times"/>
                <a:ea typeface="Times"/>
                <a:cs typeface="Times"/>
                <a:sym typeface="Times"/>
              </a:rPr>
              <a:t> </a:t>
            </a:r>
            <a:r>
              <a:rPr b="0" i="0" lang="en-US" sz="3200" u="none">
                <a:solidFill>
                  <a:schemeClr val="lt2"/>
                </a:solidFill>
                <a:latin typeface="Times"/>
                <a:ea typeface="Times"/>
                <a:cs typeface="Times"/>
                <a:sym typeface="Times"/>
              </a:rPr>
              <a:t> new mask = 32-14=/18</a:t>
            </a:r>
            <a:endParaRPr/>
          </a:p>
          <a:p>
            <a:pPr indent="0" lvl="0" marL="0" marR="0" rtl="0" algn="just">
              <a:lnSpc>
                <a:spcPct val="100000"/>
              </a:lnSpc>
              <a:spcBef>
                <a:spcPts val="1600"/>
              </a:spcBef>
              <a:spcAft>
                <a:spcPts val="0"/>
              </a:spcAft>
              <a:buClr>
                <a:schemeClr val="lt2"/>
              </a:buClr>
              <a:buSzPts val="3200"/>
              <a:buFont typeface="Times"/>
              <a:buNone/>
            </a:pPr>
            <a:r>
              <a:rPr b="0" baseline="30000" i="0" lang="en-US" sz="3200" u="none">
                <a:solidFill>
                  <a:schemeClr val="lt2"/>
                </a:solidFill>
                <a:latin typeface="Times"/>
                <a:ea typeface="Times"/>
                <a:cs typeface="Times"/>
                <a:sym typeface="Times"/>
              </a:rPr>
              <a:t> </a:t>
            </a:r>
            <a:r>
              <a:rPr b="0" i="0" lang="en-US" sz="3200" u="none">
                <a:solidFill>
                  <a:schemeClr val="lt2"/>
                </a:solidFill>
                <a:latin typeface="Times"/>
                <a:ea typeface="Times"/>
                <a:cs typeface="Times"/>
                <a:sym typeface="Times"/>
              </a:rPr>
              <a:t> First address of Group 1 : 190.100.0.0/18</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 Last address of Group 1 : 190.100.63.255/18</a:t>
            </a:r>
            <a:endParaRPr b="0" baseline="30000" i="0" sz="3200" u="none">
              <a:solidFill>
                <a:schemeClr val="lt2"/>
              </a:solidFill>
              <a:latin typeface="Times"/>
              <a:ea typeface="Times"/>
              <a:cs typeface="Times"/>
              <a:sym typeface="Times"/>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512" name="Shape 512"/>
        <p:cNvGrpSpPr/>
        <p:nvPr/>
      </p:nvGrpSpPr>
      <p:grpSpPr>
        <a:xfrm>
          <a:off x="0" y="0"/>
          <a:ext cx="0" cy="0"/>
          <a:chOff x="0" y="0"/>
          <a:chExt cx="0" cy="0"/>
        </a:xfrm>
      </p:grpSpPr>
      <p:sp>
        <p:nvSpPr>
          <p:cNvPr id="513" name="Google Shape;513;p56"/>
          <p:cNvSpPr txBox="1"/>
          <p:nvPr/>
        </p:nvSpPr>
        <p:spPr>
          <a:xfrm>
            <a:off x="76200" y="76200"/>
            <a:ext cx="3876675"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 (Continued) </a:t>
            </a:r>
            <a:endParaRPr/>
          </a:p>
        </p:txBody>
      </p:sp>
      <p:sp>
        <p:nvSpPr>
          <p:cNvPr id="514" name="Google Shape;514;p56"/>
          <p:cNvSpPr txBox="1"/>
          <p:nvPr/>
        </p:nvSpPr>
        <p:spPr>
          <a:xfrm>
            <a:off x="304800" y="762000"/>
            <a:ext cx="8610600" cy="47704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200"/>
              <a:buFont typeface="Times"/>
              <a:buNone/>
            </a:pPr>
            <a:r>
              <a:rPr b="1" i="0" lang="en-US" sz="3200" u="none">
                <a:solidFill>
                  <a:schemeClr val="lt2"/>
                </a:solidFill>
                <a:latin typeface="Times"/>
                <a:ea typeface="Times"/>
                <a:cs typeface="Times"/>
                <a:sym typeface="Times"/>
              </a:rPr>
              <a:t>Group 2</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For this group, there are 128 customers and each customer needs 128 addresses.</a:t>
            </a:r>
            <a:endParaRPr/>
          </a:p>
          <a:p>
            <a:pPr indent="0" lvl="0" marL="0" marR="0" rtl="0" algn="just">
              <a:lnSpc>
                <a:spcPct val="100000"/>
              </a:lnSpc>
              <a:spcBef>
                <a:spcPts val="1600"/>
              </a:spcBef>
              <a:spcAft>
                <a:spcPts val="0"/>
              </a:spcAft>
              <a:buClr>
                <a:srgbClr val="000000"/>
              </a:buClr>
              <a:buSzPts val="3200"/>
              <a:buFont typeface="Times"/>
              <a:buNone/>
            </a:pPr>
            <a:r>
              <a:rPr b="0" i="0" lang="en-US" sz="3200" u="none">
                <a:solidFill>
                  <a:srgbClr val="000000"/>
                </a:solidFill>
                <a:latin typeface="Times"/>
                <a:ea typeface="Times"/>
                <a:cs typeface="Times"/>
                <a:sym typeface="Times"/>
              </a:rPr>
              <a:t>Total addresses </a:t>
            </a:r>
            <a:r>
              <a:rPr b="0" i="0" lang="en-US" sz="3200" u="none">
                <a:solidFill>
                  <a:srgbClr val="000000"/>
                </a:solidFill>
                <a:latin typeface="Noto Sans Symbols"/>
                <a:ea typeface="Noto Sans Symbols"/>
                <a:cs typeface="Noto Sans Symbols"/>
                <a:sym typeface="Noto Sans Symbols"/>
              </a:rPr>
              <a:t>=</a:t>
            </a:r>
            <a:r>
              <a:rPr b="0" i="0" lang="en-US" sz="3200" u="none">
                <a:solidFill>
                  <a:srgbClr val="000000"/>
                </a:solidFill>
                <a:latin typeface="Times"/>
                <a:ea typeface="Times"/>
                <a:cs typeface="Times"/>
                <a:sym typeface="Times"/>
              </a:rPr>
              <a:t> 128 </a:t>
            </a:r>
            <a:r>
              <a:rPr b="0" i="0" lang="en-US" sz="3200" u="none">
                <a:solidFill>
                  <a:srgbClr val="000000"/>
                </a:solidFill>
                <a:latin typeface="Noto Sans Symbols"/>
                <a:ea typeface="Noto Sans Symbols"/>
                <a:cs typeface="Noto Sans Symbols"/>
                <a:sym typeface="Noto Sans Symbols"/>
              </a:rPr>
              <a:t>×</a:t>
            </a:r>
            <a:r>
              <a:rPr b="0" i="0" lang="en-US" sz="3200" u="none">
                <a:solidFill>
                  <a:srgbClr val="000000"/>
                </a:solidFill>
                <a:latin typeface="Times"/>
                <a:ea typeface="Times"/>
                <a:cs typeface="Times"/>
                <a:sym typeface="Times"/>
              </a:rPr>
              <a:t> 128 </a:t>
            </a:r>
            <a:r>
              <a:rPr b="0" i="0" lang="en-US" sz="3200" u="none">
                <a:solidFill>
                  <a:srgbClr val="000000"/>
                </a:solidFill>
                <a:latin typeface="Noto Sans Symbols"/>
                <a:ea typeface="Noto Sans Symbols"/>
                <a:cs typeface="Noto Sans Symbols"/>
                <a:sym typeface="Noto Sans Symbols"/>
              </a:rPr>
              <a:t>=</a:t>
            </a:r>
            <a:r>
              <a:rPr b="0" i="0" lang="en-US" sz="3200" u="none">
                <a:solidFill>
                  <a:srgbClr val="000000"/>
                </a:solidFill>
                <a:latin typeface="Times"/>
                <a:ea typeface="Times"/>
                <a:cs typeface="Times"/>
                <a:sym typeface="Times"/>
              </a:rPr>
              <a:t> 16,384 = 2</a:t>
            </a:r>
            <a:r>
              <a:rPr b="0" baseline="30000" i="0" lang="en-US" sz="3200" u="none">
                <a:solidFill>
                  <a:srgbClr val="000000"/>
                </a:solidFill>
                <a:latin typeface="Times"/>
                <a:ea typeface="Times"/>
                <a:cs typeface="Times"/>
                <a:sym typeface="Times"/>
              </a:rPr>
              <a:t>14</a:t>
            </a:r>
            <a:r>
              <a:rPr b="0" i="0" lang="en-US" sz="3200" u="none">
                <a:solidFill>
                  <a:srgbClr val="000000"/>
                </a:solidFill>
                <a:latin typeface="Times"/>
                <a:ea typeface="Times"/>
                <a:cs typeface="Times"/>
                <a:sym typeface="Times"/>
              </a:rPr>
              <a:t> </a:t>
            </a:r>
            <a:endParaRPr/>
          </a:p>
          <a:p>
            <a:pPr indent="0" lvl="0" marL="0" marR="0" rtl="0" algn="just">
              <a:lnSpc>
                <a:spcPct val="100000"/>
              </a:lnSpc>
              <a:spcBef>
                <a:spcPts val="1600"/>
              </a:spcBef>
              <a:spcAft>
                <a:spcPts val="0"/>
              </a:spcAft>
              <a:buClr>
                <a:schemeClr val="lt2"/>
              </a:buClr>
              <a:buSzPts val="3200"/>
              <a:buFont typeface="Times"/>
              <a:buNone/>
            </a:pPr>
            <a:r>
              <a:rPr b="0" baseline="30000" i="0" lang="en-US" sz="3200" u="none">
                <a:solidFill>
                  <a:schemeClr val="lt2"/>
                </a:solidFill>
                <a:latin typeface="Times"/>
                <a:ea typeface="Times"/>
                <a:cs typeface="Times"/>
                <a:sym typeface="Times"/>
              </a:rPr>
              <a:t> </a:t>
            </a:r>
            <a:r>
              <a:rPr b="0" i="0" lang="en-US" sz="3200" u="none">
                <a:solidFill>
                  <a:schemeClr val="lt2"/>
                </a:solidFill>
                <a:latin typeface="Times"/>
                <a:ea typeface="Times"/>
                <a:cs typeface="Times"/>
                <a:sym typeface="Times"/>
              </a:rPr>
              <a:t> new mask = 32-14=/18</a:t>
            </a:r>
            <a:endParaRPr/>
          </a:p>
          <a:p>
            <a:pPr indent="0" lvl="0" marL="0" marR="0" rtl="0" algn="just">
              <a:lnSpc>
                <a:spcPct val="100000"/>
              </a:lnSpc>
              <a:spcBef>
                <a:spcPts val="1600"/>
              </a:spcBef>
              <a:spcAft>
                <a:spcPts val="0"/>
              </a:spcAft>
              <a:buClr>
                <a:schemeClr val="lt2"/>
              </a:buClr>
              <a:buSzPts val="3200"/>
              <a:buFont typeface="Times"/>
              <a:buNone/>
            </a:pPr>
            <a:r>
              <a:rPr b="0" baseline="30000" i="0" lang="en-US" sz="3200" u="none">
                <a:solidFill>
                  <a:schemeClr val="lt2"/>
                </a:solidFill>
                <a:latin typeface="Times"/>
                <a:ea typeface="Times"/>
                <a:cs typeface="Times"/>
                <a:sym typeface="Times"/>
              </a:rPr>
              <a:t> </a:t>
            </a:r>
            <a:r>
              <a:rPr b="0" i="0" lang="en-US" sz="3200" u="none">
                <a:solidFill>
                  <a:schemeClr val="lt2"/>
                </a:solidFill>
                <a:latin typeface="Times"/>
                <a:ea typeface="Times"/>
                <a:cs typeface="Times"/>
                <a:sym typeface="Times"/>
              </a:rPr>
              <a:t> First address of Group 1 : 190.100.64.0/18</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 Last address of Group 1 : 190.100.127.255/18</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518" name="Shape 518"/>
        <p:cNvGrpSpPr/>
        <p:nvPr/>
      </p:nvGrpSpPr>
      <p:grpSpPr>
        <a:xfrm>
          <a:off x="0" y="0"/>
          <a:ext cx="0" cy="0"/>
          <a:chOff x="0" y="0"/>
          <a:chExt cx="0" cy="0"/>
        </a:xfrm>
      </p:grpSpPr>
      <p:sp>
        <p:nvSpPr>
          <p:cNvPr id="519" name="Google Shape;519;p57"/>
          <p:cNvSpPr txBox="1"/>
          <p:nvPr/>
        </p:nvSpPr>
        <p:spPr>
          <a:xfrm>
            <a:off x="76200" y="76200"/>
            <a:ext cx="3876675"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 (Continued) </a:t>
            </a:r>
            <a:endParaRPr/>
          </a:p>
        </p:txBody>
      </p:sp>
      <p:sp>
        <p:nvSpPr>
          <p:cNvPr id="520" name="Google Shape;520;p57"/>
          <p:cNvSpPr txBox="1"/>
          <p:nvPr/>
        </p:nvSpPr>
        <p:spPr>
          <a:xfrm>
            <a:off x="304800" y="1066800"/>
            <a:ext cx="8610600" cy="47704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200"/>
              <a:buFont typeface="Times"/>
              <a:buNone/>
            </a:pPr>
            <a:r>
              <a:rPr b="1" i="0" lang="en-US" sz="3200" u="none">
                <a:solidFill>
                  <a:schemeClr val="lt2"/>
                </a:solidFill>
                <a:latin typeface="Times"/>
                <a:ea typeface="Times"/>
                <a:cs typeface="Times"/>
                <a:sym typeface="Times"/>
              </a:rPr>
              <a:t>Group 3</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For this group, there are 128 customers and each customer needs 64 addresses.</a:t>
            </a:r>
            <a:endParaRPr/>
          </a:p>
          <a:p>
            <a:pPr indent="0" lvl="0" marL="0" marR="0" rtl="0" algn="just">
              <a:lnSpc>
                <a:spcPct val="100000"/>
              </a:lnSpc>
              <a:spcBef>
                <a:spcPts val="1600"/>
              </a:spcBef>
              <a:spcAft>
                <a:spcPts val="0"/>
              </a:spcAft>
              <a:buClr>
                <a:srgbClr val="000000"/>
              </a:buClr>
              <a:buSzPts val="3200"/>
              <a:buFont typeface="Times"/>
              <a:buNone/>
            </a:pPr>
            <a:r>
              <a:rPr b="0" i="0" lang="en-US" sz="3200" u="none">
                <a:solidFill>
                  <a:srgbClr val="000000"/>
                </a:solidFill>
                <a:latin typeface="Times"/>
                <a:ea typeface="Times"/>
                <a:cs typeface="Times"/>
                <a:sym typeface="Times"/>
              </a:rPr>
              <a:t>Total addresses </a:t>
            </a:r>
            <a:r>
              <a:rPr b="0" i="0" lang="en-US" sz="3200" u="none">
                <a:solidFill>
                  <a:srgbClr val="000000"/>
                </a:solidFill>
                <a:latin typeface="Noto Sans Symbols"/>
                <a:ea typeface="Noto Sans Symbols"/>
                <a:cs typeface="Noto Sans Symbols"/>
                <a:sym typeface="Noto Sans Symbols"/>
              </a:rPr>
              <a:t>=</a:t>
            </a:r>
            <a:r>
              <a:rPr b="0" i="0" lang="en-US" sz="3200" u="none">
                <a:solidFill>
                  <a:srgbClr val="000000"/>
                </a:solidFill>
                <a:latin typeface="Times"/>
                <a:ea typeface="Times"/>
                <a:cs typeface="Times"/>
                <a:sym typeface="Times"/>
              </a:rPr>
              <a:t> 128 </a:t>
            </a:r>
            <a:r>
              <a:rPr b="0" i="0" lang="en-US" sz="3200" u="none">
                <a:solidFill>
                  <a:srgbClr val="000000"/>
                </a:solidFill>
                <a:latin typeface="Noto Sans Symbols"/>
                <a:ea typeface="Noto Sans Symbols"/>
                <a:cs typeface="Noto Sans Symbols"/>
                <a:sym typeface="Noto Sans Symbols"/>
              </a:rPr>
              <a:t>×</a:t>
            </a:r>
            <a:r>
              <a:rPr b="0" i="0" lang="en-US" sz="3200" u="none">
                <a:solidFill>
                  <a:srgbClr val="000000"/>
                </a:solidFill>
                <a:latin typeface="Times"/>
                <a:ea typeface="Times"/>
                <a:cs typeface="Times"/>
                <a:sym typeface="Times"/>
              </a:rPr>
              <a:t> 64 </a:t>
            </a:r>
            <a:r>
              <a:rPr b="0" i="0" lang="en-US" sz="3200" u="none">
                <a:solidFill>
                  <a:srgbClr val="000000"/>
                </a:solidFill>
                <a:latin typeface="Noto Sans Symbols"/>
                <a:ea typeface="Noto Sans Symbols"/>
                <a:cs typeface="Noto Sans Symbols"/>
                <a:sym typeface="Noto Sans Symbols"/>
              </a:rPr>
              <a:t>=</a:t>
            </a:r>
            <a:r>
              <a:rPr b="0" i="0" lang="en-US" sz="3200" u="none">
                <a:solidFill>
                  <a:srgbClr val="000000"/>
                </a:solidFill>
                <a:latin typeface="Times"/>
                <a:ea typeface="Times"/>
                <a:cs typeface="Times"/>
                <a:sym typeface="Times"/>
              </a:rPr>
              <a:t> 8192 = 2</a:t>
            </a:r>
            <a:r>
              <a:rPr b="0" baseline="30000" i="0" lang="en-US" sz="3200" u="none">
                <a:solidFill>
                  <a:srgbClr val="000000"/>
                </a:solidFill>
                <a:latin typeface="Times"/>
                <a:ea typeface="Times"/>
                <a:cs typeface="Times"/>
                <a:sym typeface="Times"/>
              </a:rPr>
              <a:t>13</a:t>
            </a:r>
            <a:r>
              <a:rPr b="0" i="0" lang="en-US" sz="3200" u="none">
                <a:solidFill>
                  <a:srgbClr val="000000"/>
                </a:solidFill>
                <a:latin typeface="Times"/>
                <a:ea typeface="Times"/>
                <a:cs typeface="Times"/>
                <a:sym typeface="Times"/>
              </a:rPr>
              <a:t> </a:t>
            </a:r>
            <a:endParaRPr/>
          </a:p>
          <a:p>
            <a:pPr indent="0" lvl="0" marL="0" marR="0" rtl="0" algn="just">
              <a:lnSpc>
                <a:spcPct val="100000"/>
              </a:lnSpc>
              <a:spcBef>
                <a:spcPts val="1600"/>
              </a:spcBef>
              <a:spcAft>
                <a:spcPts val="0"/>
              </a:spcAft>
              <a:buClr>
                <a:schemeClr val="lt2"/>
              </a:buClr>
              <a:buSzPts val="3200"/>
              <a:buFont typeface="Times"/>
              <a:buNone/>
            </a:pPr>
            <a:r>
              <a:rPr b="0" baseline="30000" i="0" lang="en-US" sz="3200" u="none">
                <a:solidFill>
                  <a:schemeClr val="lt2"/>
                </a:solidFill>
                <a:latin typeface="Times"/>
                <a:ea typeface="Times"/>
                <a:cs typeface="Times"/>
                <a:sym typeface="Times"/>
              </a:rPr>
              <a:t> </a:t>
            </a:r>
            <a:r>
              <a:rPr b="0" i="0" lang="en-US" sz="3200" u="none">
                <a:solidFill>
                  <a:schemeClr val="lt2"/>
                </a:solidFill>
                <a:latin typeface="Times"/>
                <a:ea typeface="Times"/>
                <a:cs typeface="Times"/>
                <a:sym typeface="Times"/>
              </a:rPr>
              <a:t> new mask = 32-13=/19</a:t>
            </a:r>
            <a:endParaRPr/>
          </a:p>
          <a:p>
            <a:pPr indent="0" lvl="0" marL="0" marR="0" rtl="0" algn="just">
              <a:lnSpc>
                <a:spcPct val="100000"/>
              </a:lnSpc>
              <a:spcBef>
                <a:spcPts val="1600"/>
              </a:spcBef>
              <a:spcAft>
                <a:spcPts val="0"/>
              </a:spcAft>
              <a:buClr>
                <a:schemeClr val="lt2"/>
              </a:buClr>
              <a:buSzPts val="3200"/>
              <a:buFont typeface="Times"/>
              <a:buNone/>
            </a:pPr>
            <a:r>
              <a:rPr b="0" baseline="30000" i="0" lang="en-US" sz="3200" u="none">
                <a:solidFill>
                  <a:schemeClr val="lt2"/>
                </a:solidFill>
                <a:latin typeface="Times"/>
                <a:ea typeface="Times"/>
                <a:cs typeface="Times"/>
                <a:sym typeface="Times"/>
              </a:rPr>
              <a:t> </a:t>
            </a:r>
            <a:r>
              <a:rPr b="0" i="0" lang="en-US" sz="3200" u="none">
                <a:solidFill>
                  <a:schemeClr val="lt2"/>
                </a:solidFill>
                <a:latin typeface="Times"/>
                <a:ea typeface="Times"/>
                <a:cs typeface="Times"/>
                <a:sym typeface="Times"/>
              </a:rPr>
              <a:t> First address of Group 1 : 190.100.128.0/19</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 Last address of Group 1 : 190.100.159.255/19</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pic>
        <p:nvPicPr>
          <p:cNvPr id="525" name="Google Shape;525;p58"/>
          <p:cNvPicPr preferRelativeResize="0"/>
          <p:nvPr/>
        </p:nvPicPr>
        <p:blipFill rotWithShape="1">
          <a:blip r:embed="rId3">
            <a:alphaModFix/>
          </a:blip>
          <a:srcRect b="0" l="0" r="0" t="0"/>
          <a:stretch/>
        </p:blipFill>
        <p:spPr>
          <a:xfrm>
            <a:off x="457200" y="1828800"/>
            <a:ext cx="8040687" cy="3427412"/>
          </a:xfrm>
          <a:prstGeom prst="rect">
            <a:avLst/>
          </a:prstGeom>
          <a:noFill/>
          <a:ln cap="flat" cmpd="sng" w="9525">
            <a:solidFill>
              <a:schemeClr val="dk1"/>
            </a:solidFill>
            <a:prstDash val="solid"/>
            <a:miter lim="800000"/>
            <a:headEnd len="sm" w="sm" type="none"/>
            <a:tailEnd len="sm" w="sm" type="none"/>
          </a:ln>
        </p:spPr>
      </p:pic>
      <p:sp>
        <p:nvSpPr>
          <p:cNvPr id="526" name="Google Shape;526;p58"/>
          <p:cNvSpPr txBox="1"/>
          <p:nvPr/>
        </p:nvSpPr>
        <p:spPr>
          <a:xfrm>
            <a:off x="457200" y="990600"/>
            <a:ext cx="50292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Step 1:</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530" name="Shape 530"/>
        <p:cNvGrpSpPr/>
        <p:nvPr/>
      </p:nvGrpSpPr>
      <p:grpSpPr>
        <a:xfrm>
          <a:off x="0" y="0"/>
          <a:ext cx="0" cy="0"/>
          <a:chOff x="0" y="0"/>
          <a:chExt cx="0" cy="0"/>
        </a:xfrm>
      </p:grpSpPr>
      <p:sp>
        <p:nvSpPr>
          <p:cNvPr id="531" name="Google Shape;531;p59"/>
          <p:cNvSpPr txBox="1"/>
          <p:nvPr/>
        </p:nvSpPr>
        <p:spPr>
          <a:xfrm>
            <a:off x="76200" y="68262"/>
            <a:ext cx="1744662"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 </a:t>
            </a:r>
            <a:endParaRPr/>
          </a:p>
        </p:txBody>
      </p:sp>
      <p:sp>
        <p:nvSpPr>
          <p:cNvPr id="532" name="Google Shape;532;p59"/>
          <p:cNvSpPr txBox="1"/>
          <p:nvPr/>
        </p:nvSpPr>
        <p:spPr>
          <a:xfrm>
            <a:off x="304800" y="762000"/>
            <a:ext cx="8610600" cy="57546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200"/>
              <a:buFont typeface="Times"/>
              <a:buNone/>
            </a:pPr>
            <a:r>
              <a:rPr b="1" i="0" lang="en-US" sz="3200" u="none">
                <a:solidFill>
                  <a:schemeClr val="lt2"/>
                </a:solidFill>
                <a:latin typeface="Times"/>
                <a:ea typeface="Times"/>
                <a:cs typeface="Times"/>
                <a:sym typeface="Times"/>
              </a:rPr>
              <a:t>Group 1</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For this group, there are 64 sub blocks . </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Old Subnet mask = /18</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New subnet mask = 18+log(</a:t>
            </a:r>
            <a:r>
              <a:rPr b="0" i="0" lang="en-US" sz="3200" u="none">
                <a:solidFill>
                  <a:srgbClr val="000000"/>
                </a:solidFill>
                <a:latin typeface="Times"/>
                <a:ea typeface="Times"/>
                <a:cs typeface="Times"/>
                <a:sym typeface="Times"/>
              </a:rPr>
              <a:t>2</a:t>
            </a:r>
            <a:r>
              <a:rPr b="0" baseline="30000" i="0" lang="en-US" sz="3200" u="none">
                <a:solidFill>
                  <a:srgbClr val="000000"/>
                </a:solidFill>
                <a:latin typeface="Times"/>
                <a:ea typeface="Times"/>
                <a:cs typeface="Times"/>
                <a:sym typeface="Times"/>
              </a:rPr>
              <a:t>6</a:t>
            </a:r>
            <a:r>
              <a:rPr b="0" i="0" lang="en-US" sz="3200" u="none">
                <a:solidFill>
                  <a:srgbClr val="000000"/>
                </a:solidFill>
                <a:latin typeface="Times"/>
                <a:ea typeface="Times"/>
                <a:cs typeface="Times"/>
                <a:sym typeface="Times"/>
              </a:rPr>
              <a:t> )=18+6=24</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01: 190.100.0.0/24</a:t>
            </a:r>
            <a:r>
              <a:rPr b="0" i="0" lang="en-US" sz="3200" u="none">
                <a:solidFill>
                  <a:srgbClr val="FF00FF"/>
                </a:solidFill>
                <a:latin typeface="Arial"/>
                <a:ea typeface="Arial"/>
                <a:cs typeface="Arial"/>
                <a:sym typeface="Arial"/>
              </a:rPr>
              <a:t>  </a:t>
            </a:r>
            <a:r>
              <a:rPr b="0" i="0" lang="en-US" sz="3200" u="none">
                <a:solidFill>
                  <a:srgbClr val="FF3300"/>
                </a:solidFill>
                <a:latin typeface="Arial"/>
                <a:ea typeface="Arial"/>
                <a:cs typeface="Arial"/>
                <a:sym typeface="Arial"/>
              </a:rPr>
              <a:t>🡺</a:t>
            </a:r>
            <a:r>
              <a:rPr b="0" i="0" lang="en-US" sz="3200" u="none">
                <a:solidFill>
                  <a:srgbClr val="000000"/>
                </a:solidFill>
                <a:latin typeface="Times"/>
                <a:ea typeface="Times"/>
                <a:cs typeface="Times"/>
                <a:sym typeface="Times"/>
              </a:rPr>
              <a:t>190.100.0.255/24</a:t>
            </a:r>
            <a:endParaRPr/>
          </a:p>
          <a:p>
            <a:pPr indent="0" lvl="0" marL="0" marR="0" rtl="0" algn="just">
              <a:lnSpc>
                <a:spcPct val="100000"/>
              </a:lnSpc>
              <a:spcBef>
                <a:spcPts val="1600"/>
              </a:spcBef>
              <a:spcAft>
                <a:spcPts val="0"/>
              </a:spcAft>
              <a:buClr>
                <a:srgbClr val="000000"/>
              </a:buClr>
              <a:buSzPts val="3200"/>
              <a:buFont typeface="Times"/>
              <a:buNone/>
            </a:pPr>
            <a:r>
              <a:rPr b="0" i="0" lang="en-US" sz="3200" u="none">
                <a:solidFill>
                  <a:srgbClr val="000000"/>
                </a:solidFill>
                <a:latin typeface="Times"/>
                <a:ea typeface="Times"/>
                <a:cs typeface="Times"/>
                <a:sym typeface="Times"/>
              </a:rPr>
              <a:t>02: 190.100.1.0/24  </a:t>
            </a:r>
            <a:r>
              <a:rPr b="0" i="0" lang="en-US" sz="3200" u="none">
                <a:solidFill>
                  <a:srgbClr val="FF3300"/>
                </a:solidFill>
                <a:latin typeface="Arial"/>
                <a:ea typeface="Arial"/>
                <a:cs typeface="Arial"/>
                <a:sym typeface="Arial"/>
              </a:rPr>
              <a:t>🡺</a:t>
            </a:r>
            <a:r>
              <a:rPr b="0" i="0" lang="en-US" sz="3200" u="none">
                <a:solidFill>
                  <a:srgbClr val="000000"/>
                </a:solidFill>
                <a:latin typeface="Times"/>
                <a:ea typeface="Times"/>
                <a:cs typeface="Times"/>
                <a:sym typeface="Times"/>
              </a:rPr>
              <a:t>190.100.1.255/24</a:t>
            </a:r>
            <a:endParaRPr/>
          </a:p>
          <a:p>
            <a:pPr indent="0" lvl="0" marL="0" marR="0" rtl="0" algn="just">
              <a:lnSpc>
                <a:spcPct val="100000"/>
              </a:lnSpc>
              <a:spcBef>
                <a:spcPts val="1600"/>
              </a:spcBef>
              <a:spcAft>
                <a:spcPts val="0"/>
              </a:spcAft>
              <a:buClr>
                <a:srgbClr val="000000"/>
              </a:buClr>
              <a:buSzPts val="3200"/>
              <a:buFont typeface="Times"/>
              <a:buNone/>
            </a:pPr>
            <a:r>
              <a:rPr b="0" i="0" lang="en-US" sz="3200" u="none">
                <a:solidFill>
                  <a:srgbClr val="000000"/>
                </a:solidFill>
                <a:latin typeface="Times"/>
                <a:ea typeface="Times"/>
                <a:cs typeface="Times"/>
                <a:sym typeface="Times"/>
              </a:rPr>
              <a:t>…………………………………..</a:t>
            </a:r>
            <a:endParaRPr/>
          </a:p>
          <a:p>
            <a:pPr indent="0" lvl="0" marL="0" marR="0" rtl="0" algn="just">
              <a:lnSpc>
                <a:spcPct val="100000"/>
              </a:lnSpc>
              <a:spcBef>
                <a:spcPts val="1600"/>
              </a:spcBef>
              <a:spcAft>
                <a:spcPts val="0"/>
              </a:spcAft>
              <a:buClr>
                <a:srgbClr val="000000"/>
              </a:buClr>
              <a:buSzPts val="3200"/>
              <a:buFont typeface="Times"/>
              <a:buNone/>
            </a:pPr>
            <a:r>
              <a:rPr b="0" i="0" lang="en-US" sz="3200" u="none">
                <a:solidFill>
                  <a:srgbClr val="000000"/>
                </a:solidFill>
                <a:latin typeface="Times"/>
                <a:ea typeface="Times"/>
                <a:cs typeface="Times"/>
                <a:sym typeface="Times"/>
              </a:rPr>
              <a:t>64: 190.100.63.0/24</a:t>
            </a:r>
            <a:r>
              <a:rPr b="0" i="0" lang="en-US" sz="3200" u="none">
                <a:solidFill>
                  <a:srgbClr val="FF3300"/>
                </a:solidFill>
                <a:latin typeface="Arial"/>
                <a:ea typeface="Arial"/>
                <a:cs typeface="Arial"/>
                <a:sym typeface="Arial"/>
              </a:rPr>
              <a:t>🡺</a:t>
            </a:r>
            <a:r>
              <a:rPr b="0" i="0" lang="en-US" sz="3200" u="none">
                <a:solidFill>
                  <a:srgbClr val="000000"/>
                </a:solidFill>
                <a:latin typeface="Times"/>
                <a:ea typeface="Times"/>
                <a:cs typeface="Times"/>
                <a:sym typeface="Times"/>
              </a:rPr>
              <a:t>190.100.63.255/24</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536" name="Shape 536"/>
        <p:cNvGrpSpPr/>
        <p:nvPr/>
      </p:nvGrpSpPr>
      <p:grpSpPr>
        <a:xfrm>
          <a:off x="0" y="0"/>
          <a:ext cx="0" cy="0"/>
          <a:chOff x="0" y="0"/>
          <a:chExt cx="0" cy="0"/>
        </a:xfrm>
      </p:grpSpPr>
      <p:sp>
        <p:nvSpPr>
          <p:cNvPr id="537" name="Google Shape;537;p60"/>
          <p:cNvSpPr txBox="1"/>
          <p:nvPr/>
        </p:nvSpPr>
        <p:spPr>
          <a:xfrm>
            <a:off x="76200" y="76200"/>
            <a:ext cx="3876675"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 (Continued) </a:t>
            </a:r>
            <a:endParaRPr/>
          </a:p>
        </p:txBody>
      </p:sp>
      <p:sp>
        <p:nvSpPr>
          <p:cNvPr id="538" name="Google Shape;538;p60"/>
          <p:cNvSpPr txBox="1"/>
          <p:nvPr/>
        </p:nvSpPr>
        <p:spPr>
          <a:xfrm>
            <a:off x="304800" y="762000"/>
            <a:ext cx="8610600" cy="501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200"/>
              <a:buFont typeface="Times"/>
              <a:buNone/>
            </a:pPr>
            <a:r>
              <a:rPr b="1" i="0" lang="en-US" sz="3200" u="none">
                <a:solidFill>
                  <a:schemeClr val="lt2"/>
                </a:solidFill>
                <a:latin typeface="Times"/>
                <a:ea typeface="Times"/>
                <a:cs typeface="Times"/>
                <a:sym typeface="Times"/>
              </a:rPr>
              <a:t>Group 2</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For this group, there are 128 sub blocks . </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Old Subnet mask = /18</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New subnet mask = 18+log(</a:t>
            </a:r>
            <a:r>
              <a:rPr b="0" i="0" lang="en-US" sz="3200" u="none">
                <a:solidFill>
                  <a:srgbClr val="000000"/>
                </a:solidFill>
                <a:latin typeface="Times"/>
                <a:ea typeface="Times"/>
                <a:cs typeface="Times"/>
                <a:sym typeface="Times"/>
              </a:rPr>
              <a:t>2</a:t>
            </a:r>
            <a:r>
              <a:rPr b="0" baseline="30000" i="0" lang="en-US" sz="3200" u="none">
                <a:solidFill>
                  <a:srgbClr val="000000"/>
                </a:solidFill>
                <a:latin typeface="Times"/>
                <a:ea typeface="Times"/>
                <a:cs typeface="Times"/>
                <a:sym typeface="Times"/>
              </a:rPr>
              <a:t>7</a:t>
            </a:r>
            <a:r>
              <a:rPr b="0" i="0" lang="en-US" sz="3200" u="none">
                <a:solidFill>
                  <a:srgbClr val="000000"/>
                </a:solidFill>
                <a:latin typeface="Times"/>
                <a:ea typeface="Times"/>
                <a:cs typeface="Times"/>
                <a:sym typeface="Times"/>
              </a:rPr>
              <a:t> )=18+7=25</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001: 190.100.64.0/25        </a:t>
            </a:r>
            <a:r>
              <a:rPr b="0" i="0" lang="en-US" sz="3200" u="none">
                <a:solidFill>
                  <a:srgbClr val="FF3300"/>
                </a:solidFill>
                <a:latin typeface="Arial"/>
                <a:ea typeface="Arial"/>
                <a:cs typeface="Arial"/>
                <a:sym typeface="Arial"/>
              </a:rPr>
              <a:t>🡺</a:t>
            </a:r>
            <a:r>
              <a:rPr b="0" i="0" lang="en-US" sz="3200" u="none">
                <a:solidFill>
                  <a:srgbClr val="000000"/>
                </a:solidFill>
                <a:latin typeface="Times"/>
                <a:ea typeface="Times"/>
                <a:cs typeface="Times"/>
                <a:sym typeface="Times"/>
              </a:rPr>
              <a:t>190.100.64.127/25</a:t>
            </a:r>
            <a:endParaRPr/>
          </a:p>
          <a:p>
            <a:pPr indent="0" lvl="0" marL="0" marR="0" rtl="0" algn="just">
              <a:lnSpc>
                <a:spcPct val="100000"/>
              </a:lnSpc>
              <a:spcBef>
                <a:spcPts val="1600"/>
              </a:spcBef>
              <a:spcAft>
                <a:spcPts val="0"/>
              </a:spcAft>
              <a:buClr>
                <a:srgbClr val="000000"/>
              </a:buClr>
              <a:buSzPts val="3200"/>
              <a:buFont typeface="Times"/>
              <a:buNone/>
            </a:pPr>
            <a:r>
              <a:rPr b="0" i="0" lang="en-US" sz="3200" u="none">
                <a:solidFill>
                  <a:srgbClr val="000000"/>
                </a:solidFill>
                <a:latin typeface="Times"/>
                <a:ea typeface="Times"/>
                <a:cs typeface="Times"/>
                <a:sym typeface="Times"/>
              </a:rPr>
              <a:t>002: 190.100.64.128/25    </a:t>
            </a:r>
            <a:r>
              <a:rPr b="0" i="0" lang="en-US" sz="3200" u="none">
                <a:solidFill>
                  <a:srgbClr val="FF3300"/>
                </a:solidFill>
                <a:latin typeface="Arial"/>
                <a:ea typeface="Arial"/>
                <a:cs typeface="Arial"/>
                <a:sym typeface="Arial"/>
              </a:rPr>
              <a:t>🡺</a:t>
            </a:r>
            <a:r>
              <a:rPr b="0" i="0" lang="en-US" sz="3200" u="none">
                <a:solidFill>
                  <a:srgbClr val="000000"/>
                </a:solidFill>
                <a:latin typeface="Times"/>
                <a:ea typeface="Times"/>
                <a:cs typeface="Times"/>
                <a:sym typeface="Times"/>
              </a:rPr>
              <a:t>190.100.64.255/25</a:t>
            </a:r>
            <a:endParaRPr/>
          </a:p>
          <a:p>
            <a:pPr indent="0" lvl="0" marL="0" marR="0" rtl="0" algn="just">
              <a:lnSpc>
                <a:spcPct val="100000"/>
              </a:lnSpc>
              <a:spcBef>
                <a:spcPts val="1600"/>
              </a:spcBef>
              <a:spcAft>
                <a:spcPts val="0"/>
              </a:spcAft>
              <a:buClr>
                <a:srgbClr val="000000"/>
              </a:buClr>
              <a:buSzPts val="3200"/>
              <a:buFont typeface="Times"/>
              <a:buNone/>
            </a:pPr>
            <a:r>
              <a:rPr b="0" i="0" lang="en-US" sz="3200" u="none">
                <a:solidFill>
                  <a:srgbClr val="000000"/>
                </a:solidFill>
                <a:latin typeface="Times"/>
                <a:ea typeface="Times"/>
                <a:cs typeface="Times"/>
                <a:sym typeface="Times"/>
              </a:rPr>
              <a:t>003: 190.100.127.128/25  </a:t>
            </a:r>
            <a:r>
              <a:rPr b="0" i="0" lang="en-US" sz="3200" u="none">
                <a:solidFill>
                  <a:srgbClr val="FF3300"/>
                </a:solidFill>
                <a:latin typeface="Times"/>
                <a:ea typeface="Times"/>
                <a:cs typeface="Times"/>
                <a:sym typeface="Times"/>
              </a:rPr>
              <a:t>🡺</a:t>
            </a:r>
            <a:r>
              <a:rPr b="0" i="0" lang="en-US" sz="3200" u="none">
                <a:solidFill>
                  <a:srgbClr val="000000"/>
                </a:solidFill>
                <a:latin typeface="Times"/>
                <a:ea typeface="Times"/>
                <a:cs typeface="Times"/>
                <a:sym typeface="Times"/>
              </a:rPr>
              <a:t>190.100.127.255/25</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542" name="Shape 542"/>
        <p:cNvGrpSpPr/>
        <p:nvPr/>
      </p:nvGrpSpPr>
      <p:grpSpPr>
        <a:xfrm>
          <a:off x="0" y="0"/>
          <a:ext cx="0" cy="0"/>
          <a:chOff x="0" y="0"/>
          <a:chExt cx="0" cy="0"/>
        </a:xfrm>
      </p:grpSpPr>
      <p:sp>
        <p:nvSpPr>
          <p:cNvPr id="543" name="Google Shape;543;p61"/>
          <p:cNvSpPr txBox="1"/>
          <p:nvPr/>
        </p:nvSpPr>
        <p:spPr>
          <a:xfrm>
            <a:off x="76200" y="76200"/>
            <a:ext cx="3775075"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 (Continued)</a:t>
            </a:r>
            <a:endParaRPr/>
          </a:p>
        </p:txBody>
      </p:sp>
      <p:sp>
        <p:nvSpPr>
          <p:cNvPr id="544" name="Google Shape;544;p61"/>
          <p:cNvSpPr txBox="1"/>
          <p:nvPr/>
        </p:nvSpPr>
        <p:spPr>
          <a:xfrm>
            <a:off x="304800" y="685800"/>
            <a:ext cx="8610600" cy="57546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200"/>
              <a:buFont typeface="Times"/>
              <a:buNone/>
            </a:pPr>
            <a:r>
              <a:rPr b="1" i="0" lang="en-US" sz="3200" u="none">
                <a:solidFill>
                  <a:schemeClr val="lt2"/>
                </a:solidFill>
                <a:latin typeface="Times"/>
                <a:ea typeface="Times"/>
                <a:cs typeface="Times"/>
                <a:sym typeface="Times"/>
              </a:rPr>
              <a:t>Group 3</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For this group, there are 128 sub blocks . </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Old Subnet mask = /19</a:t>
            </a:r>
            <a:endParaRPr/>
          </a:p>
          <a:p>
            <a:pPr indent="0" lvl="0" marL="0" marR="0" rtl="0" algn="just">
              <a:lnSpc>
                <a:spcPct val="100000"/>
              </a:lnSpc>
              <a:spcBef>
                <a:spcPts val="16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New subnet mask = 19+log(</a:t>
            </a:r>
            <a:r>
              <a:rPr b="0" i="0" lang="en-US" sz="3200" u="none">
                <a:solidFill>
                  <a:srgbClr val="000000"/>
                </a:solidFill>
                <a:latin typeface="Times"/>
                <a:ea typeface="Times"/>
                <a:cs typeface="Times"/>
                <a:sym typeface="Times"/>
              </a:rPr>
              <a:t>2</a:t>
            </a:r>
            <a:r>
              <a:rPr b="0" baseline="30000" i="0" lang="en-US" sz="3200" u="none">
                <a:solidFill>
                  <a:srgbClr val="000000"/>
                </a:solidFill>
                <a:latin typeface="Times"/>
                <a:ea typeface="Times"/>
                <a:cs typeface="Times"/>
                <a:sym typeface="Times"/>
              </a:rPr>
              <a:t>7</a:t>
            </a:r>
            <a:r>
              <a:rPr b="0" i="0" lang="en-US" sz="3200" u="none">
                <a:solidFill>
                  <a:srgbClr val="000000"/>
                </a:solidFill>
                <a:latin typeface="Times"/>
                <a:ea typeface="Times"/>
                <a:cs typeface="Times"/>
                <a:sym typeface="Times"/>
              </a:rPr>
              <a:t> )=19+7=26</a:t>
            </a:r>
            <a:endParaRPr b="0" i="0" sz="3200" u="none">
              <a:solidFill>
                <a:schemeClr val="lt2"/>
              </a:solidFill>
              <a:latin typeface="Times"/>
              <a:ea typeface="Times"/>
              <a:cs typeface="Times"/>
              <a:sym typeface="Times"/>
            </a:endParaRPr>
          </a:p>
          <a:p>
            <a:pPr indent="0" lvl="0" marL="0" marR="0" rtl="0" algn="just">
              <a:lnSpc>
                <a:spcPct val="100000"/>
              </a:lnSpc>
              <a:spcBef>
                <a:spcPts val="1600"/>
              </a:spcBef>
              <a:spcAft>
                <a:spcPts val="0"/>
              </a:spcAft>
              <a:buClr>
                <a:schemeClr val="lt2"/>
              </a:buClr>
              <a:buSzPts val="3200"/>
              <a:buFont typeface="Times"/>
              <a:buNone/>
            </a:pPr>
            <a:r>
              <a:rPr b="1" i="0" lang="en-US" sz="3200" u="none">
                <a:solidFill>
                  <a:schemeClr val="lt2"/>
                </a:solidFill>
                <a:latin typeface="Times"/>
                <a:ea typeface="Times"/>
                <a:cs typeface="Times"/>
                <a:sym typeface="Times"/>
              </a:rPr>
              <a:t>001</a:t>
            </a:r>
            <a:r>
              <a:rPr b="0" i="0" lang="en-US" sz="3200" u="none">
                <a:solidFill>
                  <a:schemeClr val="lt2"/>
                </a:solidFill>
                <a:latin typeface="Times"/>
                <a:ea typeface="Times"/>
                <a:cs typeface="Times"/>
                <a:sym typeface="Times"/>
              </a:rPr>
              <a:t>:190.100.128.0/26      </a:t>
            </a:r>
            <a:r>
              <a:rPr b="0" i="0" lang="en-US" sz="3200" u="none">
                <a:solidFill>
                  <a:srgbClr val="FF3300"/>
                </a:solidFill>
                <a:latin typeface="Arial"/>
                <a:ea typeface="Arial"/>
                <a:cs typeface="Arial"/>
                <a:sym typeface="Arial"/>
              </a:rPr>
              <a:t>🡺</a:t>
            </a:r>
            <a:r>
              <a:rPr b="0" i="0" lang="en-US" sz="3200" u="none">
                <a:solidFill>
                  <a:srgbClr val="000000"/>
                </a:solidFill>
                <a:latin typeface="Times"/>
                <a:ea typeface="Times"/>
                <a:cs typeface="Times"/>
                <a:sym typeface="Times"/>
              </a:rPr>
              <a:t>190.100.128.63/26</a:t>
            </a:r>
            <a:endParaRPr/>
          </a:p>
          <a:p>
            <a:pPr indent="0" lvl="0" marL="0" marR="0" rtl="0" algn="just">
              <a:lnSpc>
                <a:spcPct val="100000"/>
              </a:lnSpc>
              <a:spcBef>
                <a:spcPts val="1600"/>
              </a:spcBef>
              <a:spcAft>
                <a:spcPts val="0"/>
              </a:spcAft>
              <a:buClr>
                <a:srgbClr val="000000"/>
              </a:buClr>
              <a:buSzPts val="3200"/>
              <a:buFont typeface="Times"/>
              <a:buNone/>
            </a:pPr>
            <a:r>
              <a:rPr b="1" i="0" lang="en-US" sz="3200" u="none">
                <a:solidFill>
                  <a:srgbClr val="000000"/>
                </a:solidFill>
                <a:latin typeface="Times"/>
                <a:ea typeface="Times"/>
                <a:cs typeface="Times"/>
                <a:sym typeface="Times"/>
              </a:rPr>
              <a:t>002</a:t>
            </a:r>
            <a:r>
              <a:rPr b="0" i="0" lang="en-US" sz="3200" u="none">
                <a:solidFill>
                  <a:srgbClr val="000000"/>
                </a:solidFill>
                <a:latin typeface="Times"/>
                <a:ea typeface="Times"/>
                <a:cs typeface="Times"/>
                <a:sym typeface="Times"/>
              </a:rPr>
              <a:t>:190.100.128.64/26    </a:t>
            </a:r>
            <a:r>
              <a:rPr b="0" i="0" lang="en-US" sz="3200" u="none">
                <a:solidFill>
                  <a:srgbClr val="FF3300"/>
                </a:solidFill>
                <a:latin typeface="Arial"/>
                <a:ea typeface="Arial"/>
                <a:cs typeface="Arial"/>
                <a:sym typeface="Arial"/>
              </a:rPr>
              <a:t>🡺</a:t>
            </a:r>
            <a:r>
              <a:rPr b="0" i="0" lang="en-US" sz="3200" u="none">
                <a:solidFill>
                  <a:srgbClr val="000000"/>
                </a:solidFill>
                <a:latin typeface="Times"/>
                <a:ea typeface="Times"/>
                <a:cs typeface="Times"/>
                <a:sym typeface="Times"/>
              </a:rPr>
              <a:t>190.100.128.127/26</a:t>
            </a:r>
            <a:endParaRPr/>
          </a:p>
          <a:p>
            <a:pPr indent="0" lvl="0" marL="0" marR="0" rtl="0" algn="just">
              <a:lnSpc>
                <a:spcPct val="100000"/>
              </a:lnSpc>
              <a:spcBef>
                <a:spcPts val="1600"/>
              </a:spcBef>
              <a:spcAft>
                <a:spcPts val="0"/>
              </a:spcAft>
              <a:buClr>
                <a:srgbClr val="000000"/>
              </a:buClr>
              <a:buSzPts val="3200"/>
              <a:buFont typeface="Times"/>
              <a:buNone/>
            </a:pPr>
            <a:r>
              <a:rPr b="0" i="0" lang="en-US" sz="3200" u="none">
                <a:solidFill>
                  <a:srgbClr val="000000"/>
                </a:solidFill>
                <a:latin typeface="Times"/>
                <a:ea typeface="Times"/>
                <a:cs typeface="Times"/>
                <a:sym typeface="Times"/>
              </a:rPr>
              <a:t>…………………………</a:t>
            </a:r>
            <a:endParaRPr/>
          </a:p>
          <a:p>
            <a:pPr indent="0" lvl="0" marL="0" marR="0" rtl="0" algn="just">
              <a:lnSpc>
                <a:spcPct val="100000"/>
              </a:lnSpc>
              <a:spcBef>
                <a:spcPts val="1600"/>
              </a:spcBef>
              <a:spcAft>
                <a:spcPts val="0"/>
              </a:spcAft>
              <a:buClr>
                <a:srgbClr val="000000"/>
              </a:buClr>
              <a:buSzPts val="3200"/>
              <a:buFont typeface="Times"/>
              <a:buNone/>
            </a:pPr>
            <a:r>
              <a:rPr b="1" i="0" lang="en-US" sz="3200" u="none">
                <a:solidFill>
                  <a:srgbClr val="000000"/>
                </a:solidFill>
                <a:latin typeface="Times"/>
                <a:ea typeface="Times"/>
                <a:cs typeface="Times"/>
                <a:sym typeface="Times"/>
              </a:rPr>
              <a:t>128</a:t>
            </a:r>
            <a:r>
              <a:rPr b="0" i="0" lang="en-US" sz="3200" u="none">
                <a:solidFill>
                  <a:srgbClr val="000000"/>
                </a:solidFill>
                <a:latin typeface="Times"/>
                <a:ea typeface="Times"/>
                <a:cs typeface="Times"/>
                <a:sym typeface="Times"/>
              </a:rPr>
              <a:t>:190.100.159.192/26  </a:t>
            </a:r>
            <a:r>
              <a:rPr b="0" i="0" lang="en-US" sz="3200" u="none">
                <a:solidFill>
                  <a:srgbClr val="FF3300"/>
                </a:solidFill>
                <a:latin typeface="Arial"/>
                <a:ea typeface="Arial"/>
                <a:cs typeface="Arial"/>
                <a:sym typeface="Arial"/>
              </a:rPr>
              <a:t>🡺</a:t>
            </a:r>
            <a:r>
              <a:rPr b="0" i="0" lang="en-US" sz="3200" u="none">
                <a:solidFill>
                  <a:srgbClr val="000000"/>
                </a:solidFill>
                <a:latin typeface="Times"/>
                <a:ea typeface="Times"/>
                <a:cs typeface="Times"/>
                <a:sym typeface="Times"/>
              </a:rPr>
              <a:t>190.100.159.255/26</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pic>
        <p:nvPicPr>
          <p:cNvPr id="549" name="Google Shape;549;p62"/>
          <p:cNvPicPr preferRelativeResize="0"/>
          <p:nvPr/>
        </p:nvPicPr>
        <p:blipFill rotWithShape="1">
          <a:blip r:embed="rId3">
            <a:alphaModFix/>
          </a:blip>
          <a:srcRect b="0" l="0" r="0" t="0"/>
          <a:stretch/>
        </p:blipFill>
        <p:spPr>
          <a:xfrm>
            <a:off x="838200" y="935646"/>
            <a:ext cx="7772400" cy="5465154"/>
          </a:xfrm>
          <a:prstGeom prst="rect">
            <a:avLst/>
          </a:prstGeom>
          <a:noFill/>
          <a:ln>
            <a:noFill/>
          </a:ln>
        </p:spPr>
      </p:pic>
      <p:sp>
        <p:nvSpPr>
          <p:cNvPr id="550" name="Google Shape;550;p62"/>
          <p:cNvSpPr txBox="1"/>
          <p:nvPr/>
        </p:nvSpPr>
        <p:spPr>
          <a:xfrm>
            <a:off x="819150" y="458787"/>
            <a:ext cx="52578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Step 2:</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dk1"/>
        </a:solidFill>
      </p:bgPr>
    </p:bg>
    <p:spTree>
      <p:nvGrpSpPr>
        <p:cNvPr id="554" name="Shape 554"/>
        <p:cNvGrpSpPr/>
        <p:nvPr/>
      </p:nvGrpSpPr>
      <p:grpSpPr>
        <a:xfrm>
          <a:off x="0" y="0"/>
          <a:ext cx="0" cy="0"/>
          <a:chOff x="0" y="0"/>
          <a:chExt cx="0" cy="0"/>
        </a:xfrm>
      </p:grpSpPr>
      <p:sp>
        <p:nvSpPr>
          <p:cNvPr id="555" name="Google Shape;555;p63"/>
          <p:cNvSpPr txBox="1"/>
          <p:nvPr/>
        </p:nvSpPr>
        <p:spPr>
          <a:xfrm>
            <a:off x="76200" y="76200"/>
            <a:ext cx="3775075" cy="617537"/>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 (Continued)</a:t>
            </a:r>
            <a:endParaRPr/>
          </a:p>
        </p:txBody>
      </p:sp>
      <p:sp>
        <p:nvSpPr>
          <p:cNvPr id="556" name="Google Shape;556;p63"/>
          <p:cNvSpPr txBox="1"/>
          <p:nvPr/>
        </p:nvSpPr>
        <p:spPr>
          <a:xfrm>
            <a:off x="304800" y="1555750"/>
            <a:ext cx="8610600" cy="28638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         Number of granted addresses: 65,536</a:t>
            </a:r>
            <a:endParaRPr/>
          </a:p>
          <a:p>
            <a:pPr indent="0" lvl="0" marL="0" marR="0" rtl="0" algn="just">
              <a:lnSpc>
                <a:spcPct val="100000"/>
              </a:lnSpc>
              <a:spcBef>
                <a:spcPts val="18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	Number of allocated addresses: 40,960</a:t>
            </a:r>
            <a:endParaRPr/>
          </a:p>
          <a:p>
            <a:pPr indent="0" lvl="0" marL="0" marR="0" rtl="0" algn="just">
              <a:lnSpc>
                <a:spcPct val="100000"/>
              </a:lnSpc>
              <a:spcBef>
                <a:spcPts val="1800"/>
              </a:spcBef>
              <a:spcAft>
                <a:spcPts val="0"/>
              </a:spcAft>
              <a:buClr>
                <a:schemeClr val="lt2"/>
              </a:buClr>
              <a:buSzPts val="3200"/>
              <a:buFont typeface="Times"/>
              <a:buNone/>
            </a:pPr>
            <a:r>
              <a:rPr b="0" i="0" lang="en-US" sz="3200" u="none">
                <a:solidFill>
                  <a:schemeClr val="lt2"/>
                </a:solidFill>
                <a:latin typeface="Times"/>
                <a:ea typeface="Times"/>
                <a:cs typeface="Times"/>
                <a:sym typeface="Times"/>
              </a:rPr>
              <a:t>	Number of available addresses: 24,576</a:t>
            </a:r>
            <a:endParaRPr/>
          </a:p>
          <a:p>
            <a:pPr indent="0" lvl="0" marL="0" marR="0" rtl="0" algn="l">
              <a:lnSpc>
                <a:spcPct val="100000"/>
              </a:lnSpc>
              <a:spcBef>
                <a:spcPts val="300"/>
              </a:spcBef>
              <a:spcAft>
                <a:spcPts val="0"/>
              </a:spcAft>
              <a:buNone/>
            </a:pPr>
            <a:r>
              <a:t/>
            </a:r>
            <a:endParaRPr b="0" i="0" sz="3200" u="none">
              <a:solidFill>
                <a:schemeClr val="lt2"/>
              </a:solidFill>
              <a:latin typeface="Times"/>
              <a:ea typeface="Times"/>
              <a:cs typeface="Times"/>
              <a:sym typeface="Time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64"/>
          <p:cNvSpPr txBox="1"/>
          <p:nvPr/>
        </p:nvSpPr>
        <p:spPr>
          <a:xfrm>
            <a:off x="1676400" y="2667000"/>
            <a:ext cx="5897562" cy="11382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a:buNone/>
            </a:pPr>
            <a:r>
              <a:rPr b="1" i="0" lang="en-US" sz="4400" u="none">
                <a:solidFill>
                  <a:schemeClr val="dk1"/>
                </a:solidFill>
                <a:latin typeface="Times"/>
                <a:ea typeface="Times"/>
                <a:cs typeface="Times"/>
                <a:sym typeface="Times"/>
              </a:rPr>
              <a:t>SUPERNETTING</a:t>
            </a:r>
            <a:endParaRPr/>
          </a:p>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(also referred as Summarization, Aggregation)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pic>
        <p:nvPicPr>
          <p:cNvPr id="566" name="Google Shape;566;p65"/>
          <p:cNvPicPr preferRelativeResize="0"/>
          <p:nvPr/>
        </p:nvPicPr>
        <p:blipFill rotWithShape="1">
          <a:blip r:embed="rId3">
            <a:alphaModFix/>
          </a:blip>
          <a:srcRect b="0" l="0" r="0" t="0"/>
          <a:stretch/>
        </p:blipFill>
        <p:spPr>
          <a:xfrm>
            <a:off x="636587" y="1595437"/>
            <a:ext cx="7669212" cy="4195762"/>
          </a:xfrm>
          <a:prstGeom prst="rect">
            <a:avLst/>
          </a:prstGeom>
          <a:noFill/>
          <a:ln>
            <a:noFill/>
          </a:ln>
        </p:spPr>
      </p:pic>
      <p:sp>
        <p:nvSpPr>
          <p:cNvPr id="567" name="Google Shape;567;p65"/>
          <p:cNvSpPr txBox="1"/>
          <p:nvPr/>
        </p:nvSpPr>
        <p:spPr>
          <a:xfrm>
            <a:off x="2894012" y="95250"/>
            <a:ext cx="2995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Times New Roman"/>
              <a:buNone/>
            </a:pPr>
            <a:r>
              <a:rPr b="1" i="0" lang="en-US" sz="3200" u="none">
                <a:solidFill>
                  <a:schemeClr val="accent2"/>
                </a:solidFill>
                <a:latin typeface="Times New Roman"/>
                <a:ea typeface="Times New Roman"/>
                <a:cs typeface="Times New Roman"/>
                <a:sym typeface="Times New Roman"/>
              </a:rPr>
              <a:t>A supernetwork</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66"/>
          <p:cNvSpPr txBox="1"/>
          <p:nvPr>
            <p:ph idx="1" type="body"/>
          </p:nvPr>
        </p:nvSpPr>
        <p:spPr>
          <a:xfrm>
            <a:off x="533400" y="457200"/>
            <a:ext cx="7886700" cy="4191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rPr b="1" i="0" lang="en-US" sz="2800" u="none">
                <a:solidFill>
                  <a:schemeClr val="dk1"/>
                </a:solidFill>
                <a:latin typeface="Times New Roman"/>
                <a:ea typeface="Times New Roman"/>
                <a:cs typeface="Times New Roman"/>
                <a:sym typeface="Times New Roman"/>
              </a:rPr>
              <a:t>What is Supernetting?</a:t>
            </a:r>
            <a:endParaRPr/>
          </a:p>
          <a:p>
            <a:pPr indent="-228600" lvl="1" marL="685800" marR="0" rtl="0" algn="l">
              <a:lnSpc>
                <a:spcPct val="90000"/>
              </a:lnSpc>
              <a:spcBef>
                <a:spcPts val="500"/>
              </a:spcBef>
              <a:spcAft>
                <a:spcPts val="0"/>
              </a:spcAft>
              <a:buClr>
                <a:srgbClr val="FF0000"/>
              </a:buClr>
              <a:buSzPts val="2400"/>
              <a:buFont typeface="Arial"/>
              <a:buChar char="•"/>
            </a:pPr>
            <a:r>
              <a:rPr b="0" i="0" lang="en-US" sz="2400" u="none" cap="none" strike="noStrike">
                <a:solidFill>
                  <a:srgbClr val="FF0000"/>
                </a:solidFill>
                <a:latin typeface="Times New Roman"/>
                <a:ea typeface="Times New Roman"/>
                <a:cs typeface="Times New Roman"/>
                <a:sym typeface="Times New Roman"/>
              </a:rPr>
              <a:t>aggregating networks together to form a larger network</a:t>
            </a:r>
            <a:endParaRPr/>
          </a:p>
        </p:txBody>
      </p:sp>
      <p:grpSp>
        <p:nvGrpSpPr>
          <p:cNvPr id="573" name="Google Shape;573;p66"/>
          <p:cNvGrpSpPr/>
          <p:nvPr/>
        </p:nvGrpSpPr>
        <p:grpSpPr>
          <a:xfrm>
            <a:off x="1109662" y="1371600"/>
            <a:ext cx="6801588" cy="2710721"/>
            <a:chOff x="672" y="1104"/>
            <a:chExt cx="4639" cy="1849"/>
          </a:xfrm>
        </p:grpSpPr>
        <p:sp>
          <p:nvSpPr>
            <p:cNvPr id="574" name="Google Shape;574;p66"/>
            <p:cNvSpPr/>
            <p:nvPr/>
          </p:nvSpPr>
          <p:spPr>
            <a:xfrm>
              <a:off x="672" y="1104"/>
              <a:ext cx="4632" cy="18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2400" u="none">
                <a:solidFill>
                  <a:schemeClr val="dk1"/>
                </a:solidFill>
                <a:latin typeface="Times New Roman"/>
                <a:ea typeface="Times New Roman"/>
                <a:cs typeface="Times New Roman"/>
                <a:sym typeface="Times New Roman"/>
              </a:endParaRPr>
            </a:p>
          </p:txBody>
        </p:sp>
        <p:pic>
          <p:nvPicPr>
            <p:cNvPr id="575" name="Google Shape;575;p66"/>
            <p:cNvPicPr preferRelativeResize="0"/>
            <p:nvPr/>
          </p:nvPicPr>
          <p:blipFill rotWithShape="1">
            <a:blip r:embed="rId3">
              <a:alphaModFix/>
            </a:blip>
            <a:srcRect b="0" l="0" r="0" t="0"/>
            <a:stretch/>
          </p:blipFill>
          <p:spPr>
            <a:xfrm>
              <a:off x="672" y="1104"/>
              <a:ext cx="4639" cy="1849"/>
            </a:xfrm>
            <a:prstGeom prst="rect">
              <a:avLst/>
            </a:prstGeom>
            <a:noFill/>
            <a:ln>
              <a:noFill/>
            </a:ln>
          </p:spPr>
        </p:pic>
      </p:grpSp>
      <p:sp>
        <p:nvSpPr>
          <p:cNvPr id="576" name="Google Shape;576;p66"/>
          <p:cNvSpPr txBox="1"/>
          <p:nvPr/>
        </p:nvSpPr>
        <p:spPr>
          <a:xfrm>
            <a:off x="581025" y="4267200"/>
            <a:ext cx="7848600" cy="2000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Why Supernetting?</a:t>
            </a:r>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a:solidFill>
                  <a:schemeClr val="dk1"/>
                </a:solidFill>
                <a:latin typeface="Times New Roman"/>
                <a:ea typeface="Times New Roman"/>
                <a:cs typeface="Times New Roman"/>
                <a:sym typeface="Times New Roman"/>
              </a:rPr>
              <a:t>The main purpose of supernetting is reducing the size of the routing table on routers</a:t>
            </a:r>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It saves memory and processing resources on routing devices.</a:t>
            </a:r>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also helped slow down the exhaustion of IP addresses through the use of Classless Inter-Domain Routing (CIDR).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67"/>
          <p:cNvSpPr txBox="1"/>
          <p:nvPr/>
        </p:nvSpPr>
        <p:spPr>
          <a:xfrm>
            <a:off x="228600" y="609600"/>
            <a:ext cx="8686800" cy="533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4000"/>
              <a:buFont typeface="Times"/>
              <a:buNone/>
            </a:pPr>
            <a:r>
              <a:rPr b="1" i="1" lang="en-US" sz="4000" u="sng">
                <a:solidFill>
                  <a:srgbClr val="002060"/>
                </a:solidFill>
                <a:latin typeface="Times"/>
                <a:ea typeface="Times"/>
                <a:cs typeface="Times"/>
                <a:sym typeface="Times"/>
              </a:rPr>
              <a:t>Rules: (</a:t>
            </a:r>
            <a:r>
              <a:rPr b="1" i="1" lang="en-US" sz="2400" u="sng">
                <a:solidFill>
                  <a:srgbClr val="002060"/>
                </a:solidFill>
                <a:latin typeface="Times"/>
                <a:ea typeface="Times"/>
                <a:cs typeface="Times"/>
                <a:sym typeface="Times"/>
              </a:rPr>
              <a:t>For Class C Addresses</a:t>
            </a:r>
            <a:r>
              <a:rPr b="1" i="1" lang="en-US" sz="4000" u="sng">
                <a:solidFill>
                  <a:srgbClr val="002060"/>
                </a:solidFill>
                <a:latin typeface="Times"/>
                <a:ea typeface="Times"/>
                <a:cs typeface="Times"/>
                <a:sym typeface="Times"/>
              </a:rPr>
              <a:t>)</a:t>
            </a:r>
            <a:endParaRPr/>
          </a:p>
          <a:p>
            <a:pPr indent="0" lvl="0" marL="0" marR="0" rtl="0" algn="l">
              <a:lnSpc>
                <a:spcPct val="100000"/>
              </a:lnSpc>
              <a:spcBef>
                <a:spcPts val="1600"/>
              </a:spcBef>
              <a:spcAft>
                <a:spcPts val="0"/>
              </a:spcAft>
              <a:buClr>
                <a:srgbClr val="002060"/>
              </a:buClr>
              <a:buSzPts val="3200"/>
              <a:buFont typeface="Times"/>
              <a:buNone/>
            </a:pPr>
            <a:r>
              <a:rPr b="0" i="0" lang="en-US" sz="3200" u="none">
                <a:solidFill>
                  <a:srgbClr val="002060"/>
                </a:solidFill>
                <a:latin typeface="Times"/>
                <a:ea typeface="Times"/>
                <a:cs typeface="Times"/>
                <a:sym typeface="Times"/>
              </a:rPr>
              <a:t>** The number of blocks must be a power of 2 (1, 2, 4, 8, 16, . . .).</a:t>
            </a:r>
            <a:endParaRPr/>
          </a:p>
          <a:p>
            <a:pPr indent="0" lvl="0" marL="0" marR="0" rtl="0" algn="l">
              <a:lnSpc>
                <a:spcPct val="100000"/>
              </a:lnSpc>
              <a:spcBef>
                <a:spcPts val="1600"/>
              </a:spcBef>
              <a:spcAft>
                <a:spcPts val="0"/>
              </a:spcAft>
              <a:buClr>
                <a:srgbClr val="002060"/>
              </a:buClr>
              <a:buSzPts val="3200"/>
              <a:buFont typeface="Times"/>
              <a:buNone/>
            </a:pPr>
            <a:r>
              <a:rPr b="0" i="0" lang="en-US" sz="3200" u="none">
                <a:solidFill>
                  <a:srgbClr val="002060"/>
                </a:solidFill>
                <a:latin typeface="Times"/>
                <a:ea typeface="Times"/>
                <a:cs typeface="Times"/>
                <a:sym typeface="Times"/>
              </a:rPr>
              <a:t>** The blocks must be contiguous in the address space (no gaps between the blocks).</a:t>
            </a:r>
            <a:endParaRPr/>
          </a:p>
          <a:p>
            <a:pPr indent="0" lvl="0" marL="0" marR="0" rtl="0" algn="l">
              <a:lnSpc>
                <a:spcPct val="100000"/>
              </a:lnSpc>
              <a:spcBef>
                <a:spcPts val="1600"/>
              </a:spcBef>
              <a:spcAft>
                <a:spcPts val="0"/>
              </a:spcAft>
              <a:buClr>
                <a:srgbClr val="002060"/>
              </a:buClr>
              <a:buSzPts val="3200"/>
              <a:buFont typeface="Times"/>
              <a:buNone/>
            </a:pPr>
            <a:r>
              <a:rPr b="0" i="0" lang="en-US" sz="3200" u="none">
                <a:solidFill>
                  <a:srgbClr val="002060"/>
                </a:solidFill>
                <a:latin typeface="Times"/>
                <a:ea typeface="Times"/>
                <a:cs typeface="Times"/>
                <a:sym typeface="Times"/>
              </a:rPr>
              <a:t>** The third byte of the first address in the superblock must be evenly divisible by the number of blocks. In other words, if the number of blocks is </a:t>
            </a:r>
            <a:r>
              <a:rPr b="0" i="1" lang="en-US" sz="3200" u="none">
                <a:solidFill>
                  <a:srgbClr val="002060"/>
                </a:solidFill>
                <a:latin typeface="Times"/>
                <a:ea typeface="Times"/>
                <a:cs typeface="Times"/>
                <a:sym typeface="Times"/>
              </a:rPr>
              <a:t>N</a:t>
            </a:r>
            <a:r>
              <a:rPr b="0" i="0" lang="en-US" sz="3200" u="none">
                <a:solidFill>
                  <a:srgbClr val="002060"/>
                </a:solidFill>
                <a:latin typeface="Times"/>
                <a:ea typeface="Times"/>
                <a:cs typeface="Times"/>
                <a:sym typeface="Times"/>
              </a:rPr>
              <a:t>, the third byte must be divisible by </a:t>
            </a:r>
            <a:r>
              <a:rPr b="0" i="1" lang="en-US" sz="3200" u="none">
                <a:solidFill>
                  <a:srgbClr val="002060"/>
                </a:solidFill>
                <a:latin typeface="Times"/>
                <a:ea typeface="Times"/>
                <a:cs typeface="Times"/>
                <a:sym typeface="Times"/>
              </a:rPr>
              <a:t>N</a:t>
            </a:r>
            <a:r>
              <a:rPr b="0" i="0" lang="en-US" sz="3200" u="none">
                <a:solidFill>
                  <a:srgbClr val="002060"/>
                </a:solidFill>
                <a:latin typeface="Times"/>
                <a:ea typeface="Times"/>
                <a:cs typeface="Times"/>
                <a:sym typeface="Times"/>
              </a:rPr>
              <a:t>.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68"/>
          <p:cNvSpPr txBox="1"/>
          <p:nvPr/>
        </p:nvSpPr>
        <p:spPr>
          <a:xfrm>
            <a:off x="144462" y="249237"/>
            <a:ext cx="2100262" cy="584200"/>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1" lang="en-US" sz="3200" u="none">
                <a:solidFill>
                  <a:schemeClr val="lt1"/>
                </a:solidFill>
                <a:latin typeface="Times New Roman"/>
                <a:ea typeface="Times New Roman"/>
                <a:cs typeface="Times New Roman"/>
                <a:sym typeface="Times New Roman"/>
              </a:rPr>
              <a:t>Example 5 </a:t>
            </a:r>
            <a:endParaRPr/>
          </a:p>
        </p:txBody>
      </p:sp>
      <p:sp>
        <p:nvSpPr>
          <p:cNvPr id="587" name="Google Shape;587;p68"/>
          <p:cNvSpPr txBox="1"/>
          <p:nvPr/>
        </p:nvSpPr>
        <p:spPr>
          <a:xfrm>
            <a:off x="457200" y="1393825"/>
            <a:ext cx="8458200" cy="4305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a:buNone/>
            </a:pPr>
            <a:r>
              <a:rPr b="0" i="0" lang="en-US" sz="3600" u="none">
                <a:solidFill>
                  <a:srgbClr val="002060"/>
                </a:solidFill>
                <a:latin typeface="Times"/>
                <a:ea typeface="Times"/>
                <a:cs typeface="Times"/>
                <a:sym typeface="Times"/>
              </a:rPr>
              <a:t>A company needs 600 addresses. Which of the following set of class C blocks can be used to form a supernet for this company?</a:t>
            </a:r>
            <a:endParaRPr/>
          </a:p>
          <a:p>
            <a:pPr indent="-177800" lvl="0" marL="0" marR="0" rtl="0" algn="just">
              <a:lnSpc>
                <a:spcPct val="100000"/>
              </a:lnSpc>
              <a:spcBef>
                <a:spcPts val="1400"/>
              </a:spcBef>
              <a:spcAft>
                <a:spcPts val="0"/>
              </a:spcAft>
              <a:buClr>
                <a:srgbClr val="002060"/>
              </a:buClr>
              <a:buSzPts val="2800"/>
              <a:buFont typeface="Arial"/>
              <a:buChar char="•"/>
            </a:pPr>
            <a:r>
              <a:rPr b="1" i="0" lang="en-US" sz="2800" u="none">
                <a:solidFill>
                  <a:srgbClr val="002060"/>
                </a:solidFill>
                <a:latin typeface="Times"/>
                <a:ea typeface="Times"/>
                <a:cs typeface="Times"/>
                <a:sym typeface="Times"/>
              </a:rPr>
              <a:t>198.47.32.0 	198.47.33.0	198.47.34.0</a:t>
            </a:r>
            <a:endParaRPr/>
          </a:p>
          <a:p>
            <a:pPr indent="-177800" lvl="0" marL="0" marR="0" rtl="0" algn="just">
              <a:lnSpc>
                <a:spcPct val="100000"/>
              </a:lnSpc>
              <a:spcBef>
                <a:spcPts val="1400"/>
              </a:spcBef>
              <a:spcAft>
                <a:spcPts val="0"/>
              </a:spcAft>
              <a:buClr>
                <a:srgbClr val="002060"/>
              </a:buClr>
              <a:buSzPts val="2800"/>
              <a:buFont typeface="Arial"/>
              <a:buChar char="•"/>
            </a:pPr>
            <a:r>
              <a:rPr b="1" i="0" lang="en-US" sz="2800" u="none">
                <a:solidFill>
                  <a:srgbClr val="002060"/>
                </a:solidFill>
                <a:latin typeface="Times"/>
                <a:ea typeface="Times"/>
                <a:cs typeface="Times"/>
                <a:sym typeface="Times"/>
              </a:rPr>
              <a:t>198.47.32.0	198.47.42.0 	198.47.52.0 	198.47.62.0</a:t>
            </a:r>
            <a:endParaRPr/>
          </a:p>
          <a:p>
            <a:pPr indent="-177800" lvl="0" marL="0" marR="0" rtl="0" algn="just">
              <a:lnSpc>
                <a:spcPct val="100000"/>
              </a:lnSpc>
              <a:spcBef>
                <a:spcPts val="1400"/>
              </a:spcBef>
              <a:spcAft>
                <a:spcPts val="0"/>
              </a:spcAft>
              <a:buClr>
                <a:srgbClr val="002060"/>
              </a:buClr>
              <a:buSzPts val="2800"/>
              <a:buFont typeface="Arial"/>
              <a:buChar char="•"/>
            </a:pPr>
            <a:r>
              <a:rPr b="1" i="0" lang="en-US" sz="2800" u="none">
                <a:solidFill>
                  <a:srgbClr val="002060"/>
                </a:solidFill>
                <a:latin typeface="Times"/>
                <a:ea typeface="Times"/>
                <a:cs typeface="Times"/>
                <a:sym typeface="Times"/>
              </a:rPr>
              <a:t>198.47.31.0	198.47.32.0 	198.47.33.0 	198.47.34.0</a:t>
            </a:r>
            <a:endParaRPr/>
          </a:p>
          <a:p>
            <a:pPr indent="-177800" lvl="0" marL="0" marR="0" rtl="0" algn="just">
              <a:lnSpc>
                <a:spcPct val="100000"/>
              </a:lnSpc>
              <a:spcBef>
                <a:spcPts val="1400"/>
              </a:spcBef>
              <a:spcAft>
                <a:spcPts val="0"/>
              </a:spcAft>
              <a:buClr>
                <a:srgbClr val="002060"/>
              </a:buClr>
              <a:buSzPts val="2800"/>
              <a:buFont typeface="Arial"/>
              <a:buChar char="•"/>
            </a:pPr>
            <a:r>
              <a:rPr b="1" i="0" lang="en-US" sz="2800" u="none">
                <a:solidFill>
                  <a:srgbClr val="002060"/>
                </a:solidFill>
                <a:latin typeface="Times"/>
                <a:ea typeface="Times"/>
                <a:cs typeface="Times"/>
                <a:sym typeface="Times"/>
              </a:rPr>
              <a:t>198.47.32.0 	198.47.33.0 	198.47.34.0 	198.47.35.0</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9"/>
          <p:cNvSpPr txBox="1"/>
          <p:nvPr/>
        </p:nvSpPr>
        <p:spPr>
          <a:xfrm>
            <a:off x="228600" y="533400"/>
            <a:ext cx="1619250" cy="584200"/>
          </a:xfrm>
          <a:prstGeom prst="rect">
            <a:avLst/>
          </a:prstGeom>
          <a:solidFill>
            <a:srgbClr val="16537F"/>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1" lang="en-US" sz="3200" u="none">
                <a:solidFill>
                  <a:schemeClr val="lt1"/>
                </a:solidFill>
                <a:latin typeface="Times New Roman"/>
                <a:ea typeface="Times New Roman"/>
                <a:cs typeface="Times New Roman"/>
                <a:sym typeface="Times New Roman"/>
              </a:rPr>
              <a:t>Solution</a:t>
            </a:r>
            <a:endParaRPr/>
          </a:p>
        </p:txBody>
      </p:sp>
      <p:sp>
        <p:nvSpPr>
          <p:cNvPr id="593" name="Google Shape;593;p69"/>
          <p:cNvSpPr txBox="1"/>
          <p:nvPr/>
        </p:nvSpPr>
        <p:spPr>
          <a:xfrm>
            <a:off x="304800" y="1371600"/>
            <a:ext cx="8610600" cy="27749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Times"/>
              <a:buNone/>
            </a:pPr>
            <a:r>
              <a:rPr b="1" i="0" lang="en-US" sz="3200" u="none">
                <a:solidFill>
                  <a:srgbClr val="002060"/>
                </a:solidFill>
                <a:latin typeface="Times"/>
                <a:ea typeface="Times"/>
                <a:cs typeface="Times"/>
                <a:sym typeface="Times"/>
              </a:rPr>
              <a:t>1: No, there are only three blocks. </a:t>
            </a:r>
            <a:endParaRPr/>
          </a:p>
          <a:p>
            <a:pPr indent="0" lvl="0" marL="0" marR="0" rtl="0" algn="just">
              <a:lnSpc>
                <a:spcPct val="100000"/>
              </a:lnSpc>
              <a:spcBef>
                <a:spcPts val="1600"/>
              </a:spcBef>
              <a:spcAft>
                <a:spcPts val="0"/>
              </a:spcAft>
              <a:buClr>
                <a:srgbClr val="002060"/>
              </a:buClr>
              <a:buSzPts val="3200"/>
              <a:buFont typeface="Times"/>
              <a:buNone/>
            </a:pPr>
            <a:r>
              <a:rPr b="1" i="0" lang="en-US" sz="3200" u="none">
                <a:solidFill>
                  <a:srgbClr val="002060"/>
                </a:solidFill>
                <a:latin typeface="Times"/>
                <a:ea typeface="Times"/>
                <a:cs typeface="Times"/>
                <a:sym typeface="Times"/>
              </a:rPr>
              <a:t>2: No, the blocks are not contiguous.</a:t>
            </a:r>
            <a:endParaRPr/>
          </a:p>
          <a:p>
            <a:pPr indent="0" lvl="0" marL="0" marR="0" rtl="0" algn="just">
              <a:lnSpc>
                <a:spcPct val="100000"/>
              </a:lnSpc>
              <a:spcBef>
                <a:spcPts val="1600"/>
              </a:spcBef>
              <a:spcAft>
                <a:spcPts val="0"/>
              </a:spcAft>
              <a:buClr>
                <a:srgbClr val="002060"/>
              </a:buClr>
              <a:buSzPts val="3200"/>
              <a:buFont typeface="Times"/>
              <a:buNone/>
            </a:pPr>
            <a:r>
              <a:rPr b="1" i="0" lang="en-US" sz="3200" u="none">
                <a:solidFill>
                  <a:srgbClr val="002060"/>
                </a:solidFill>
                <a:latin typeface="Times"/>
                <a:ea typeface="Times"/>
                <a:cs typeface="Times"/>
                <a:sym typeface="Times"/>
              </a:rPr>
              <a:t>3: No, 31 in the first block is not divisible by 4. </a:t>
            </a:r>
            <a:endParaRPr/>
          </a:p>
          <a:p>
            <a:pPr indent="0" lvl="0" marL="0" marR="0" rtl="0" algn="just">
              <a:lnSpc>
                <a:spcPct val="100000"/>
              </a:lnSpc>
              <a:spcBef>
                <a:spcPts val="1600"/>
              </a:spcBef>
              <a:spcAft>
                <a:spcPts val="0"/>
              </a:spcAft>
              <a:buClr>
                <a:srgbClr val="002060"/>
              </a:buClr>
              <a:buSzPts val="3200"/>
              <a:buFont typeface="Times"/>
              <a:buNone/>
            </a:pPr>
            <a:r>
              <a:rPr b="1" i="0" lang="en-US" sz="3200" u="none">
                <a:solidFill>
                  <a:srgbClr val="002060"/>
                </a:solidFill>
                <a:latin typeface="Times"/>
                <a:ea typeface="Times"/>
                <a:cs typeface="Times"/>
                <a:sym typeface="Times"/>
              </a:rPr>
              <a:t>4: Yes, all three requirements are fulfilled.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70"/>
          <p:cNvSpPr txBox="1"/>
          <p:nvPr/>
        </p:nvSpPr>
        <p:spPr>
          <a:xfrm>
            <a:off x="838200" y="2378075"/>
            <a:ext cx="7391400" cy="2346325"/>
          </a:xfrm>
          <a:prstGeom prst="rect">
            <a:avLst/>
          </a:prstGeom>
          <a:noFill/>
          <a:ln cap="flat" cmpd="sng" w="5715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a:buNone/>
            </a:pPr>
            <a:r>
              <a:rPr b="1" i="1" lang="en-US" sz="3600" u="none">
                <a:solidFill>
                  <a:schemeClr val="dk1"/>
                </a:solidFill>
                <a:latin typeface="Times"/>
                <a:ea typeface="Times"/>
                <a:cs typeface="Times"/>
                <a:sym typeface="Times"/>
              </a:rPr>
              <a:t>In subnetting, </a:t>
            </a:r>
            <a:br>
              <a:rPr b="1" i="1" lang="en-US" sz="3600" u="none">
                <a:solidFill>
                  <a:schemeClr val="dk1"/>
                </a:solidFill>
                <a:latin typeface="Times"/>
                <a:ea typeface="Times"/>
                <a:cs typeface="Times"/>
                <a:sym typeface="Times"/>
              </a:rPr>
            </a:br>
            <a:r>
              <a:rPr b="1" i="1" lang="en-US" sz="3600" u="none">
                <a:solidFill>
                  <a:schemeClr val="dk1"/>
                </a:solidFill>
                <a:latin typeface="Times"/>
                <a:ea typeface="Times"/>
                <a:cs typeface="Times"/>
                <a:sym typeface="Times"/>
              </a:rPr>
              <a:t>we need the first address of the </a:t>
            </a:r>
            <a:br>
              <a:rPr b="1" i="1" lang="en-US" sz="3600" u="none">
                <a:solidFill>
                  <a:schemeClr val="dk1"/>
                </a:solidFill>
                <a:latin typeface="Times"/>
                <a:ea typeface="Times"/>
                <a:cs typeface="Times"/>
                <a:sym typeface="Times"/>
              </a:rPr>
            </a:br>
            <a:r>
              <a:rPr b="1" i="1" lang="en-US" sz="3600" u="none">
                <a:solidFill>
                  <a:schemeClr val="dk1"/>
                </a:solidFill>
                <a:latin typeface="Times"/>
                <a:ea typeface="Times"/>
                <a:cs typeface="Times"/>
                <a:sym typeface="Times"/>
              </a:rPr>
              <a:t>subnet and the subnet mask to </a:t>
            </a:r>
            <a:br>
              <a:rPr b="1" i="1" lang="en-US" sz="3600" u="none">
                <a:solidFill>
                  <a:schemeClr val="dk1"/>
                </a:solidFill>
                <a:latin typeface="Times"/>
                <a:ea typeface="Times"/>
                <a:cs typeface="Times"/>
                <a:sym typeface="Times"/>
              </a:rPr>
            </a:br>
            <a:r>
              <a:rPr b="1" i="1" lang="en-US" sz="3600" u="none">
                <a:solidFill>
                  <a:schemeClr val="dk1"/>
                </a:solidFill>
                <a:latin typeface="Times"/>
                <a:ea typeface="Times"/>
                <a:cs typeface="Times"/>
                <a:sym typeface="Times"/>
              </a:rPr>
              <a:t>define the range of addresses.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71"/>
          <p:cNvSpPr txBox="1"/>
          <p:nvPr/>
        </p:nvSpPr>
        <p:spPr>
          <a:xfrm>
            <a:off x="685800" y="2133600"/>
            <a:ext cx="7772400" cy="2895600"/>
          </a:xfrm>
          <a:prstGeom prst="rect">
            <a:avLst/>
          </a:prstGeom>
          <a:noFill/>
          <a:ln cap="flat" cmpd="sng" w="5715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a:buNone/>
            </a:pPr>
            <a:r>
              <a:rPr b="1" i="0" lang="en-US" sz="3600" u="none">
                <a:solidFill>
                  <a:schemeClr val="dk1"/>
                </a:solidFill>
                <a:latin typeface="Times"/>
                <a:ea typeface="Times"/>
                <a:cs typeface="Times"/>
                <a:sym typeface="Times"/>
              </a:rPr>
              <a:t>In supernetting, </a:t>
            </a:r>
            <a:br>
              <a:rPr b="1" i="0" lang="en-US" sz="3600" u="none">
                <a:solidFill>
                  <a:schemeClr val="dk1"/>
                </a:solidFill>
                <a:latin typeface="Times"/>
                <a:ea typeface="Times"/>
                <a:cs typeface="Times"/>
                <a:sym typeface="Times"/>
              </a:rPr>
            </a:br>
            <a:r>
              <a:rPr b="1" i="0" lang="en-US" sz="3600" u="none">
                <a:solidFill>
                  <a:schemeClr val="dk1"/>
                </a:solidFill>
                <a:latin typeface="Times"/>
                <a:ea typeface="Times"/>
                <a:cs typeface="Times"/>
                <a:sym typeface="Times"/>
              </a:rPr>
              <a:t>we need the first address of </a:t>
            </a:r>
            <a:br>
              <a:rPr b="1" i="0" lang="en-US" sz="3600" u="none">
                <a:solidFill>
                  <a:schemeClr val="dk1"/>
                </a:solidFill>
                <a:latin typeface="Times"/>
                <a:ea typeface="Times"/>
                <a:cs typeface="Times"/>
                <a:sym typeface="Times"/>
              </a:rPr>
            </a:br>
            <a:r>
              <a:rPr b="1" i="0" lang="en-US" sz="3600" u="none">
                <a:solidFill>
                  <a:schemeClr val="dk1"/>
                </a:solidFill>
                <a:latin typeface="Times"/>
                <a:ea typeface="Times"/>
                <a:cs typeface="Times"/>
                <a:sym typeface="Times"/>
              </a:rPr>
              <a:t>the supernet </a:t>
            </a:r>
            <a:br>
              <a:rPr b="1" i="0" lang="en-US" sz="3600" u="none">
                <a:solidFill>
                  <a:schemeClr val="dk1"/>
                </a:solidFill>
                <a:latin typeface="Times"/>
                <a:ea typeface="Times"/>
                <a:cs typeface="Times"/>
                <a:sym typeface="Times"/>
              </a:rPr>
            </a:br>
            <a:r>
              <a:rPr b="1" i="0" lang="en-US" sz="3600" u="none">
                <a:solidFill>
                  <a:schemeClr val="dk1"/>
                </a:solidFill>
                <a:latin typeface="Times"/>
                <a:ea typeface="Times"/>
                <a:cs typeface="Times"/>
                <a:sym typeface="Times"/>
              </a:rPr>
              <a:t>and the supernet mask to </a:t>
            </a:r>
            <a:br>
              <a:rPr b="1" i="0" lang="en-US" sz="3600" u="none">
                <a:solidFill>
                  <a:schemeClr val="dk1"/>
                </a:solidFill>
                <a:latin typeface="Times"/>
                <a:ea typeface="Times"/>
                <a:cs typeface="Times"/>
                <a:sym typeface="Times"/>
              </a:rPr>
            </a:br>
            <a:r>
              <a:rPr b="1" i="0" lang="en-US" sz="3600" u="none">
                <a:solidFill>
                  <a:schemeClr val="dk1"/>
                </a:solidFill>
                <a:latin typeface="Times"/>
                <a:ea typeface="Times"/>
                <a:cs typeface="Times"/>
                <a:sym typeface="Times"/>
              </a:rPr>
              <a:t>define the range of addresses.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72"/>
          <p:cNvSpPr txBox="1"/>
          <p:nvPr/>
        </p:nvSpPr>
        <p:spPr>
          <a:xfrm>
            <a:off x="76200" y="0"/>
            <a:ext cx="16144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600"/>
              <a:buFont typeface="Times New Roman"/>
              <a:buNone/>
            </a:pPr>
            <a:r>
              <a:rPr b="1" i="0" lang="en-US" sz="1600" u="none">
                <a:solidFill>
                  <a:schemeClr val="accent2"/>
                </a:solidFill>
                <a:latin typeface="Times New Roman"/>
                <a:ea typeface="Times New Roman"/>
                <a:cs typeface="Times New Roman"/>
                <a:sym typeface="Times New Roman"/>
              </a:rPr>
              <a:t>Figure  5-12</a:t>
            </a:r>
            <a:endParaRPr/>
          </a:p>
        </p:txBody>
      </p:sp>
      <p:pic>
        <p:nvPicPr>
          <p:cNvPr id="609" name="Google Shape;609;p72"/>
          <p:cNvPicPr preferRelativeResize="0"/>
          <p:nvPr/>
        </p:nvPicPr>
        <p:blipFill rotWithShape="1">
          <a:blip r:embed="rId3">
            <a:alphaModFix/>
          </a:blip>
          <a:srcRect b="0" l="0" r="0" t="0"/>
          <a:stretch/>
        </p:blipFill>
        <p:spPr>
          <a:xfrm>
            <a:off x="879475" y="1719262"/>
            <a:ext cx="7383462" cy="4529137"/>
          </a:xfrm>
          <a:prstGeom prst="rect">
            <a:avLst/>
          </a:prstGeom>
          <a:noFill/>
          <a:ln>
            <a:noFill/>
          </a:ln>
        </p:spPr>
      </p:pic>
      <p:sp>
        <p:nvSpPr>
          <p:cNvPr id="610" name="Google Shape;610;p72"/>
          <p:cNvSpPr txBox="1"/>
          <p:nvPr/>
        </p:nvSpPr>
        <p:spPr>
          <a:xfrm>
            <a:off x="1828800" y="95250"/>
            <a:ext cx="5645150" cy="1066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3200"/>
              <a:buFont typeface="Times New Roman"/>
              <a:buNone/>
            </a:pPr>
            <a:r>
              <a:rPr b="1" i="0" lang="en-US" sz="3200" u="none">
                <a:solidFill>
                  <a:schemeClr val="accent2"/>
                </a:solidFill>
                <a:latin typeface="Times New Roman"/>
                <a:ea typeface="Times New Roman"/>
                <a:cs typeface="Times New Roman"/>
                <a:sym typeface="Times New Roman"/>
              </a:rPr>
              <a:t>Comparison of subnet, default, </a:t>
            </a:r>
            <a:endParaRPr/>
          </a:p>
          <a:p>
            <a:pPr indent="0" lvl="0" marL="0" marR="0" rtl="0" algn="ctr">
              <a:lnSpc>
                <a:spcPct val="100000"/>
              </a:lnSpc>
              <a:spcBef>
                <a:spcPts val="0"/>
              </a:spcBef>
              <a:spcAft>
                <a:spcPts val="0"/>
              </a:spcAft>
              <a:buClr>
                <a:schemeClr val="accent2"/>
              </a:buClr>
              <a:buSzPts val="3200"/>
              <a:buFont typeface="Times New Roman"/>
              <a:buNone/>
            </a:pPr>
            <a:r>
              <a:rPr b="1" i="0" lang="en-US" sz="3200" u="none">
                <a:solidFill>
                  <a:schemeClr val="accent2"/>
                </a:solidFill>
                <a:latin typeface="Times New Roman"/>
                <a:ea typeface="Times New Roman"/>
                <a:cs typeface="Times New Roman"/>
                <a:sym typeface="Times New Roman"/>
              </a:rPr>
              <a:t>and supernet masks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73"/>
          <p:cNvSpPr txBox="1"/>
          <p:nvPr/>
        </p:nvSpPr>
        <p:spPr>
          <a:xfrm>
            <a:off x="144462" y="249237"/>
            <a:ext cx="2100262" cy="584200"/>
          </a:xfrm>
          <a:prstGeom prst="rect">
            <a:avLst/>
          </a:prstGeom>
          <a:solidFill>
            <a:srgbClr val="26859D"/>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1" lang="en-US" sz="3200" u="none">
                <a:solidFill>
                  <a:schemeClr val="lt1"/>
                </a:solidFill>
                <a:latin typeface="Times New Roman"/>
                <a:ea typeface="Times New Roman"/>
                <a:cs typeface="Times New Roman"/>
                <a:sym typeface="Times New Roman"/>
              </a:rPr>
              <a:t>Example</a:t>
            </a:r>
            <a:r>
              <a:rPr b="1" i="1" lang="en-US" sz="3200" u="none">
                <a:solidFill>
                  <a:schemeClr val="dk1"/>
                </a:solidFill>
                <a:latin typeface="Times New Roman"/>
                <a:ea typeface="Times New Roman"/>
                <a:cs typeface="Times New Roman"/>
                <a:sym typeface="Times New Roman"/>
              </a:rPr>
              <a:t> </a:t>
            </a:r>
            <a:r>
              <a:rPr b="1" i="1" lang="en-US" sz="3200" u="none">
                <a:solidFill>
                  <a:schemeClr val="lt1"/>
                </a:solidFill>
                <a:latin typeface="Times New Roman"/>
                <a:ea typeface="Times New Roman"/>
                <a:cs typeface="Times New Roman"/>
                <a:sym typeface="Times New Roman"/>
              </a:rPr>
              <a:t>6</a:t>
            </a:r>
            <a:r>
              <a:rPr b="1" i="1" lang="en-US" sz="3200" u="none">
                <a:solidFill>
                  <a:schemeClr val="dk1"/>
                </a:solidFill>
                <a:latin typeface="Times New Roman"/>
                <a:ea typeface="Times New Roman"/>
                <a:cs typeface="Times New Roman"/>
                <a:sym typeface="Times New Roman"/>
              </a:rPr>
              <a:t> </a:t>
            </a:r>
            <a:endParaRPr/>
          </a:p>
        </p:txBody>
      </p:sp>
      <p:sp>
        <p:nvSpPr>
          <p:cNvPr id="616" name="Google Shape;616;p73"/>
          <p:cNvSpPr txBox="1"/>
          <p:nvPr/>
        </p:nvSpPr>
        <p:spPr>
          <a:xfrm>
            <a:off x="457200" y="914400"/>
            <a:ext cx="8458200" cy="11906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a:buNone/>
            </a:pPr>
            <a:r>
              <a:rPr b="0" i="0" lang="en-US" sz="3600" u="none">
                <a:solidFill>
                  <a:srgbClr val="002060"/>
                </a:solidFill>
                <a:latin typeface="Times"/>
                <a:ea typeface="Times"/>
                <a:cs typeface="Times"/>
                <a:sym typeface="Times"/>
              </a:rPr>
              <a:t>We need to make a supernetwork out of 16 class C blocks. What is the supernet mask?</a:t>
            </a:r>
            <a:endParaRPr/>
          </a:p>
        </p:txBody>
      </p:sp>
      <p:sp>
        <p:nvSpPr>
          <p:cNvPr id="617" name="Google Shape;617;p73"/>
          <p:cNvSpPr txBox="1"/>
          <p:nvPr/>
        </p:nvSpPr>
        <p:spPr>
          <a:xfrm>
            <a:off x="228600" y="2362200"/>
            <a:ext cx="1619250" cy="584200"/>
          </a:xfrm>
          <a:prstGeom prst="rect">
            <a:avLst/>
          </a:prstGeom>
          <a:solidFill>
            <a:srgbClr val="26859D"/>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1" lang="en-US" sz="3200" u="none">
                <a:solidFill>
                  <a:schemeClr val="lt1"/>
                </a:solidFill>
                <a:latin typeface="Times New Roman"/>
                <a:ea typeface="Times New Roman"/>
                <a:cs typeface="Times New Roman"/>
                <a:sym typeface="Times New Roman"/>
              </a:rPr>
              <a:t>Solution</a:t>
            </a:r>
            <a:endParaRPr/>
          </a:p>
        </p:txBody>
      </p:sp>
      <p:sp>
        <p:nvSpPr>
          <p:cNvPr id="618" name="Google Shape;618;p73"/>
          <p:cNvSpPr txBox="1"/>
          <p:nvPr/>
        </p:nvSpPr>
        <p:spPr>
          <a:xfrm>
            <a:off x="304800" y="3124200"/>
            <a:ext cx="8610600" cy="34083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Times"/>
              <a:buNone/>
            </a:pPr>
            <a:r>
              <a:rPr b="0" i="0" lang="en-US" sz="3200" u="none">
                <a:solidFill>
                  <a:srgbClr val="002060"/>
                </a:solidFill>
                <a:latin typeface="Times"/>
                <a:ea typeface="Times"/>
                <a:cs typeface="Times"/>
                <a:sym typeface="Times"/>
              </a:rPr>
              <a:t>We need 16 blocks. For 16 blocks we need to change four 1s to 0s in the default mask. So the mask is </a:t>
            </a:r>
            <a:endParaRPr/>
          </a:p>
          <a:p>
            <a:pPr indent="0" lvl="0" marL="0" marR="0" rtl="0" algn="ctr">
              <a:lnSpc>
                <a:spcPct val="100000"/>
              </a:lnSpc>
              <a:spcBef>
                <a:spcPts val="700"/>
              </a:spcBef>
              <a:spcAft>
                <a:spcPts val="0"/>
              </a:spcAft>
              <a:buClr>
                <a:srgbClr val="002060"/>
              </a:buClr>
              <a:buSzPts val="3200"/>
              <a:buFont typeface="Times"/>
              <a:buNone/>
            </a:pPr>
            <a:r>
              <a:rPr b="0" i="0" lang="en-US" sz="3200" u="none">
                <a:solidFill>
                  <a:srgbClr val="002060"/>
                </a:solidFill>
                <a:latin typeface="Times"/>
                <a:ea typeface="Times"/>
                <a:cs typeface="Times"/>
                <a:sym typeface="Times"/>
              </a:rPr>
              <a:t>11111111   11111111   1111</a:t>
            </a:r>
            <a:r>
              <a:rPr b="1" i="0" lang="en-US" sz="3200" u="none">
                <a:solidFill>
                  <a:srgbClr val="002060"/>
                </a:solidFill>
                <a:latin typeface="Times"/>
                <a:ea typeface="Times"/>
                <a:cs typeface="Times"/>
                <a:sym typeface="Times"/>
              </a:rPr>
              <a:t>0000</a:t>
            </a:r>
            <a:r>
              <a:rPr b="0" i="0" lang="en-US" sz="3200" u="none">
                <a:solidFill>
                  <a:srgbClr val="002060"/>
                </a:solidFill>
                <a:latin typeface="Times"/>
                <a:ea typeface="Times"/>
                <a:cs typeface="Times"/>
                <a:sym typeface="Times"/>
              </a:rPr>
              <a:t>  00000000</a:t>
            </a:r>
            <a:endParaRPr/>
          </a:p>
          <a:p>
            <a:pPr indent="0" lvl="0" marL="0" marR="0" rtl="0" algn="ctr">
              <a:lnSpc>
                <a:spcPct val="100000"/>
              </a:lnSpc>
              <a:spcBef>
                <a:spcPts val="100"/>
              </a:spcBef>
              <a:spcAft>
                <a:spcPts val="0"/>
              </a:spcAft>
              <a:buClr>
                <a:srgbClr val="002060"/>
              </a:buClr>
              <a:buSzPts val="3200"/>
              <a:buFont typeface="Times"/>
              <a:buNone/>
            </a:pPr>
            <a:r>
              <a:rPr b="0" i="0" lang="en-US" sz="3200" u="none">
                <a:solidFill>
                  <a:srgbClr val="002060"/>
                </a:solidFill>
                <a:latin typeface="Times"/>
                <a:ea typeface="Times"/>
                <a:cs typeface="Times"/>
                <a:sym typeface="Times"/>
              </a:rPr>
              <a:t>or</a:t>
            </a:r>
            <a:endParaRPr/>
          </a:p>
          <a:p>
            <a:pPr indent="0" lvl="0" marL="0" marR="0" rtl="0" algn="ctr">
              <a:lnSpc>
                <a:spcPct val="100000"/>
              </a:lnSpc>
              <a:spcBef>
                <a:spcPts val="1700"/>
              </a:spcBef>
              <a:spcAft>
                <a:spcPts val="0"/>
              </a:spcAft>
              <a:buClr>
                <a:srgbClr val="002060"/>
              </a:buClr>
              <a:buSzPts val="3200"/>
              <a:buFont typeface="Times"/>
              <a:buNone/>
            </a:pPr>
            <a:r>
              <a:rPr b="1" i="0" lang="en-US" sz="3200" u="none">
                <a:solidFill>
                  <a:srgbClr val="002060"/>
                </a:solidFill>
                <a:latin typeface="Times"/>
                <a:ea typeface="Times"/>
                <a:cs typeface="Times"/>
                <a:sym typeface="Times"/>
              </a:rPr>
              <a:t>255.255.240.0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74"/>
          <p:cNvSpPr txBox="1"/>
          <p:nvPr/>
        </p:nvSpPr>
        <p:spPr>
          <a:xfrm>
            <a:off x="144462" y="249237"/>
            <a:ext cx="2119312" cy="617537"/>
          </a:xfrm>
          <a:prstGeom prst="rect">
            <a:avLst/>
          </a:prstGeom>
          <a:solidFill>
            <a:schemeClr val="accent1"/>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Example 7 </a:t>
            </a:r>
            <a:endParaRPr/>
          </a:p>
        </p:txBody>
      </p:sp>
      <p:sp>
        <p:nvSpPr>
          <p:cNvPr id="624" name="Google Shape;624;p74"/>
          <p:cNvSpPr txBox="1"/>
          <p:nvPr/>
        </p:nvSpPr>
        <p:spPr>
          <a:xfrm>
            <a:off x="457200" y="1403350"/>
            <a:ext cx="8458200" cy="33972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A supernet has a first address of 205.16.32.0 and a supernet mask of 255.255.248.0. A router receives three packets with the following destination addresses:</a:t>
            </a:r>
            <a:endParaRPr/>
          </a:p>
          <a:p>
            <a:pPr indent="0" lvl="2" marL="914400" marR="0" rtl="0" algn="just">
              <a:lnSpc>
                <a:spcPct val="100000"/>
              </a:lnSpc>
              <a:spcBef>
                <a:spcPts val="200"/>
              </a:spcBef>
              <a:spcAft>
                <a:spcPts val="0"/>
              </a:spcAft>
              <a:buClr>
                <a:srgbClr val="002060"/>
              </a:buClr>
              <a:buSzPts val="2800"/>
              <a:buFont typeface="Times"/>
              <a:buNone/>
            </a:pPr>
            <a:r>
              <a:rPr b="1" i="0" lang="en-US" sz="2800" u="none" cap="none" strike="noStrike">
                <a:solidFill>
                  <a:srgbClr val="002060"/>
                </a:solidFill>
                <a:latin typeface="Times"/>
                <a:ea typeface="Times"/>
                <a:cs typeface="Times"/>
                <a:sym typeface="Times"/>
              </a:rPr>
              <a:t>205.16.37.44</a:t>
            </a:r>
            <a:endParaRPr/>
          </a:p>
          <a:p>
            <a:pPr indent="0" lvl="2" marL="914400" marR="0" rtl="0" algn="just">
              <a:lnSpc>
                <a:spcPct val="100000"/>
              </a:lnSpc>
              <a:spcBef>
                <a:spcPts val="200"/>
              </a:spcBef>
              <a:spcAft>
                <a:spcPts val="0"/>
              </a:spcAft>
              <a:buClr>
                <a:srgbClr val="002060"/>
              </a:buClr>
              <a:buSzPts val="2800"/>
              <a:buFont typeface="Times"/>
              <a:buNone/>
            </a:pPr>
            <a:r>
              <a:rPr b="1" i="0" lang="en-US" sz="2800" u="none" cap="none" strike="noStrike">
                <a:solidFill>
                  <a:srgbClr val="002060"/>
                </a:solidFill>
                <a:latin typeface="Times"/>
                <a:ea typeface="Times"/>
                <a:cs typeface="Times"/>
                <a:sym typeface="Times"/>
              </a:rPr>
              <a:t>205.16.42.56</a:t>
            </a:r>
            <a:endParaRPr/>
          </a:p>
          <a:p>
            <a:pPr indent="0" lvl="2" marL="914400" marR="0" rtl="0" algn="just">
              <a:lnSpc>
                <a:spcPct val="100000"/>
              </a:lnSpc>
              <a:spcBef>
                <a:spcPts val="200"/>
              </a:spcBef>
              <a:spcAft>
                <a:spcPts val="0"/>
              </a:spcAft>
              <a:buClr>
                <a:srgbClr val="002060"/>
              </a:buClr>
              <a:buSzPts val="2800"/>
              <a:buFont typeface="Times"/>
              <a:buNone/>
            </a:pPr>
            <a:r>
              <a:rPr b="1" i="0" lang="en-US" sz="2800" u="none" cap="none" strike="noStrike">
                <a:solidFill>
                  <a:srgbClr val="002060"/>
                </a:solidFill>
                <a:latin typeface="Times"/>
                <a:ea typeface="Times"/>
                <a:cs typeface="Times"/>
                <a:sym typeface="Times"/>
              </a:rPr>
              <a:t>205.17.33.76</a:t>
            </a:r>
            <a:endParaRPr/>
          </a:p>
          <a:p>
            <a:pPr indent="0" lvl="0" marL="0" marR="0" rtl="0" algn="just">
              <a:lnSpc>
                <a:spcPct val="100000"/>
              </a:lnSpc>
              <a:spcBef>
                <a:spcPts val="160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Which packet belongs to the supernet?</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75"/>
          <p:cNvSpPr txBox="1"/>
          <p:nvPr/>
        </p:nvSpPr>
        <p:spPr>
          <a:xfrm>
            <a:off x="228600" y="533400"/>
            <a:ext cx="1643062" cy="617537"/>
          </a:xfrm>
          <a:prstGeom prst="rect">
            <a:avLst/>
          </a:prstGeom>
          <a:solidFill>
            <a:schemeClr val="lt2"/>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Solution</a:t>
            </a:r>
            <a:endParaRPr/>
          </a:p>
        </p:txBody>
      </p:sp>
      <p:sp>
        <p:nvSpPr>
          <p:cNvPr id="630" name="Google Shape;630;p75"/>
          <p:cNvSpPr txBox="1"/>
          <p:nvPr/>
        </p:nvSpPr>
        <p:spPr>
          <a:xfrm>
            <a:off x="304800" y="1371600"/>
            <a:ext cx="8610600" cy="3632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Times"/>
              <a:buNone/>
            </a:pPr>
            <a:r>
              <a:rPr b="0" i="0" lang="en-US" sz="3200" u="none">
                <a:solidFill>
                  <a:srgbClr val="002060"/>
                </a:solidFill>
                <a:latin typeface="Times"/>
                <a:ea typeface="Times"/>
                <a:cs typeface="Times"/>
                <a:sym typeface="Times"/>
              </a:rPr>
              <a:t>We apply the supernet mask to see if we can find the beginning address.</a:t>
            </a:r>
            <a:endParaRPr/>
          </a:p>
          <a:p>
            <a:pPr indent="0" lvl="0" marL="0" marR="0" rtl="0" algn="just">
              <a:lnSpc>
                <a:spcPct val="100000"/>
              </a:lnSpc>
              <a:spcBef>
                <a:spcPts val="140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205.16.37.44   AND  255.255.248.0</a:t>
            </a:r>
            <a:r>
              <a:rPr b="0" i="0" lang="en-US" sz="2800" u="none">
                <a:solidFill>
                  <a:srgbClr val="002060"/>
                </a:solidFill>
                <a:latin typeface="Arial"/>
                <a:ea typeface="Arial"/>
                <a:cs typeface="Arial"/>
                <a:sym typeface="Arial"/>
              </a:rPr>
              <a:t> 	🡺  </a:t>
            </a:r>
            <a:r>
              <a:rPr b="0" i="0" lang="en-US" sz="2800" u="none">
                <a:solidFill>
                  <a:srgbClr val="002060"/>
                </a:solidFill>
                <a:latin typeface="Times"/>
                <a:ea typeface="Times"/>
                <a:cs typeface="Times"/>
                <a:sym typeface="Times"/>
              </a:rPr>
              <a:t>205.16.32.0</a:t>
            </a:r>
            <a:endParaRPr/>
          </a:p>
          <a:p>
            <a:pPr indent="0" lvl="0" marL="0" marR="0" rtl="0" algn="just">
              <a:lnSpc>
                <a:spcPct val="100000"/>
              </a:lnSpc>
              <a:spcBef>
                <a:spcPts val="140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205.16.42.56   AND  255.255.248.0	</a:t>
            </a:r>
            <a:r>
              <a:rPr b="0" i="0" lang="en-US" sz="2800" u="none">
                <a:solidFill>
                  <a:srgbClr val="002060"/>
                </a:solidFill>
                <a:latin typeface="Arial"/>
                <a:ea typeface="Arial"/>
                <a:cs typeface="Arial"/>
                <a:sym typeface="Arial"/>
              </a:rPr>
              <a:t>🡺  </a:t>
            </a:r>
            <a:r>
              <a:rPr b="0" i="0" lang="en-US" sz="2800" u="none">
                <a:solidFill>
                  <a:srgbClr val="002060"/>
                </a:solidFill>
                <a:latin typeface="Times"/>
                <a:ea typeface="Times"/>
                <a:cs typeface="Times"/>
                <a:sym typeface="Times"/>
              </a:rPr>
              <a:t>205.16.40.0</a:t>
            </a:r>
            <a:endParaRPr/>
          </a:p>
          <a:p>
            <a:pPr indent="0" lvl="0" marL="0" marR="0" rtl="0" algn="just">
              <a:lnSpc>
                <a:spcPct val="100000"/>
              </a:lnSpc>
              <a:spcBef>
                <a:spcPts val="140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205.17.33.76   AND  255.255.248.0	</a:t>
            </a:r>
            <a:r>
              <a:rPr b="0" i="0" lang="en-US" sz="2800" u="none">
                <a:solidFill>
                  <a:srgbClr val="002060"/>
                </a:solidFill>
                <a:latin typeface="Arial"/>
                <a:ea typeface="Arial"/>
                <a:cs typeface="Arial"/>
                <a:sym typeface="Arial"/>
              </a:rPr>
              <a:t>🡺  </a:t>
            </a:r>
            <a:r>
              <a:rPr b="0" i="0" lang="en-US" sz="2800" u="none">
                <a:solidFill>
                  <a:srgbClr val="002060"/>
                </a:solidFill>
                <a:latin typeface="Times"/>
                <a:ea typeface="Times"/>
                <a:cs typeface="Times"/>
                <a:sym typeface="Times"/>
              </a:rPr>
              <a:t>205.17.32.0</a:t>
            </a:r>
            <a:endParaRPr/>
          </a:p>
          <a:p>
            <a:pPr indent="0" lvl="0" marL="0" marR="0" rtl="0" algn="just">
              <a:lnSpc>
                <a:spcPct val="100000"/>
              </a:lnSpc>
              <a:spcBef>
                <a:spcPts val="1400"/>
              </a:spcBef>
              <a:spcAft>
                <a:spcPts val="0"/>
              </a:spcAft>
              <a:buClr>
                <a:srgbClr val="002060"/>
              </a:buClr>
              <a:buSzPts val="2800"/>
              <a:buFont typeface="Times"/>
              <a:buNone/>
            </a:pPr>
            <a:r>
              <a:rPr b="1" i="0" lang="en-US" sz="2800" u="none">
                <a:solidFill>
                  <a:srgbClr val="002060"/>
                </a:solidFill>
                <a:latin typeface="Times"/>
                <a:ea typeface="Times"/>
                <a:cs typeface="Times"/>
                <a:sym typeface="Times"/>
              </a:rPr>
              <a:t>Only the first address belongs to this supernet.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76"/>
          <p:cNvSpPr txBox="1"/>
          <p:nvPr/>
        </p:nvSpPr>
        <p:spPr>
          <a:xfrm>
            <a:off x="144462" y="249237"/>
            <a:ext cx="2100262" cy="584200"/>
          </a:xfrm>
          <a:prstGeom prst="rect">
            <a:avLst/>
          </a:prstGeom>
          <a:solidFill>
            <a:srgbClr val="26859D"/>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1" lang="en-US" sz="3200" u="none">
                <a:solidFill>
                  <a:schemeClr val="lt1"/>
                </a:solidFill>
                <a:latin typeface="Times New Roman"/>
                <a:ea typeface="Times New Roman"/>
                <a:cs typeface="Times New Roman"/>
                <a:sym typeface="Times New Roman"/>
              </a:rPr>
              <a:t>Example 8 </a:t>
            </a:r>
            <a:endParaRPr/>
          </a:p>
        </p:txBody>
      </p:sp>
      <p:sp>
        <p:nvSpPr>
          <p:cNvPr id="636" name="Google Shape;636;p76"/>
          <p:cNvSpPr txBox="1"/>
          <p:nvPr/>
        </p:nvSpPr>
        <p:spPr>
          <a:xfrm>
            <a:off x="457200" y="914400"/>
            <a:ext cx="84582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Times"/>
              <a:buNone/>
            </a:pPr>
            <a:r>
              <a:rPr b="0" i="0" lang="en-US" sz="2800" u="none">
                <a:solidFill>
                  <a:srgbClr val="002060"/>
                </a:solidFill>
                <a:latin typeface="Times"/>
                <a:ea typeface="Times"/>
                <a:cs typeface="Times"/>
                <a:sym typeface="Times"/>
              </a:rPr>
              <a:t>A supernet has a first address of 205.16.32.0 and a supernet mask of 255.255.248.0. How many blocks are in this supernet and what is the range of addresses?</a:t>
            </a:r>
            <a:endParaRPr/>
          </a:p>
        </p:txBody>
      </p:sp>
      <p:sp>
        <p:nvSpPr>
          <p:cNvPr id="637" name="Google Shape;637;p76"/>
          <p:cNvSpPr txBox="1"/>
          <p:nvPr/>
        </p:nvSpPr>
        <p:spPr>
          <a:xfrm>
            <a:off x="228600" y="2590800"/>
            <a:ext cx="1619250" cy="584200"/>
          </a:xfrm>
          <a:prstGeom prst="rect">
            <a:avLst/>
          </a:prstGeom>
          <a:solidFill>
            <a:srgbClr val="26859D"/>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1" lang="en-US" sz="3200" u="none">
                <a:solidFill>
                  <a:schemeClr val="lt1"/>
                </a:solidFill>
                <a:latin typeface="Times New Roman"/>
                <a:ea typeface="Times New Roman"/>
                <a:cs typeface="Times New Roman"/>
                <a:sym typeface="Times New Roman"/>
              </a:rPr>
              <a:t>Solution</a:t>
            </a:r>
            <a:endParaRPr/>
          </a:p>
        </p:txBody>
      </p:sp>
      <p:sp>
        <p:nvSpPr>
          <p:cNvPr id="638" name="Google Shape;638;p76"/>
          <p:cNvSpPr txBox="1"/>
          <p:nvPr/>
        </p:nvSpPr>
        <p:spPr>
          <a:xfrm>
            <a:off x="304800" y="3719512"/>
            <a:ext cx="8610600" cy="25542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Times"/>
              <a:buNone/>
            </a:pPr>
            <a:r>
              <a:rPr b="0" i="0" lang="en-US" sz="3200" u="none">
                <a:solidFill>
                  <a:srgbClr val="002060"/>
                </a:solidFill>
                <a:latin typeface="Times"/>
                <a:ea typeface="Times"/>
                <a:cs typeface="Times"/>
                <a:sym typeface="Times"/>
              </a:rPr>
              <a:t>The supernet has 21 1s. The default mask has 24 1s. Since the difference is 3, there are 2</a:t>
            </a:r>
            <a:r>
              <a:rPr b="0" baseline="30000" i="0" lang="en-US" sz="3200" u="none">
                <a:solidFill>
                  <a:srgbClr val="002060"/>
                </a:solidFill>
                <a:latin typeface="Times"/>
                <a:ea typeface="Times"/>
                <a:cs typeface="Times"/>
                <a:sym typeface="Times"/>
              </a:rPr>
              <a:t>3</a:t>
            </a:r>
            <a:r>
              <a:rPr b="0" i="0" lang="en-US" sz="3200" u="none">
                <a:solidFill>
                  <a:srgbClr val="002060"/>
                </a:solidFill>
                <a:latin typeface="Times"/>
                <a:ea typeface="Times"/>
                <a:cs typeface="Times"/>
                <a:sym typeface="Times"/>
              </a:rPr>
              <a:t> or 8 blocks in this supernet. The blocks are 205.16.32.0 to 205.16.39.0. The first address is 205.16.32.0. The last address is 205.16.39.255.</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7_Office Theme">
  <a:themeElements>
    <a:clrScheme name="default">
      <a:dk1>
        <a:srgbClr val="FFFFFF"/>
      </a:dk1>
      <a:lt1>
        <a:srgbClr val="44546A"/>
      </a:lt1>
      <a:dk2>
        <a:srgbClr val="E7E6E6"/>
      </a:dk2>
      <a:lt2>
        <a:srgbClr val="000000"/>
      </a:lt2>
      <a:accent1>
        <a:srgbClr val="1D9A78"/>
      </a:accent1>
      <a:accent2>
        <a:srgbClr val="8BC145"/>
      </a:accent2>
      <a:accent3>
        <a:srgbClr val="44546A"/>
      </a:accent3>
      <a:accent4>
        <a:srgbClr val="1D9A78"/>
      </a:accent4>
      <a:accent5>
        <a:srgbClr val="8BC145"/>
      </a:accent5>
      <a:accent6>
        <a:srgbClr val="44546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8_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0_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1_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6_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9_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3_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4_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11_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5_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7_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2000-01-15T04:50:39Z</dcterms:created>
  <dc:creator>Valued Gateway Client</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str>0x010100AFCE0B9C3C005A4D962909C93A8B6D84</vt:lpstr>
  </property>
  <property fmtid="{D5CDD505-2E9C-101B-9397-08002B2CF9AE}" pid="3" name="Is_Collaboration_Space_Locked">
    <vt:lpstr/>
  </property>
  <property fmtid="{D5CDD505-2E9C-101B-9397-08002B2CF9AE}" pid="4" name="Invited_Leaders">
    <vt:lpstr/>
  </property>
  <property fmtid="{D5CDD505-2E9C-101B-9397-08002B2CF9AE}" pid="5" name="FolderType">
    <vt:lpstr/>
  </property>
  <property fmtid="{D5CDD505-2E9C-101B-9397-08002B2CF9AE}" pid="6" name="CultureName">
    <vt:lpstr/>
  </property>
  <property fmtid="{D5CDD505-2E9C-101B-9397-08002B2CF9AE}" pid="7" name="LMS_Mappings">
    <vt:lpstr/>
  </property>
  <property fmtid="{D5CDD505-2E9C-101B-9397-08002B2CF9AE}" pid="8" name="IsNotebookLocked">
    <vt:lpstr/>
  </property>
  <property fmtid="{D5CDD505-2E9C-101B-9397-08002B2CF9AE}" pid="9" name="Leaders">
    <vt:lpstr/>
  </property>
  <property fmtid="{D5CDD505-2E9C-101B-9397-08002B2CF9AE}" pid="10" name="Distribution_Groups">
    <vt:lpstr/>
  </property>
  <property fmtid="{D5CDD505-2E9C-101B-9397-08002B2CF9AE}" pid="11" name="Templates">
    <vt:lpstr/>
  </property>
  <property fmtid="{D5CDD505-2E9C-101B-9397-08002B2CF9AE}" pid="12" name="Members">
    <vt:lpstr/>
  </property>
  <property fmtid="{D5CDD505-2E9C-101B-9397-08002B2CF9AE}" pid="13" name="Member_Groups">
    <vt:lpstr/>
  </property>
  <property fmtid="{D5CDD505-2E9C-101B-9397-08002B2CF9AE}" pid="14" name="Self_Registration_Enabled">
    <vt:lpstr/>
  </property>
  <property fmtid="{D5CDD505-2E9C-101B-9397-08002B2CF9AE}" pid="15" name="Has_Leaders_Only_SectionGroup">
    <vt:lpstr/>
  </property>
  <property fmtid="{D5CDD505-2E9C-101B-9397-08002B2CF9AE}" pid="16" name="NotebookType">
    <vt:lpstr/>
  </property>
  <property fmtid="{D5CDD505-2E9C-101B-9397-08002B2CF9AE}" pid="17" name="Math_Settings">
    <vt:lpstr/>
  </property>
  <property fmtid="{D5CDD505-2E9C-101B-9397-08002B2CF9AE}" pid="18" name="AppVersion">
    <vt:lpstr/>
  </property>
  <property fmtid="{D5CDD505-2E9C-101B-9397-08002B2CF9AE}" pid="19" name="Owner">
    <vt:lpstr/>
  </property>
  <property fmtid="{D5CDD505-2E9C-101B-9397-08002B2CF9AE}" pid="20" name="DefaultSectionNames">
    <vt:lpstr/>
  </property>
  <property fmtid="{D5CDD505-2E9C-101B-9397-08002B2CF9AE}" pid="21" name="Invited_Members">
    <vt:lpstr/>
  </property>
  <property fmtid="{D5CDD505-2E9C-101B-9397-08002B2CF9AE}" pid="22" name="TeamsChannelId">
    <vt:lpstr/>
  </property>
</Properties>
</file>