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Lst>
  <p:sldSz cx="12801600" cy="9601200" type="A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3915A"/>
    <a:srgbClr val="074736"/>
    <a:srgbClr val="F4EEA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5859"/>
  </p:normalViewPr>
  <p:slideViewPr>
    <p:cSldViewPr snapToGrid="0" snapToObjects="1">
      <p:cViewPr varScale="1">
        <p:scale>
          <a:sx n="58" d="100"/>
          <a:sy n="58" d="100"/>
        </p:scale>
        <p:origin x="85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60120" y="1571308"/>
            <a:ext cx="10881360" cy="3342640"/>
          </a:xfrm>
        </p:spPr>
        <p:txBody>
          <a:bodyPr anchor="b"/>
          <a:lstStyle>
            <a:lvl1pPr algn="ctr">
              <a:defRPr sz="8400"/>
            </a:lvl1pPr>
          </a:lstStyle>
          <a:p>
            <a:r>
              <a:rPr lang="en-GB"/>
              <a:t>Click to edit Master title style</a:t>
            </a:r>
            <a:endParaRPr lang="en-US" dirty="0"/>
          </a:p>
        </p:txBody>
      </p:sp>
      <p:sp>
        <p:nvSpPr>
          <p:cNvPr id="3" name="Subtitle 2"/>
          <p:cNvSpPr>
            <a:spLocks noGrp="1"/>
          </p:cNvSpPr>
          <p:nvPr>
            <p:ph type="subTitle" idx="1"/>
          </p:nvPr>
        </p:nvSpPr>
        <p:spPr>
          <a:xfrm>
            <a:off x="1600200" y="5042853"/>
            <a:ext cx="9601200" cy="2318067"/>
          </a:xfrm>
        </p:spPr>
        <p:txBody>
          <a:bodyPr/>
          <a:lstStyle>
            <a:lvl1pPr marL="0" indent="0" algn="ctr">
              <a:buNone/>
              <a:defRPr sz="3360"/>
            </a:lvl1pPr>
            <a:lvl2pPr marL="640080" indent="0" algn="ctr">
              <a:buNone/>
              <a:defRPr sz="2800"/>
            </a:lvl2pPr>
            <a:lvl3pPr marL="1280160" indent="0" algn="ctr">
              <a:buNone/>
              <a:defRPr sz="2520"/>
            </a:lvl3pPr>
            <a:lvl4pPr marL="1920240" indent="0" algn="ctr">
              <a:buNone/>
              <a:defRPr sz="2240"/>
            </a:lvl4pPr>
            <a:lvl5pPr marL="2560320" indent="0" algn="ctr">
              <a:buNone/>
              <a:defRPr sz="2240"/>
            </a:lvl5pPr>
            <a:lvl6pPr marL="3200400" indent="0" algn="ctr">
              <a:buNone/>
              <a:defRPr sz="2240"/>
            </a:lvl6pPr>
            <a:lvl7pPr marL="3840480" indent="0" algn="ctr">
              <a:buNone/>
              <a:defRPr sz="2240"/>
            </a:lvl7pPr>
            <a:lvl8pPr marL="4480560" indent="0" algn="ctr">
              <a:buNone/>
              <a:defRPr sz="2240"/>
            </a:lvl8pPr>
            <a:lvl9pPr marL="5120640" indent="0" algn="ctr">
              <a:buNone/>
              <a:defRPr sz="224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330772F0-3B88-234D-A7D5-9741FA5FCBB3}" type="datetimeFigureOut">
              <a:rPr lang="en-US" smtClean="0"/>
              <a:t>4/5/2025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A4DCF-B199-6C47-8A56-83D625B5CF72}" type="slidenum">
              <a:rPr lang="en-US" smtClean="0"/>
              <a:t>‹#›</a:t>
            </a:fld>
            <a:endParaRPr lang="en-US"/>
          </a:p>
        </p:txBody>
      </p:sp>
    </p:spTree>
    <p:extLst>
      <p:ext uri="{BB962C8B-B14F-4D97-AF65-F5344CB8AC3E}">
        <p14:creationId xmlns:p14="http://schemas.microsoft.com/office/powerpoint/2010/main" val="3158766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30772F0-3B88-234D-A7D5-9741FA5FCBB3}" type="datetimeFigureOut">
              <a:rPr lang="en-US" smtClean="0"/>
              <a:t>4/5/2025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A4DCF-B199-6C47-8A56-83D625B5CF72}" type="slidenum">
              <a:rPr lang="en-US" smtClean="0"/>
              <a:t>‹#›</a:t>
            </a:fld>
            <a:endParaRPr lang="en-US"/>
          </a:p>
        </p:txBody>
      </p:sp>
    </p:spTree>
    <p:extLst>
      <p:ext uri="{BB962C8B-B14F-4D97-AF65-F5344CB8AC3E}">
        <p14:creationId xmlns:p14="http://schemas.microsoft.com/office/powerpoint/2010/main" val="4141454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73443" y="2393635"/>
            <a:ext cx="11041380" cy="3993832"/>
          </a:xfrm>
        </p:spPr>
        <p:txBody>
          <a:bodyPr anchor="b"/>
          <a:lstStyle>
            <a:lvl1pPr>
              <a:defRPr sz="8400"/>
            </a:lvl1pPr>
          </a:lstStyle>
          <a:p>
            <a:r>
              <a:rPr lang="en-GB"/>
              <a:t>Click to edit Master title style</a:t>
            </a:r>
            <a:endParaRPr lang="en-US" dirty="0"/>
          </a:p>
        </p:txBody>
      </p:sp>
      <p:sp>
        <p:nvSpPr>
          <p:cNvPr id="3" name="Text Placeholder 2"/>
          <p:cNvSpPr>
            <a:spLocks noGrp="1"/>
          </p:cNvSpPr>
          <p:nvPr>
            <p:ph type="body" idx="1"/>
          </p:nvPr>
        </p:nvSpPr>
        <p:spPr>
          <a:xfrm>
            <a:off x="873443" y="6425250"/>
            <a:ext cx="11041380" cy="2100262"/>
          </a:xfrm>
        </p:spPr>
        <p:txBody>
          <a:bodyPr/>
          <a:lstStyle>
            <a:lvl1pPr marL="0" indent="0">
              <a:buNone/>
              <a:defRPr sz="3360">
                <a:solidFill>
                  <a:schemeClr val="tx1"/>
                </a:solidFill>
              </a:defRPr>
            </a:lvl1pPr>
            <a:lvl2pPr marL="640080" indent="0">
              <a:buNone/>
              <a:defRPr sz="2800">
                <a:solidFill>
                  <a:schemeClr val="tx1">
                    <a:tint val="75000"/>
                  </a:schemeClr>
                </a:solidFill>
              </a:defRPr>
            </a:lvl2pPr>
            <a:lvl3pPr marL="1280160" indent="0">
              <a:buNone/>
              <a:defRPr sz="2520">
                <a:solidFill>
                  <a:schemeClr val="tx1">
                    <a:tint val="75000"/>
                  </a:schemeClr>
                </a:solidFill>
              </a:defRPr>
            </a:lvl3pPr>
            <a:lvl4pPr marL="1920240" indent="0">
              <a:buNone/>
              <a:defRPr sz="2240">
                <a:solidFill>
                  <a:schemeClr val="tx1">
                    <a:tint val="75000"/>
                  </a:schemeClr>
                </a:solidFill>
              </a:defRPr>
            </a:lvl4pPr>
            <a:lvl5pPr marL="2560320" indent="0">
              <a:buNone/>
              <a:defRPr sz="2240">
                <a:solidFill>
                  <a:schemeClr val="tx1">
                    <a:tint val="75000"/>
                  </a:schemeClr>
                </a:solidFill>
              </a:defRPr>
            </a:lvl5pPr>
            <a:lvl6pPr marL="3200400" indent="0">
              <a:buNone/>
              <a:defRPr sz="2240">
                <a:solidFill>
                  <a:schemeClr val="tx1">
                    <a:tint val="75000"/>
                  </a:schemeClr>
                </a:solidFill>
              </a:defRPr>
            </a:lvl6pPr>
            <a:lvl7pPr marL="3840480" indent="0">
              <a:buNone/>
              <a:defRPr sz="2240">
                <a:solidFill>
                  <a:schemeClr val="tx1">
                    <a:tint val="75000"/>
                  </a:schemeClr>
                </a:solidFill>
              </a:defRPr>
            </a:lvl7pPr>
            <a:lvl8pPr marL="4480560" indent="0">
              <a:buNone/>
              <a:defRPr sz="2240">
                <a:solidFill>
                  <a:schemeClr val="tx1">
                    <a:tint val="75000"/>
                  </a:schemeClr>
                </a:solidFill>
              </a:defRPr>
            </a:lvl8pPr>
            <a:lvl9pPr marL="5120640" indent="0">
              <a:buNone/>
              <a:defRPr sz="224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30772F0-3B88-234D-A7D5-9741FA5FCBB3}" type="datetimeFigureOut">
              <a:rPr lang="en-US" smtClean="0"/>
              <a:t>4/5/2025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A4DCF-B199-6C47-8A56-83D625B5CF72}" type="slidenum">
              <a:rPr lang="en-US" smtClean="0"/>
              <a:t>‹#›</a:t>
            </a:fld>
            <a:endParaRPr lang="en-US"/>
          </a:p>
        </p:txBody>
      </p:sp>
    </p:spTree>
    <p:extLst>
      <p:ext uri="{BB962C8B-B14F-4D97-AF65-F5344CB8AC3E}">
        <p14:creationId xmlns:p14="http://schemas.microsoft.com/office/powerpoint/2010/main" val="317700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80110" y="2555875"/>
            <a:ext cx="5440680" cy="60918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480810" y="2555875"/>
            <a:ext cx="5440680" cy="60918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330772F0-3B88-234D-A7D5-9741FA5FCBB3}" type="datetimeFigureOut">
              <a:rPr lang="en-US" smtClean="0"/>
              <a:t>4/5/2025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FA4DCF-B199-6C47-8A56-83D625B5CF72}" type="slidenum">
              <a:rPr lang="en-US" smtClean="0"/>
              <a:t>‹#›</a:t>
            </a:fld>
            <a:endParaRPr lang="en-US"/>
          </a:p>
        </p:txBody>
      </p:sp>
    </p:spTree>
    <p:extLst>
      <p:ext uri="{BB962C8B-B14F-4D97-AF65-F5344CB8AC3E}">
        <p14:creationId xmlns:p14="http://schemas.microsoft.com/office/powerpoint/2010/main" val="1005031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81777" y="511177"/>
            <a:ext cx="11041380" cy="1855788"/>
          </a:xfrm>
        </p:spPr>
        <p:txBody>
          <a:bodyPr/>
          <a:lstStyle/>
          <a:p>
            <a:r>
              <a:rPr lang="en-GB"/>
              <a:t>Click to edit Master title style</a:t>
            </a:r>
            <a:endParaRPr lang="en-US" dirty="0"/>
          </a:p>
        </p:txBody>
      </p:sp>
      <p:sp>
        <p:nvSpPr>
          <p:cNvPr id="3" name="Text Placeholder 2"/>
          <p:cNvSpPr>
            <a:spLocks noGrp="1"/>
          </p:cNvSpPr>
          <p:nvPr>
            <p:ph type="body" idx="1"/>
          </p:nvPr>
        </p:nvSpPr>
        <p:spPr>
          <a:xfrm>
            <a:off x="881779" y="2353628"/>
            <a:ext cx="5415676" cy="1153477"/>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en-GB"/>
              <a:t>Click to edit Master text styles</a:t>
            </a:r>
          </a:p>
        </p:txBody>
      </p:sp>
      <p:sp>
        <p:nvSpPr>
          <p:cNvPr id="4" name="Content Placeholder 3"/>
          <p:cNvSpPr>
            <a:spLocks noGrp="1"/>
          </p:cNvSpPr>
          <p:nvPr>
            <p:ph sz="half" idx="2"/>
          </p:nvPr>
        </p:nvSpPr>
        <p:spPr>
          <a:xfrm>
            <a:off x="881779" y="3507105"/>
            <a:ext cx="5415676" cy="515842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80811" y="2353628"/>
            <a:ext cx="5442347" cy="1153477"/>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en-GB"/>
              <a:t>Click to edit Master text styles</a:t>
            </a:r>
          </a:p>
        </p:txBody>
      </p:sp>
      <p:sp>
        <p:nvSpPr>
          <p:cNvPr id="6" name="Content Placeholder 5"/>
          <p:cNvSpPr>
            <a:spLocks noGrp="1"/>
          </p:cNvSpPr>
          <p:nvPr>
            <p:ph sz="quarter" idx="4"/>
          </p:nvPr>
        </p:nvSpPr>
        <p:spPr>
          <a:xfrm>
            <a:off x="6480811" y="3507105"/>
            <a:ext cx="5442347" cy="515842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330772F0-3B88-234D-A7D5-9741FA5FCBB3}" type="datetimeFigureOut">
              <a:rPr lang="en-US" smtClean="0"/>
              <a:t>4/5/2025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FA4DCF-B199-6C47-8A56-83D625B5CF72}" type="slidenum">
              <a:rPr lang="en-US" smtClean="0"/>
              <a:t>‹#›</a:t>
            </a:fld>
            <a:endParaRPr lang="en-US"/>
          </a:p>
        </p:txBody>
      </p:sp>
    </p:spTree>
    <p:extLst>
      <p:ext uri="{BB962C8B-B14F-4D97-AF65-F5344CB8AC3E}">
        <p14:creationId xmlns:p14="http://schemas.microsoft.com/office/powerpoint/2010/main" val="456901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330772F0-3B88-234D-A7D5-9741FA5FCBB3}" type="datetimeFigureOut">
              <a:rPr lang="en-US" smtClean="0"/>
              <a:t>4/5/2025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FA4DCF-B199-6C47-8A56-83D625B5CF72}" type="slidenum">
              <a:rPr lang="en-US" smtClean="0"/>
              <a:t>‹#›</a:t>
            </a:fld>
            <a:endParaRPr lang="en-US"/>
          </a:p>
        </p:txBody>
      </p:sp>
    </p:spTree>
    <p:extLst>
      <p:ext uri="{BB962C8B-B14F-4D97-AF65-F5344CB8AC3E}">
        <p14:creationId xmlns:p14="http://schemas.microsoft.com/office/powerpoint/2010/main" val="1958554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0772F0-3B88-234D-A7D5-9741FA5FCBB3}" type="datetimeFigureOut">
              <a:rPr lang="en-US" smtClean="0"/>
              <a:t>4/5/2025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FA4DCF-B199-6C47-8A56-83D625B5CF72}" type="slidenum">
              <a:rPr lang="en-US" smtClean="0"/>
              <a:t>‹#›</a:t>
            </a:fld>
            <a:endParaRPr lang="en-US"/>
          </a:p>
        </p:txBody>
      </p:sp>
    </p:spTree>
    <p:extLst>
      <p:ext uri="{BB962C8B-B14F-4D97-AF65-F5344CB8AC3E}">
        <p14:creationId xmlns:p14="http://schemas.microsoft.com/office/powerpoint/2010/main" val="5365122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1778" y="640080"/>
            <a:ext cx="4128849" cy="2240280"/>
          </a:xfrm>
        </p:spPr>
        <p:txBody>
          <a:bodyPr anchor="b"/>
          <a:lstStyle>
            <a:lvl1pPr>
              <a:defRPr sz="4480"/>
            </a:lvl1pPr>
          </a:lstStyle>
          <a:p>
            <a:r>
              <a:rPr lang="en-GB"/>
              <a:t>Click to edit Master title style</a:t>
            </a:r>
            <a:endParaRPr lang="en-US" dirty="0"/>
          </a:p>
        </p:txBody>
      </p:sp>
      <p:sp>
        <p:nvSpPr>
          <p:cNvPr id="3" name="Content Placeholder 2"/>
          <p:cNvSpPr>
            <a:spLocks noGrp="1"/>
          </p:cNvSpPr>
          <p:nvPr>
            <p:ph idx="1"/>
          </p:nvPr>
        </p:nvSpPr>
        <p:spPr>
          <a:xfrm>
            <a:off x="5442347" y="1382397"/>
            <a:ext cx="6480810" cy="6823075"/>
          </a:xfrm>
        </p:spPr>
        <p:txBody>
          <a:bodyPr/>
          <a:lstStyle>
            <a:lvl1pPr>
              <a:defRPr sz="4480"/>
            </a:lvl1pPr>
            <a:lvl2pPr>
              <a:defRPr sz="3920"/>
            </a:lvl2pPr>
            <a:lvl3pPr>
              <a:defRPr sz="3360"/>
            </a:lvl3pPr>
            <a:lvl4pPr>
              <a:defRPr sz="2800"/>
            </a:lvl4pPr>
            <a:lvl5pPr>
              <a:defRPr sz="2800"/>
            </a:lvl5pPr>
            <a:lvl6pPr>
              <a:defRPr sz="2800"/>
            </a:lvl6pPr>
            <a:lvl7pPr>
              <a:defRPr sz="2800"/>
            </a:lvl7pPr>
            <a:lvl8pPr>
              <a:defRPr sz="2800"/>
            </a:lvl8pPr>
            <a:lvl9pPr>
              <a:defRPr sz="2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81778" y="2880360"/>
            <a:ext cx="4128849" cy="5336223"/>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en-GB"/>
              <a:t>Click to edit Master text styles</a:t>
            </a:r>
          </a:p>
        </p:txBody>
      </p:sp>
      <p:sp>
        <p:nvSpPr>
          <p:cNvPr id="5" name="Date Placeholder 4"/>
          <p:cNvSpPr>
            <a:spLocks noGrp="1"/>
          </p:cNvSpPr>
          <p:nvPr>
            <p:ph type="dt" sz="half" idx="10"/>
          </p:nvPr>
        </p:nvSpPr>
        <p:spPr/>
        <p:txBody>
          <a:bodyPr/>
          <a:lstStyle/>
          <a:p>
            <a:fld id="{330772F0-3B88-234D-A7D5-9741FA5FCBB3}" type="datetimeFigureOut">
              <a:rPr lang="en-US" smtClean="0"/>
              <a:t>4/5/2025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FA4DCF-B199-6C47-8A56-83D625B5CF72}" type="slidenum">
              <a:rPr lang="en-US" smtClean="0"/>
              <a:t>‹#›</a:t>
            </a:fld>
            <a:endParaRPr lang="en-US"/>
          </a:p>
        </p:txBody>
      </p:sp>
    </p:spTree>
    <p:extLst>
      <p:ext uri="{BB962C8B-B14F-4D97-AF65-F5344CB8AC3E}">
        <p14:creationId xmlns:p14="http://schemas.microsoft.com/office/powerpoint/2010/main" val="2835059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1778" y="640080"/>
            <a:ext cx="4128849" cy="2240280"/>
          </a:xfrm>
        </p:spPr>
        <p:txBody>
          <a:bodyPr anchor="b"/>
          <a:lstStyle>
            <a:lvl1pPr>
              <a:defRPr sz="4480"/>
            </a:lvl1pPr>
          </a:lstStyle>
          <a:p>
            <a:r>
              <a:rPr lang="en-GB"/>
              <a:t>Click to edit Master title style</a:t>
            </a:r>
            <a:endParaRPr lang="en-US" dirty="0"/>
          </a:p>
        </p:txBody>
      </p:sp>
      <p:sp>
        <p:nvSpPr>
          <p:cNvPr id="3" name="Picture Placeholder 2"/>
          <p:cNvSpPr>
            <a:spLocks noGrp="1" noChangeAspect="1"/>
          </p:cNvSpPr>
          <p:nvPr>
            <p:ph type="pic" idx="1"/>
          </p:nvPr>
        </p:nvSpPr>
        <p:spPr>
          <a:xfrm>
            <a:off x="5442347" y="1382397"/>
            <a:ext cx="6480810" cy="6823075"/>
          </a:xfrm>
        </p:spPr>
        <p:txBody>
          <a:bodyPr anchor="t"/>
          <a:lstStyle>
            <a:lvl1pPr marL="0" indent="0">
              <a:buNone/>
              <a:defRPr sz="4480"/>
            </a:lvl1pPr>
            <a:lvl2pPr marL="640080" indent="0">
              <a:buNone/>
              <a:defRPr sz="3920"/>
            </a:lvl2pPr>
            <a:lvl3pPr marL="1280160" indent="0">
              <a:buNone/>
              <a:defRPr sz="3360"/>
            </a:lvl3pPr>
            <a:lvl4pPr marL="1920240" indent="0">
              <a:buNone/>
              <a:defRPr sz="2800"/>
            </a:lvl4pPr>
            <a:lvl5pPr marL="2560320" indent="0">
              <a:buNone/>
              <a:defRPr sz="2800"/>
            </a:lvl5pPr>
            <a:lvl6pPr marL="3200400" indent="0">
              <a:buNone/>
              <a:defRPr sz="2800"/>
            </a:lvl6pPr>
            <a:lvl7pPr marL="3840480" indent="0">
              <a:buNone/>
              <a:defRPr sz="2800"/>
            </a:lvl7pPr>
            <a:lvl8pPr marL="4480560" indent="0">
              <a:buNone/>
              <a:defRPr sz="2800"/>
            </a:lvl8pPr>
            <a:lvl9pPr marL="5120640" indent="0">
              <a:buNone/>
              <a:defRPr sz="2800"/>
            </a:lvl9pPr>
          </a:lstStyle>
          <a:p>
            <a:r>
              <a:rPr lang="en-GB"/>
              <a:t>Click icon to add picture</a:t>
            </a:r>
            <a:endParaRPr lang="en-US" dirty="0"/>
          </a:p>
        </p:txBody>
      </p:sp>
      <p:sp>
        <p:nvSpPr>
          <p:cNvPr id="4" name="Text Placeholder 3"/>
          <p:cNvSpPr>
            <a:spLocks noGrp="1"/>
          </p:cNvSpPr>
          <p:nvPr>
            <p:ph type="body" sz="half" idx="2"/>
          </p:nvPr>
        </p:nvSpPr>
        <p:spPr>
          <a:xfrm>
            <a:off x="881778" y="2880360"/>
            <a:ext cx="4128849" cy="5336223"/>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en-GB"/>
              <a:t>Click to edit Master text styles</a:t>
            </a:r>
          </a:p>
        </p:txBody>
      </p:sp>
      <p:sp>
        <p:nvSpPr>
          <p:cNvPr id="5" name="Date Placeholder 4"/>
          <p:cNvSpPr>
            <a:spLocks noGrp="1"/>
          </p:cNvSpPr>
          <p:nvPr>
            <p:ph type="dt" sz="half" idx="10"/>
          </p:nvPr>
        </p:nvSpPr>
        <p:spPr/>
        <p:txBody>
          <a:bodyPr/>
          <a:lstStyle/>
          <a:p>
            <a:fld id="{330772F0-3B88-234D-A7D5-9741FA5FCBB3}" type="datetimeFigureOut">
              <a:rPr lang="en-US" smtClean="0"/>
              <a:t>4/5/2025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FA4DCF-B199-6C47-8A56-83D625B5CF72}" type="slidenum">
              <a:rPr lang="en-US" smtClean="0"/>
              <a:t>‹#›</a:t>
            </a:fld>
            <a:endParaRPr lang="en-US"/>
          </a:p>
        </p:txBody>
      </p:sp>
    </p:spTree>
    <p:extLst>
      <p:ext uri="{BB962C8B-B14F-4D97-AF65-F5344CB8AC3E}">
        <p14:creationId xmlns:p14="http://schemas.microsoft.com/office/powerpoint/2010/main" val="3915236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30772F0-3B88-234D-A7D5-9741FA5FCBB3}" type="datetimeFigureOut">
              <a:rPr lang="en-US" smtClean="0"/>
              <a:t>4/5/2025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A4DCF-B199-6C47-8A56-83D625B5CF72}" type="slidenum">
              <a:rPr lang="en-US" smtClean="0"/>
              <a:t>‹#›</a:t>
            </a:fld>
            <a:endParaRPr lang="en-US"/>
          </a:p>
        </p:txBody>
      </p:sp>
    </p:spTree>
    <p:extLst>
      <p:ext uri="{BB962C8B-B14F-4D97-AF65-F5344CB8AC3E}">
        <p14:creationId xmlns:p14="http://schemas.microsoft.com/office/powerpoint/2010/main" val="2847119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61146" y="511175"/>
            <a:ext cx="2760345" cy="8136573"/>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80111" y="511175"/>
            <a:ext cx="8121015" cy="8136573"/>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30772F0-3B88-234D-A7D5-9741FA5FCBB3}" type="datetimeFigureOut">
              <a:rPr lang="en-US" smtClean="0"/>
              <a:t>4/5/2025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FA4DCF-B199-6C47-8A56-83D625B5CF72}" type="slidenum">
              <a:rPr lang="en-US" smtClean="0"/>
              <a:t>‹#›</a:t>
            </a:fld>
            <a:endParaRPr lang="en-US"/>
          </a:p>
        </p:txBody>
      </p:sp>
    </p:spTree>
    <p:extLst>
      <p:ext uri="{BB962C8B-B14F-4D97-AF65-F5344CB8AC3E}">
        <p14:creationId xmlns:p14="http://schemas.microsoft.com/office/powerpoint/2010/main" val="3484271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41630"/>
            <a:lum/>
          </a:blip>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80110" y="511177"/>
            <a:ext cx="11041380" cy="1855788"/>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80110" y="2555875"/>
            <a:ext cx="11041380" cy="609187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80110" y="8898892"/>
            <a:ext cx="2880360" cy="511175"/>
          </a:xfrm>
          <a:prstGeom prst="rect">
            <a:avLst/>
          </a:prstGeom>
        </p:spPr>
        <p:txBody>
          <a:bodyPr vert="horz" lIns="91440" tIns="45720" rIns="91440" bIns="45720" rtlCol="0" anchor="ctr"/>
          <a:lstStyle>
            <a:lvl1pPr algn="l">
              <a:defRPr sz="1680">
                <a:solidFill>
                  <a:schemeClr val="tx1">
                    <a:tint val="75000"/>
                  </a:schemeClr>
                </a:solidFill>
              </a:defRPr>
            </a:lvl1pPr>
          </a:lstStyle>
          <a:p>
            <a:fld id="{330772F0-3B88-234D-A7D5-9741FA5FCBB3}" type="datetimeFigureOut">
              <a:rPr lang="en-US" smtClean="0"/>
              <a:t>4/5/2025</a:t>
            </a:fld>
            <a:endParaRPr lang="en-US"/>
          </a:p>
        </p:txBody>
      </p:sp>
      <p:sp>
        <p:nvSpPr>
          <p:cNvPr id="5" name="Footer Placeholder 4"/>
          <p:cNvSpPr>
            <a:spLocks noGrp="1"/>
          </p:cNvSpPr>
          <p:nvPr>
            <p:ph type="ftr" sz="quarter" idx="3"/>
          </p:nvPr>
        </p:nvSpPr>
        <p:spPr>
          <a:xfrm>
            <a:off x="4240530" y="8898892"/>
            <a:ext cx="4320540" cy="511175"/>
          </a:xfrm>
          <a:prstGeom prst="rect">
            <a:avLst/>
          </a:prstGeom>
        </p:spPr>
        <p:txBody>
          <a:bodyPr vert="horz" lIns="91440" tIns="45720" rIns="91440" bIns="45720" rtlCol="0" anchor="ctr"/>
          <a:lstStyle>
            <a:lvl1pPr algn="ctr">
              <a:defRPr sz="16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041130" y="8898892"/>
            <a:ext cx="2880360" cy="511175"/>
          </a:xfrm>
          <a:prstGeom prst="rect">
            <a:avLst/>
          </a:prstGeom>
        </p:spPr>
        <p:txBody>
          <a:bodyPr vert="horz" lIns="91440" tIns="45720" rIns="91440" bIns="45720" rtlCol="0" anchor="ctr"/>
          <a:lstStyle>
            <a:lvl1pPr algn="r">
              <a:defRPr sz="1680">
                <a:solidFill>
                  <a:schemeClr val="tx1">
                    <a:tint val="75000"/>
                  </a:schemeClr>
                </a:solidFill>
              </a:defRPr>
            </a:lvl1pPr>
          </a:lstStyle>
          <a:p>
            <a:fld id="{B1FA4DCF-B199-6C47-8A56-83D625B5CF72}" type="slidenum">
              <a:rPr lang="en-US" smtClean="0"/>
              <a:t>‹#›</a:t>
            </a:fld>
            <a:endParaRPr lang="en-US"/>
          </a:p>
        </p:txBody>
      </p:sp>
    </p:spTree>
    <p:extLst>
      <p:ext uri="{BB962C8B-B14F-4D97-AF65-F5344CB8AC3E}">
        <p14:creationId xmlns:p14="http://schemas.microsoft.com/office/powerpoint/2010/main" val="26387877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280160" rtl="0" eaLnBrk="1" latinLnBrk="0" hangingPunct="1">
        <a:lnSpc>
          <a:spcPct val="90000"/>
        </a:lnSpc>
        <a:spcBef>
          <a:spcPct val="0"/>
        </a:spcBef>
        <a:buNone/>
        <a:defRPr sz="6160" kern="1200">
          <a:solidFill>
            <a:schemeClr val="tx1"/>
          </a:solidFill>
          <a:latin typeface="+mj-lt"/>
          <a:ea typeface="+mj-ea"/>
          <a:cs typeface="+mj-cs"/>
        </a:defRPr>
      </a:lvl1pPr>
    </p:titleStyle>
    <p:bodyStyle>
      <a:lvl1pPr marL="320040" indent="-320040" algn="l" defTabSz="1280160" rtl="0" eaLnBrk="1" latinLnBrk="0" hangingPunct="1">
        <a:lnSpc>
          <a:spcPct val="90000"/>
        </a:lnSpc>
        <a:spcBef>
          <a:spcPts val="1400"/>
        </a:spcBef>
        <a:buFont typeface="Arial" panose="020B0604020202020204" pitchFamily="34" charset="0"/>
        <a:buChar char="•"/>
        <a:defRPr sz="3920" kern="1200">
          <a:solidFill>
            <a:schemeClr val="tx1"/>
          </a:solidFill>
          <a:latin typeface="+mn-lt"/>
          <a:ea typeface="+mn-ea"/>
          <a:cs typeface="+mn-cs"/>
        </a:defRPr>
      </a:lvl1pPr>
      <a:lvl2pPr marL="960120" indent="-320040" algn="l" defTabSz="1280160" rtl="0" eaLnBrk="1" latinLnBrk="0" hangingPunct="1">
        <a:lnSpc>
          <a:spcPct val="90000"/>
        </a:lnSpc>
        <a:spcBef>
          <a:spcPts val="700"/>
        </a:spcBef>
        <a:buFont typeface="Arial" panose="020B0604020202020204" pitchFamily="34" charset="0"/>
        <a:buChar char="•"/>
        <a:defRPr sz="3360" kern="1200">
          <a:solidFill>
            <a:schemeClr val="tx1"/>
          </a:solidFill>
          <a:latin typeface="+mn-lt"/>
          <a:ea typeface="+mn-ea"/>
          <a:cs typeface="+mn-cs"/>
        </a:defRPr>
      </a:lvl2pPr>
      <a:lvl3pPr marL="1600200" indent="-320040" algn="l" defTabSz="1280160" rtl="0" eaLnBrk="1" latinLnBrk="0" hangingPunct="1">
        <a:lnSpc>
          <a:spcPct val="90000"/>
        </a:lnSpc>
        <a:spcBef>
          <a:spcPts val="700"/>
        </a:spcBef>
        <a:buFont typeface="Arial" panose="020B0604020202020204" pitchFamily="34" charset="0"/>
        <a:buChar char="•"/>
        <a:defRPr sz="2800" kern="1200">
          <a:solidFill>
            <a:schemeClr val="tx1"/>
          </a:solidFill>
          <a:latin typeface="+mn-lt"/>
          <a:ea typeface="+mn-ea"/>
          <a:cs typeface="+mn-cs"/>
        </a:defRPr>
      </a:lvl3pPr>
      <a:lvl4pPr marL="224028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4pPr>
      <a:lvl5pPr marL="288036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5pPr>
      <a:lvl6pPr marL="352044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6pPr>
      <a:lvl7pPr marL="416052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7pPr>
      <a:lvl8pPr marL="480060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8pPr>
      <a:lvl9pPr marL="544068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9pPr>
    </p:bodyStyle>
    <p:otherStyle>
      <a:defPPr>
        <a:defRPr lang="en-US"/>
      </a:defPPr>
      <a:lvl1pPr marL="0" algn="l" defTabSz="1280160" rtl="0" eaLnBrk="1" latinLnBrk="0" hangingPunct="1">
        <a:defRPr sz="2520" kern="1200">
          <a:solidFill>
            <a:schemeClr val="tx1"/>
          </a:solidFill>
          <a:latin typeface="+mn-lt"/>
          <a:ea typeface="+mn-ea"/>
          <a:cs typeface="+mn-cs"/>
        </a:defRPr>
      </a:lvl1pPr>
      <a:lvl2pPr marL="640080" algn="l" defTabSz="1280160" rtl="0" eaLnBrk="1" latinLnBrk="0" hangingPunct="1">
        <a:defRPr sz="2520" kern="1200">
          <a:solidFill>
            <a:schemeClr val="tx1"/>
          </a:solidFill>
          <a:latin typeface="+mn-lt"/>
          <a:ea typeface="+mn-ea"/>
          <a:cs typeface="+mn-cs"/>
        </a:defRPr>
      </a:lvl2pPr>
      <a:lvl3pPr marL="1280160" algn="l" defTabSz="1280160" rtl="0" eaLnBrk="1" latinLnBrk="0" hangingPunct="1">
        <a:defRPr sz="2520" kern="1200">
          <a:solidFill>
            <a:schemeClr val="tx1"/>
          </a:solidFill>
          <a:latin typeface="+mn-lt"/>
          <a:ea typeface="+mn-ea"/>
          <a:cs typeface="+mn-cs"/>
        </a:defRPr>
      </a:lvl3pPr>
      <a:lvl4pPr marL="1920240" algn="l" defTabSz="1280160" rtl="0" eaLnBrk="1" latinLnBrk="0" hangingPunct="1">
        <a:defRPr sz="2520" kern="1200">
          <a:solidFill>
            <a:schemeClr val="tx1"/>
          </a:solidFill>
          <a:latin typeface="+mn-lt"/>
          <a:ea typeface="+mn-ea"/>
          <a:cs typeface="+mn-cs"/>
        </a:defRPr>
      </a:lvl4pPr>
      <a:lvl5pPr marL="2560320" algn="l" defTabSz="1280160" rtl="0" eaLnBrk="1" latinLnBrk="0" hangingPunct="1">
        <a:defRPr sz="2520" kern="1200">
          <a:solidFill>
            <a:schemeClr val="tx1"/>
          </a:solidFill>
          <a:latin typeface="+mn-lt"/>
          <a:ea typeface="+mn-ea"/>
          <a:cs typeface="+mn-cs"/>
        </a:defRPr>
      </a:lvl5pPr>
      <a:lvl6pPr marL="3200400" algn="l" defTabSz="1280160" rtl="0" eaLnBrk="1" latinLnBrk="0" hangingPunct="1">
        <a:defRPr sz="2520" kern="1200">
          <a:solidFill>
            <a:schemeClr val="tx1"/>
          </a:solidFill>
          <a:latin typeface="+mn-lt"/>
          <a:ea typeface="+mn-ea"/>
          <a:cs typeface="+mn-cs"/>
        </a:defRPr>
      </a:lvl6pPr>
      <a:lvl7pPr marL="3840480" algn="l" defTabSz="1280160" rtl="0" eaLnBrk="1" latinLnBrk="0" hangingPunct="1">
        <a:defRPr sz="2520" kern="1200">
          <a:solidFill>
            <a:schemeClr val="tx1"/>
          </a:solidFill>
          <a:latin typeface="+mn-lt"/>
          <a:ea typeface="+mn-ea"/>
          <a:cs typeface="+mn-cs"/>
        </a:defRPr>
      </a:lvl7pPr>
      <a:lvl8pPr marL="4480560" algn="l" defTabSz="1280160" rtl="0" eaLnBrk="1" latinLnBrk="0" hangingPunct="1">
        <a:defRPr sz="2520" kern="1200">
          <a:solidFill>
            <a:schemeClr val="tx1"/>
          </a:solidFill>
          <a:latin typeface="+mn-lt"/>
          <a:ea typeface="+mn-ea"/>
          <a:cs typeface="+mn-cs"/>
        </a:defRPr>
      </a:lvl8pPr>
      <a:lvl9pPr marL="5120640" algn="l" defTabSz="1280160" rtl="0" eaLnBrk="1" latinLnBrk="0" hangingPunct="1">
        <a:defRPr sz="25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hyperlink" Target="https://www.sciencedirect.com/science/article/abs/pii/000326709187040E" TargetMode="External"/><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hyperlink" Target="https://pmc.ncbi.nlm.nih.gov/articles/PMC3690333/" TargetMode="External"/><Relationship Id="rId4" Type="http://schemas.openxmlformats.org/officeDocument/2006/relationships/hyperlink" Target="https://www.sciencedirect.com/science/article/abs/pii/S016974391100052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ounded Rectangle 10">
            <a:extLst>
              <a:ext uri="{FF2B5EF4-FFF2-40B4-BE49-F238E27FC236}">
                <a16:creationId xmlns:a16="http://schemas.microsoft.com/office/drawing/2014/main" id="{5C86F42D-D6CB-F74D-BEDF-D2345E413F17}"/>
              </a:ext>
            </a:extLst>
          </p:cNvPr>
          <p:cNvSpPr/>
          <p:nvPr/>
        </p:nvSpPr>
        <p:spPr>
          <a:xfrm>
            <a:off x="8625078" y="1338169"/>
            <a:ext cx="4173322" cy="957605"/>
          </a:xfrm>
          <a:prstGeom prst="roundRect">
            <a:avLst/>
          </a:prstGeom>
          <a:solidFill>
            <a:srgbClr val="5391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23"/>
          </a:p>
        </p:txBody>
      </p:sp>
      <p:sp>
        <p:nvSpPr>
          <p:cNvPr id="13" name="TextBox 12">
            <a:extLst>
              <a:ext uri="{FF2B5EF4-FFF2-40B4-BE49-F238E27FC236}">
                <a16:creationId xmlns:a16="http://schemas.microsoft.com/office/drawing/2014/main" id="{13C2EBFD-4DB5-0246-88C0-4992891AE591}"/>
              </a:ext>
            </a:extLst>
          </p:cNvPr>
          <p:cNvSpPr txBox="1"/>
          <p:nvPr/>
        </p:nvSpPr>
        <p:spPr>
          <a:xfrm>
            <a:off x="8649551" y="1308597"/>
            <a:ext cx="4139744" cy="1015663"/>
          </a:xfrm>
          <a:prstGeom prst="rect">
            <a:avLst/>
          </a:prstGeom>
          <a:noFill/>
        </p:spPr>
        <p:txBody>
          <a:bodyPr wrap="square" rtlCol="0">
            <a:spAutoFit/>
          </a:bodyPr>
          <a:lstStyle/>
          <a:p>
            <a:r>
              <a:rPr lang="en-US" sz="2000" b="1" dirty="0">
                <a:solidFill>
                  <a:schemeClr val="bg1"/>
                </a:solidFill>
                <a:latin typeface="Chalkboard" panose="03050602040202020205" pitchFamily="66" charset="77"/>
              </a:rPr>
              <a:t>Name	: Shreyans Tatiya</a:t>
            </a:r>
          </a:p>
          <a:p>
            <a:r>
              <a:rPr lang="en-US" sz="2000" b="1" dirty="0">
                <a:solidFill>
                  <a:schemeClr val="bg1"/>
                </a:solidFill>
                <a:latin typeface="Chalkboard" panose="03050602040202020205" pitchFamily="66" charset="77"/>
              </a:rPr>
              <a:t>Roll No	: 16010123325</a:t>
            </a:r>
          </a:p>
          <a:p>
            <a:r>
              <a:rPr lang="en-US" sz="2000" b="1" dirty="0">
                <a:solidFill>
                  <a:schemeClr val="bg1"/>
                </a:solidFill>
                <a:latin typeface="Chalkboard" panose="03050602040202020205" pitchFamily="66" charset="77"/>
              </a:rPr>
              <a:t>Div. 	: E2			Subject: </a:t>
            </a:r>
            <a:r>
              <a:rPr lang="en-IN" sz="2000" b="1" i="0" dirty="0">
                <a:solidFill>
                  <a:srgbClr val="FFFFFF"/>
                </a:solidFill>
                <a:effectLst/>
              </a:rPr>
              <a:t>PSOT</a:t>
            </a:r>
            <a:r>
              <a:rPr lang="en-US" sz="2000" b="1" dirty="0">
                <a:solidFill>
                  <a:schemeClr val="bg1"/>
                </a:solidFill>
                <a:latin typeface="Chalkboard" panose="03050602040202020205" pitchFamily="66" charset="77"/>
              </a:rPr>
              <a:t> IA2</a:t>
            </a:r>
          </a:p>
        </p:txBody>
      </p:sp>
      <p:sp>
        <p:nvSpPr>
          <p:cNvPr id="9" name="Rounded Rectangle 8">
            <a:extLst>
              <a:ext uri="{FF2B5EF4-FFF2-40B4-BE49-F238E27FC236}">
                <a16:creationId xmlns:a16="http://schemas.microsoft.com/office/drawing/2014/main" id="{82C6F0BA-7D3F-1B45-A3C0-D620419BC04A}"/>
              </a:ext>
            </a:extLst>
          </p:cNvPr>
          <p:cNvSpPr/>
          <p:nvPr/>
        </p:nvSpPr>
        <p:spPr>
          <a:xfrm>
            <a:off x="0" y="18605"/>
            <a:ext cx="12800000" cy="1260345"/>
          </a:xfrm>
          <a:prstGeom prst="roundRect">
            <a:avLst>
              <a:gd name="adj" fmla="val 5674"/>
            </a:avLst>
          </a:prstGeom>
          <a:solidFill>
            <a:srgbClr val="F4EEA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23"/>
          </a:p>
        </p:txBody>
      </p:sp>
      <p:pic>
        <p:nvPicPr>
          <p:cNvPr id="1025" name="Picture 1" descr="page1image58438656">
            <a:extLst>
              <a:ext uri="{FF2B5EF4-FFF2-40B4-BE49-F238E27FC236}">
                <a16:creationId xmlns:a16="http://schemas.microsoft.com/office/drawing/2014/main" id="{80C9D55D-B154-4A4C-8F58-3F0391ACA8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78" y="149112"/>
            <a:ext cx="3585136" cy="1171841"/>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504B004B-2948-B641-8AB5-5294109649D7}"/>
              </a:ext>
            </a:extLst>
          </p:cNvPr>
          <p:cNvSpPr/>
          <p:nvPr/>
        </p:nvSpPr>
        <p:spPr>
          <a:xfrm>
            <a:off x="4321407" y="117862"/>
            <a:ext cx="4174922" cy="1061829"/>
          </a:xfrm>
          <a:prstGeom prst="rect">
            <a:avLst/>
          </a:prstGeom>
        </p:spPr>
        <p:txBody>
          <a:bodyPr wrap="square">
            <a:spAutoFit/>
          </a:bodyPr>
          <a:lstStyle/>
          <a:p>
            <a:pPr algn="ctr"/>
            <a:r>
              <a:rPr lang="en-US" sz="1260" b="1" dirty="0"/>
              <a:t> K. J. Somaiya School of Engineering, Mumbai – 400 077</a:t>
            </a:r>
            <a:endParaRPr lang="en-US" sz="1260" dirty="0"/>
          </a:p>
          <a:p>
            <a:pPr algn="ctr"/>
            <a:r>
              <a:rPr lang="en-US" sz="1260" dirty="0"/>
              <a:t>(A Constituent College of Somaiya </a:t>
            </a:r>
            <a:r>
              <a:rPr lang="en-US" sz="1260" dirty="0" err="1"/>
              <a:t>Vidyavihar</a:t>
            </a:r>
            <a:r>
              <a:rPr lang="en-US" sz="1260" dirty="0"/>
              <a:t> University)</a:t>
            </a:r>
            <a:br>
              <a:rPr lang="en-US" sz="1260" dirty="0"/>
            </a:br>
            <a:r>
              <a:rPr lang="en-US" sz="1260" b="1" dirty="0"/>
              <a:t>        S.Y. B. Tech. Semester – I  (2024-2025)</a:t>
            </a:r>
            <a:endParaRPr lang="en-US" sz="1260" dirty="0"/>
          </a:p>
          <a:p>
            <a:pPr algn="ctr"/>
            <a:r>
              <a:rPr lang="en-US" sz="1260" b="1" dirty="0"/>
              <a:t>        Probability Statistics Optimization Techniques (PSOT)     IA-II</a:t>
            </a:r>
            <a:endParaRPr lang="en-US" sz="1260" dirty="0"/>
          </a:p>
        </p:txBody>
      </p:sp>
      <p:pic>
        <p:nvPicPr>
          <p:cNvPr id="20" name="Content Placeholder 6" descr="A close up of a sign&#10;&#10;Description automatically generated">
            <a:extLst>
              <a:ext uri="{FF2B5EF4-FFF2-40B4-BE49-F238E27FC236}">
                <a16:creationId xmlns:a16="http://schemas.microsoft.com/office/drawing/2014/main" id="{04C2E465-A60C-0B4F-B6CD-04A32F1FB7C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51097" y="77824"/>
            <a:ext cx="1433690" cy="1068624"/>
          </a:xfrm>
          <a:prstGeom prst="roundRect">
            <a:avLst>
              <a:gd name="adj" fmla="val 7592"/>
            </a:avLst>
          </a:prstGeom>
        </p:spPr>
      </p:pic>
      <p:sp>
        <p:nvSpPr>
          <p:cNvPr id="14" name="Rounded Rectangle 13">
            <a:extLst>
              <a:ext uri="{FF2B5EF4-FFF2-40B4-BE49-F238E27FC236}">
                <a16:creationId xmlns:a16="http://schemas.microsoft.com/office/drawing/2014/main" id="{2AA471B9-0DB8-6B49-B9A8-1932B4C12668}"/>
              </a:ext>
            </a:extLst>
          </p:cNvPr>
          <p:cNvSpPr/>
          <p:nvPr/>
        </p:nvSpPr>
        <p:spPr>
          <a:xfrm>
            <a:off x="36778" y="1338169"/>
            <a:ext cx="8487488" cy="661585"/>
          </a:xfrm>
          <a:prstGeom prst="roundRect">
            <a:avLst/>
          </a:prstGeom>
          <a:solidFill>
            <a:srgbClr val="07473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23"/>
          </a:p>
        </p:txBody>
      </p:sp>
      <p:sp>
        <p:nvSpPr>
          <p:cNvPr id="16" name="TextBox 15">
            <a:extLst>
              <a:ext uri="{FF2B5EF4-FFF2-40B4-BE49-F238E27FC236}">
                <a16:creationId xmlns:a16="http://schemas.microsoft.com/office/drawing/2014/main" id="{665CBD04-DEA9-3C4B-B422-87351319EB77}"/>
              </a:ext>
            </a:extLst>
          </p:cNvPr>
          <p:cNvSpPr txBox="1"/>
          <p:nvPr/>
        </p:nvSpPr>
        <p:spPr>
          <a:xfrm>
            <a:off x="1421176" y="1380172"/>
            <a:ext cx="7103090" cy="523220"/>
          </a:xfrm>
          <a:prstGeom prst="rect">
            <a:avLst/>
          </a:prstGeom>
          <a:noFill/>
        </p:spPr>
        <p:txBody>
          <a:bodyPr wrap="square" rtlCol="0">
            <a:spAutoFit/>
          </a:bodyPr>
          <a:lstStyle/>
          <a:p>
            <a:r>
              <a:rPr lang="en-IN" sz="2800" b="0" i="0" dirty="0">
                <a:solidFill>
                  <a:srgbClr val="FFFFFF"/>
                </a:solidFill>
                <a:effectLst/>
              </a:rPr>
              <a:t>Application of Multivariate Correlation</a:t>
            </a:r>
            <a:endParaRPr lang="en-US" sz="2730" b="1" dirty="0">
              <a:solidFill>
                <a:schemeClr val="bg1"/>
              </a:solidFill>
              <a:latin typeface="Chalkboard" panose="03050602040202020205" pitchFamily="66" charset="77"/>
            </a:endParaRPr>
          </a:p>
        </p:txBody>
      </p:sp>
      <p:sp>
        <p:nvSpPr>
          <p:cNvPr id="24" name="Rounded Rectangle 23">
            <a:extLst>
              <a:ext uri="{FF2B5EF4-FFF2-40B4-BE49-F238E27FC236}">
                <a16:creationId xmlns:a16="http://schemas.microsoft.com/office/drawing/2014/main" id="{AC8C3C47-28F1-ED46-8831-4DE4BC1BC053}"/>
              </a:ext>
            </a:extLst>
          </p:cNvPr>
          <p:cNvSpPr/>
          <p:nvPr/>
        </p:nvSpPr>
        <p:spPr>
          <a:xfrm>
            <a:off x="62616" y="2160440"/>
            <a:ext cx="8487488" cy="2587140"/>
          </a:xfrm>
          <a:prstGeom prst="roundRect">
            <a:avLst>
              <a:gd name="adj" fmla="val 7832"/>
            </a:avLst>
          </a:prstGeom>
          <a:solidFill>
            <a:srgbClr val="5391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77D16919-DB5C-BE41-8FC4-7C4D322BF31C}"/>
              </a:ext>
            </a:extLst>
          </p:cNvPr>
          <p:cNvSpPr txBox="1"/>
          <p:nvPr/>
        </p:nvSpPr>
        <p:spPr>
          <a:xfrm>
            <a:off x="136100" y="2628899"/>
            <a:ext cx="8360229" cy="1938992"/>
          </a:xfrm>
          <a:prstGeom prst="rect">
            <a:avLst/>
          </a:prstGeom>
          <a:noFill/>
        </p:spPr>
        <p:txBody>
          <a:bodyPr wrap="square" rtlCol="0">
            <a:spAutoFit/>
          </a:bodyPr>
          <a:lstStyle/>
          <a:p>
            <a:r>
              <a:rPr lang="en-US" sz="2000" b="0" i="0" dirty="0">
                <a:solidFill>
                  <a:srgbClr val="FFFFFF"/>
                </a:solidFill>
                <a:effectLst/>
              </a:rPr>
              <a:t>Multivariate correlation measures relationships between multiple variables, helping to identify patterns and dependencies in complex datasets. It's widely used in fields like economics, biology, and social sciences to assess how several factors influence outcomes. By quantifying associations, it aids in predictive modeling, feature selection, and data analysis, making it invaluable in decision-making processes.</a:t>
            </a:r>
            <a:endParaRPr lang="en-US" sz="2000" b="1" dirty="0">
              <a:solidFill>
                <a:schemeClr val="bg1"/>
              </a:solidFill>
              <a:latin typeface="Chalkboard" panose="03050602040202020205"/>
            </a:endParaRPr>
          </a:p>
        </p:txBody>
      </p:sp>
      <p:sp>
        <p:nvSpPr>
          <p:cNvPr id="27" name="Rectangle 26">
            <a:extLst>
              <a:ext uri="{FF2B5EF4-FFF2-40B4-BE49-F238E27FC236}">
                <a16:creationId xmlns:a16="http://schemas.microsoft.com/office/drawing/2014/main" id="{D214E3F6-27F7-3C44-9D83-2A8CBEF2B82E}"/>
              </a:ext>
            </a:extLst>
          </p:cNvPr>
          <p:cNvSpPr/>
          <p:nvPr/>
        </p:nvSpPr>
        <p:spPr>
          <a:xfrm>
            <a:off x="3244779" y="2089487"/>
            <a:ext cx="2133919" cy="584775"/>
          </a:xfrm>
          <a:prstGeom prst="rect">
            <a:avLst/>
          </a:prstGeom>
          <a:noFill/>
        </p:spPr>
        <p:txBody>
          <a:bodyPr wrap="none" lIns="91440" tIns="45720" rIns="91440" bIns="45720">
            <a:spAutoFit/>
          </a:bodyPr>
          <a:lstStyle/>
          <a:p>
            <a:pPr algn="ctr"/>
            <a:r>
              <a:rPr lang="en-GB" sz="3200" b="1" dirty="0">
                <a:ln w="9525">
                  <a:solidFill>
                    <a:schemeClr val="bg1"/>
                  </a:solidFill>
                  <a:prstDash val="solid"/>
                </a:ln>
                <a:solidFill>
                  <a:srgbClr val="074736"/>
                </a:solidFill>
                <a:effectLst>
                  <a:outerShdw blurRad="12700" dist="38100" dir="2700000" algn="tl" rotWithShape="0">
                    <a:schemeClr val="bg1">
                      <a:lumMod val="50000"/>
                    </a:schemeClr>
                  </a:outerShdw>
                </a:effectLst>
                <a:latin typeface="MARKER FELT THIN" panose="02000400000000000000" pitchFamily="2" charset="77"/>
              </a:rPr>
              <a:t>Description</a:t>
            </a:r>
            <a:endParaRPr lang="en-GB" sz="3200" b="1" cap="none" spc="0" dirty="0">
              <a:ln w="9525">
                <a:solidFill>
                  <a:schemeClr val="bg1"/>
                </a:solidFill>
                <a:prstDash val="solid"/>
              </a:ln>
              <a:solidFill>
                <a:srgbClr val="074736"/>
              </a:solidFill>
              <a:effectLst>
                <a:outerShdw blurRad="12700" dist="38100" dir="2700000" algn="tl" rotWithShape="0">
                  <a:schemeClr val="bg1">
                    <a:lumMod val="50000"/>
                  </a:schemeClr>
                </a:outerShdw>
              </a:effectLst>
              <a:latin typeface="MARKER FELT THIN" panose="02000400000000000000" pitchFamily="2" charset="77"/>
            </a:endParaRPr>
          </a:p>
        </p:txBody>
      </p:sp>
      <p:sp>
        <p:nvSpPr>
          <p:cNvPr id="15" name="Rounded Rectangle 35">
            <a:extLst>
              <a:ext uri="{FF2B5EF4-FFF2-40B4-BE49-F238E27FC236}">
                <a16:creationId xmlns:a16="http://schemas.microsoft.com/office/drawing/2014/main" id="{43E99865-2573-0136-2BEF-AD2A33AFE9C6}"/>
              </a:ext>
            </a:extLst>
          </p:cNvPr>
          <p:cNvSpPr/>
          <p:nvPr/>
        </p:nvSpPr>
        <p:spPr>
          <a:xfrm>
            <a:off x="280582" y="4933496"/>
            <a:ext cx="8131898" cy="4263054"/>
          </a:xfrm>
          <a:prstGeom prst="roundRect">
            <a:avLst>
              <a:gd name="adj" fmla="val 5003"/>
            </a:avLst>
          </a:prstGeom>
          <a:solidFill>
            <a:srgbClr val="07473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74736"/>
              </a:solidFill>
            </a:endParaRPr>
          </a:p>
        </p:txBody>
      </p:sp>
      <p:sp>
        <p:nvSpPr>
          <p:cNvPr id="17" name="Rectangle 16">
            <a:extLst>
              <a:ext uri="{FF2B5EF4-FFF2-40B4-BE49-F238E27FC236}">
                <a16:creationId xmlns:a16="http://schemas.microsoft.com/office/drawing/2014/main" id="{D0D50842-A546-95A8-EA86-7A3C7561E28A}"/>
              </a:ext>
            </a:extLst>
          </p:cNvPr>
          <p:cNvSpPr/>
          <p:nvPr/>
        </p:nvSpPr>
        <p:spPr>
          <a:xfrm>
            <a:off x="1777963" y="5134437"/>
            <a:ext cx="4826603" cy="461665"/>
          </a:xfrm>
          <a:prstGeom prst="rect">
            <a:avLst/>
          </a:prstGeom>
          <a:noFill/>
        </p:spPr>
        <p:txBody>
          <a:bodyPr wrap="square" lIns="91440" tIns="45720" rIns="91440" bIns="45720">
            <a:spAutoFit/>
          </a:bodyPr>
          <a:lstStyle/>
          <a:p>
            <a:pPr algn="ctr"/>
            <a:r>
              <a:rPr lang="en-US" sz="2400" dirty="0">
                <a:ln w="0">
                  <a:solidFill>
                    <a:srgbClr val="53915A"/>
                  </a:solidFill>
                </a:ln>
                <a:solidFill>
                  <a:schemeClr val="bg1"/>
                </a:solidFill>
                <a:effectLst>
                  <a:outerShdw blurRad="38100" dist="19050" dir="2700000" algn="tl" rotWithShape="0">
                    <a:schemeClr val="dk1">
                      <a:alpha val="40000"/>
                    </a:schemeClr>
                  </a:outerShdw>
                </a:effectLst>
              </a:rPr>
              <a:t>Equations</a:t>
            </a:r>
          </a:p>
        </p:txBody>
      </p:sp>
      <p:sp>
        <p:nvSpPr>
          <p:cNvPr id="18" name="Rounded Rectangle 32">
            <a:extLst>
              <a:ext uri="{FF2B5EF4-FFF2-40B4-BE49-F238E27FC236}">
                <a16:creationId xmlns:a16="http://schemas.microsoft.com/office/drawing/2014/main" id="{ABD77476-7909-3258-5F4E-75E2820128A3}"/>
              </a:ext>
            </a:extLst>
          </p:cNvPr>
          <p:cNvSpPr/>
          <p:nvPr/>
        </p:nvSpPr>
        <p:spPr>
          <a:xfrm>
            <a:off x="561262" y="5728998"/>
            <a:ext cx="7554038" cy="1223683"/>
          </a:xfrm>
          <a:prstGeom prst="roundRect">
            <a:avLst>
              <a:gd name="adj" fmla="val 8828"/>
            </a:avLst>
          </a:prstGeom>
          <a:solidFill>
            <a:srgbClr val="F4EEA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accent6">
                  <a:lumMod val="50000"/>
                </a:schemeClr>
              </a:solidFill>
            </a:endParaRPr>
          </a:p>
        </p:txBody>
      </p:sp>
      <p:sp>
        <p:nvSpPr>
          <p:cNvPr id="19" name="Rounded Rectangle 39">
            <a:extLst>
              <a:ext uri="{FF2B5EF4-FFF2-40B4-BE49-F238E27FC236}">
                <a16:creationId xmlns:a16="http://schemas.microsoft.com/office/drawing/2014/main" id="{06444E15-8A8B-6BAE-15CB-9F29F83187EB}"/>
              </a:ext>
            </a:extLst>
          </p:cNvPr>
          <p:cNvSpPr/>
          <p:nvPr/>
        </p:nvSpPr>
        <p:spPr>
          <a:xfrm>
            <a:off x="614154" y="7422927"/>
            <a:ext cx="7501145" cy="1223683"/>
          </a:xfrm>
          <a:prstGeom prst="roundRect">
            <a:avLst>
              <a:gd name="adj" fmla="val 8828"/>
            </a:avLst>
          </a:prstGeom>
          <a:solidFill>
            <a:srgbClr val="F4EEA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65B48B68-64AC-FAF4-FBD3-D1ABEFF8AB71}"/>
              </a:ext>
            </a:extLst>
          </p:cNvPr>
          <p:cNvSpPr/>
          <p:nvPr/>
        </p:nvSpPr>
        <p:spPr>
          <a:xfrm>
            <a:off x="699945" y="5975781"/>
            <a:ext cx="1774408" cy="707886"/>
          </a:xfrm>
          <a:prstGeom prst="rect">
            <a:avLst/>
          </a:prstGeom>
          <a:noFill/>
        </p:spPr>
        <p:txBody>
          <a:bodyPr wrap="square" lIns="91440" tIns="45720" rIns="91440" bIns="45720">
            <a:spAutoFit/>
          </a:bodyPr>
          <a:lstStyle/>
          <a:p>
            <a:pPr algn="ctr"/>
            <a:r>
              <a:rPr lang="en-GB" sz="2000" dirty="0">
                <a:ln w="9525">
                  <a:solidFill>
                    <a:schemeClr val="bg1"/>
                  </a:solidFill>
                  <a:prstDash val="solid"/>
                </a:ln>
                <a:solidFill>
                  <a:schemeClr val="tx1">
                    <a:lumMod val="95000"/>
                    <a:lumOff val="5000"/>
                  </a:schemeClr>
                </a:solidFill>
                <a:effectLst>
                  <a:outerShdw blurRad="38100" dist="38100" dir="2700000" algn="tl">
                    <a:srgbClr val="000000">
                      <a:alpha val="43137"/>
                    </a:srgbClr>
                  </a:outerShdw>
                </a:effectLst>
                <a:latin typeface="Marker Felt Thin" panose="02000400000000000000" pitchFamily="2" charset="77"/>
              </a:rPr>
              <a:t>Fourier Series Decomposition</a:t>
            </a:r>
            <a:endParaRPr lang="en-GB" sz="2000" cap="none" spc="0" dirty="0">
              <a:ln w="9525">
                <a:solidFill>
                  <a:schemeClr val="bg1"/>
                </a:solidFill>
                <a:prstDash val="solid"/>
              </a:ln>
              <a:solidFill>
                <a:schemeClr val="tx1">
                  <a:lumMod val="95000"/>
                  <a:lumOff val="5000"/>
                </a:schemeClr>
              </a:solidFill>
              <a:effectLst>
                <a:outerShdw blurRad="38100" dist="38100" dir="2700000" algn="tl">
                  <a:srgbClr val="000000">
                    <a:alpha val="43137"/>
                  </a:srgbClr>
                </a:outerShdw>
              </a:effectLst>
              <a:latin typeface="Marker Felt Thin" panose="02000400000000000000" pitchFamily="2" charset="77"/>
            </a:endParaRPr>
          </a:p>
        </p:txBody>
      </p:sp>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47A24254-8786-7D6D-DE38-DCD2E80764B2}"/>
                  </a:ext>
                </a:extLst>
              </p:cNvPr>
              <p:cNvSpPr/>
              <p:nvPr/>
            </p:nvSpPr>
            <p:spPr>
              <a:xfrm>
                <a:off x="702975" y="7680825"/>
                <a:ext cx="3179485" cy="714876"/>
              </a:xfrm>
              <a:prstGeom prst="rect">
                <a:avLst/>
              </a:prstGeom>
              <a:noFill/>
            </p:spPr>
            <p:txBody>
              <a:bodyPr wrap="square" lIns="91440" tIns="45720" rIns="91440" bIns="45720">
                <a:spAutoFit/>
              </a:bodyPr>
              <a:lstStyle/>
              <a:p>
                <a:pPr algn="ctr"/>
                <a:r>
                  <a:rPr lang="en-GB" sz="2000" b="1" cap="none" spc="0" dirty="0">
                    <a:ln w="9525">
                      <a:solidFill>
                        <a:schemeClr val="bg1"/>
                      </a:solidFill>
                      <a:prstDash val="solid"/>
                    </a:ln>
                    <a:solidFill>
                      <a:srgbClr val="074736"/>
                    </a:solidFill>
                    <a:effectLst>
                      <a:outerShdw blurRad="12700" dist="38100" dir="2700000" algn="tl" rotWithShape="0">
                        <a:schemeClr val="bg1">
                          <a:lumMod val="50000"/>
                        </a:schemeClr>
                      </a:outerShdw>
                    </a:effectLst>
                    <a:latin typeface="Marker Felt Thin" panose="02000400000000000000" pitchFamily="2" charset="77"/>
                  </a:rPr>
                  <a:t>Squared Multiple Correlation Coefficient (</a:t>
                </a:r>
                <a14:m>
                  <m:oMath xmlns:m="http://schemas.openxmlformats.org/officeDocument/2006/math">
                    <m:sSup>
                      <m:sSupPr>
                        <m:ctrlPr>
                          <a:rPr lang="en-GB" sz="2000" b="1" i="1" cap="none" spc="0" smtClean="0">
                            <a:ln w="9525">
                              <a:solidFill>
                                <a:schemeClr val="bg1"/>
                              </a:solidFill>
                              <a:prstDash val="solid"/>
                            </a:ln>
                            <a:solidFill>
                              <a:srgbClr val="074736"/>
                            </a:solidFill>
                            <a:effectLst>
                              <a:outerShdw blurRad="12700" dist="38100" dir="2700000" algn="tl" rotWithShape="0">
                                <a:schemeClr val="bg1">
                                  <a:lumMod val="50000"/>
                                </a:schemeClr>
                              </a:outerShdw>
                            </a:effectLst>
                            <a:latin typeface="Cambria Math" panose="02040503050406030204" pitchFamily="18" charset="0"/>
                          </a:rPr>
                        </m:ctrlPr>
                      </m:sSupPr>
                      <m:e>
                        <m:r>
                          <a:rPr lang="en-IN" sz="2000" b="1" i="1" cap="none" spc="0" smtClean="0">
                            <a:ln w="9525">
                              <a:solidFill>
                                <a:schemeClr val="bg1"/>
                              </a:solidFill>
                              <a:prstDash val="solid"/>
                            </a:ln>
                            <a:solidFill>
                              <a:srgbClr val="074736"/>
                            </a:solidFill>
                            <a:effectLst>
                              <a:outerShdw blurRad="12700" dist="38100" dir="2700000" algn="tl" rotWithShape="0">
                                <a:schemeClr val="bg1">
                                  <a:lumMod val="50000"/>
                                </a:schemeClr>
                              </a:outerShdw>
                            </a:effectLst>
                            <a:latin typeface="Cambria Math" panose="02040503050406030204" pitchFamily="18" charset="0"/>
                          </a:rPr>
                          <m:t>𝑹</m:t>
                        </m:r>
                      </m:e>
                      <m:sup>
                        <m:r>
                          <a:rPr lang="en-IN" sz="2000" b="1" i="1" cap="none" spc="0" smtClean="0">
                            <a:ln w="9525">
                              <a:solidFill>
                                <a:schemeClr val="bg1"/>
                              </a:solidFill>
                              <a:prstDash val="solid"/>
                            </a:ln>
                            <a:solidFill>
                              <a:srgbClr val="074736"/>
                            </a:solidFill>
                            <a:effectLst>
                              <a:outerShdw blurRad="12700" dist="38100" dir="2700000" algn="tl" rotWithShape="0">
                                <a:schemeClr val="bg1">
                                  <a:lumMod val="50000"/>
                                </a:schemeClr>
                              </a:outerShdw>
                            </a:effectLst>
                            <a:latin typeface="Cambria Math" panose="02040503050406030204" pitchFamily="18" charset="0"/>
                          </a:rPr>
                          <m:t>𝟐</m:t>
                        </m:r>
                      </m:sup>
                    </m:sSup>
                  </m:oMath>
                </a14:m>
                <a:r>
                  <a:rPr lang="en-GB" sz="2000" b="1" cap="none" spc="0" dirty="0">
                    <a:ln w="9525">
                      <a:solidFill>
                        <a:schemeClr val="bg1"/>
                      </a:solidFill>
                      <a:prstDash val="solid"/>
                    </a:ln>
                    <a:solidFill>
                      <a:srgbClr val="074736"/>
                    </a:solidFill>
                    <a:effectLst>
                      <a:outerShdw blurRad="12700" dist="38100" dir="2700000" algn="tl" rotWithShape="0">
                        <a:schemeClr val="bg1">
                          <a:lumMod val="50000"/>
                        </a:schemeClr>
                      </a:outerShdw>
                    </a:effectLst>
                    <a:latin typeface="Marker Felt Thin" panose="02000400000000000000" pitchFamily="2" charset="77"/>
                  </a:rPr>
                  <a:t> )</a:t>
                </a:r>
              </a:p>
            </p:txBody>
          </p:sp>
        </mc:Choice>
        <mc:Fallback>
          <p:sp>
            <p:nvSpPr>
              <p:cNvPr id="4" name="Rectangle 3">
                <a:extLst>
                  <a:ext uri="{FF2B5EF4-FFF2-40B4-BE49-F238E27FC236}">
                    <a16:creationId xmlns:a16="http://schemas.microsoft.com/office/drawing/2014/main" id="{47A24254-8786-7D6D-DE38-DCD2E80764B2}"/>
                  </a:ext>
                </a:extLst>
              </p:cNvPr>
              <p:cNvSpPr>
                <a:spLocks noRot="1" noChangeAspect="1" noMove="1" noResize="1" noEditPoints="1" noAdjustHandles="1" noChangeArrowheads="1" noChangeShapeType="1" noTextEdit="1"/>
              </p:cNvSpPr>
              <p:nvPr/>
            </p:nvSpPr>
            <p:spPr>
              <a:xfrm>
                <a:off x="702975" y="7680825"/>
                <a:ext cx="3179485" cy="714876"/>
              </a:xfrm>
              <a:prstGeom prst="rect">
                <a:avLst/>
              </a:prstGeom>
              <a:blipFill>
                <a:blip r:embed="rId4"/>
                <a:stretch>
                  <a:fillRect/>
                </a:stretch>
              </a:blipFill>
            </p:spPr>
            <p:txBody>
              <a:bodyPr/>
              <a:lstStyle/>
              <a:p>
                <a:r>
                  <a:rPr lang="en-IN">
                    <a:noFill/>
                  </a:rPr>
                  <a:t> </a:t>
                </a:r>
              </a:p>
            </p:txBody>
          </p:sp>
        </mc:Fallback>
      </mc:AlternateContent>
      <p:pic>
        <p:nvPicPr>
          <p:cNvPr id="1038" name="Picture 14" descr="Principal Component Analysis. Global, multivariate correlation ...">
            <a:extLst>
              <a:ext uri="{FF2B5EF4-FFF2-40B4-BE49-F238E27FC236}">
                <a16:creationId xmlns:a16="http://schemas.microsoft.com/office/drawing/2014/main" id="{FB05BAF5-A1F6-D7D5-6901-8A03512B66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74869" y="2383479"/>
            <a:ext cx="3466478" cy="3345519"/>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Correlation matrix for all variables from multivariate two-stage ...">
            <a:extLst>
              <a:ext uri="{FF2B5EF4-FFF2-40B4-BE49-F238E27FC236}">
                <a16:creationId xmlns:a16="http://schemas.microsoft.com/office/drawing/2014/main" id="{F60BA648-E0F5-F038-7870-9CACFE771DF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74869" y="5975780"/>
            <a:ext cx="3466478" cy="3466478"/>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a:extLst>
              <a:ext uri="{FF2B5EF4-FFF2-40B4-BE49-F238E27FC236}">
                <a16:creationId xmlns:a16="http://schemas.microsoft.com/office/drawing/2014/main" id="{39BD6757-0168-BA0A-AA8C-2AEDB4E75E47}"/>
              </a:ext>
            </a:extLst>
          </p:cNvPr>
          <p:cNvPicPr>
            <a:picLocks noChangeAspect="1"/>
          </p:cNvPicPr>
          <p:nvPr/>
        </p:nvPicPr>
        <p:blipFill>
          <a:blip r:embed="rId7"/>
          <a:stretch>
            <a:fillRect/>
          </a:stretch>
        </p:blipFill>
        <p:spPr>
          <a:xfrm>
            <a:off x="826265" y="5854000"/>
            <a:ext cx="7127913" cy="941528"/>
          </a:xfrm>
          <a:prstGeom prst="rect">
            <a:avLst/>
          </a:prstGeom>
        </p:spPr>
      </p:pic>
      <p:pic>
        <p:nvPicPr>
          <p:cNvPr id="39" name="Picture 38">
            <a:extLst>
              <a:ext uri="{FF2B5EF4-FFF2-40B4-BE49-F238E27FC236}">
                <a16:creationId xmlns:a16="http://schemas.microsoft.com/office/drawing/2014/main" id="{39C49495-D947-FB90-C54C-B9F04A27647C}"/>
              </a:ext>
            </a:extLst>
          </p:cNvPr>
          <p:cNvPicPr>
            <a:picLocks noChangeAspect="1"/>
          </p:cNvPicPr>
          <p:nvPr/>
        </p:nvPicPr>
        <p:blipFill>
          <a:blip r:embed="rId8"/>
          <a:stretch>
            <a:fillRect/>
          </a:stretch>
        </p:blipFill>
        <p:spPr>
          <a:xfrm>
            <a:off x="4179642" y="7610846"/>
            <a:ext cx="3000794" cy="847843"/>
          </a:xfrm>
          <a:prstGeom prst="rect">
            <a:avLst/>
          </a:prstGeom>
        </p:spPr>
      </p:pic>
    </p:spTree>
    <p:extLst>
      <p:ext uri="{BB962C8B-B14F-4D97-AF65-F5344CB8AC3E}">
        <p14:creationId xmlns:p14="http://schemas.microsoft.com/office/powerpoint/2010/main" val="24039442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FC2E1BA8-B964-AB46-B3AD-D2D74D0CD608}"/>
              </a:ext>
            </a:extLst>
          </p:cNvPr>
          <p:cNvSpPr/>
          <p:nvPr/>
        </p:nvSpPr>
        <p:spPr>
          <a:xfrm>
            <a:off x="140676" y="140677"/>
            <a:ext cx="6260123" cy="1072662"/>
          </a:xfrm>
          <a:prstGeom prst="roundRect">
            <a:avLst/>
          </a:prstGeom>
          <a:solidFill>
            <a:srgbClr val="07473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0" i="0" dirty="0">
                <a:solidFill>
                  <a:srgbClr val="FFFFFF"/>
                </a:solidFill>
                <a:effectLst/>
              </a:rPr>
              <a:t>Application of Multivariate Correlation</a:t>
            </a:r>
            <a:endParaRPr lang="en-US" sz="2730" b="1" dirty="0">
              <a:solidFill>
                <a:schemeClr val="bg1"/>
              </a:solidFill>
              <a:latin typeface="Chalkboard" panose="03050602040202020205" pitchFamily="66" charset="77"/>
            </a:endParaRPr>
          </a:p>
          <a:p>
            <a:pPr algn="ctr"/>
            <a:r>
              <a:rPr lang="en-US" sz="3000" b="1" dirty="0">
                <a:latin typeface="Chalkboard" panose="03050602040202020205" pitchFamily="66" charset="77"/>
              </a:rPr>
              <a:t>Dynamics</a:t>
            </a:r>
          </a:p>
        </p:txBody>
      </p:sp>
      <p:sp>
        <p:nvSpPr>
          <p:cNvPr id="6" name="Rounded Rectangle 5">
            <a:extLst>
              <a:ext uri="{FF2B5EF4-FFF2-40B4-BE49-F238E27FC236}">
                <a16:creationId xmlns:a16="http://schemas.microsoft.com/office/drawing/2014/main" id="{015D0BAC-CDFE-B44B-8687-3395308B5D8E}"/>
              </a:ext>
            </a:extLst>
          </p:cNvPr>
          <p:cNvSpPr/>
          <p:nvPr/>
        </p:nvSpPr>
        <p:spPr>
          <a:xfrm>
            <a:off x="185727" y="4693977"/>
            <a:ext cx="6180152" cy="4748308"/>
          </a:xfrm>
          <a:prstGeom prst="roundRect">
            <a:avLst>
              <a:gd name="adj" fmla="val 7173"/>
            </a:avLst>
          </a:prstGeom>
          <a:solidFill>
            <a:srgbClr val="5391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endParaRPr lang="en-US" sz="1800" b="0" i="0" dirty="0">
              <a:solidFill>
                <a:srgbClr val="FFFFFF"/>
              </a:solidFill>
              <a:effectLst/>
            </a:endParaRPr>
          </a:p>
          <a:p>
            <a:pPr marL="285750" indent="-285750">
              <a:buFont typeface="Arial" panose="020B0604020202020204" pitchFamily="34" charset="0"/>
              <a:buChar char="•"/>
            </a:pPr>
            <a:r>
              <a:rPr lang="en-US" sz="1800" b="0" i="0" dirty="0">
                <a:solidFill>
                  <a:srgbClr val="FFFFFF"/>
                </a:solidFill>
                <a:effectLst/>
              </a:rPr>
              <a:t>Multivariate correlation helps uncover relationships among several variables simultaneously.</a:t>
            </a:r>
          </a:p>
          <a:p>
            <a:pPr marL="285750" indent="-285750">
              <a:buFont typeface="Arial" panose="020B0604020202020204" pitchFamily="34" charset="0"/>
              <a:buChar char="•"/>
            </a:pPr>
            <a:r>
              <a:rPr lang="en-US" sz="1800" b="0" i="0" dirty="0">
                <a:solidFill>
                  <a:srgbClr val="FFFFFF"/>
                </a:solidFill>
                <a:effectLst/>
              </a:rPr>
              <a:t>It supports better decision-making in data-rich domains like finance and healthcare.</a:t>
            </a:r>
          </a:p>
          <a:p>
            <a:pPr marL="285750" indent="-285750">
              <a:buFont typeface="Arial" panose="020B0604020202020204" pitchFamily="34" charset="0"/>
              <a:buChar char="•"/>
            </a:pPr>
            <a:r>
              <a:rPr lang="en-US" sz="1800" b="0" i="0" dirty="0">
                <a:solidFill>
                  <a:srgbClr val="FFFFFF"/>
                </a:solidFill>
                <a:effectLst/>
              </a:rPr>
              <a:t>Useful in identifying variable clusters and reducing model complexity.</a:t>
            </a:r>
          </a:p>
          <a:p>
            <a:pPr marL="285750" indent="-285750">
              <a:buFont typeface="Arial" panose="020B0604020202020204" pitchFamily="34" charset="0"/>
              <a:buChar char="•"/>
            </a:pPr>
            <a:r>
              <a:rPr lang="en-US" sz="1800" b="0" i="0" dirty="0">
                <a:solidFill>
                  <a:srgbClr val="FFFFFF"/>
                </a:solidFill>
                <a:effectLst/>
              </a:rPr>
              <a:t>Enhances feature selection and improves accuracy in machine learning models.</a:t>
            </a:r>
          </a:p>
          <a:p>
            <a:pPr marL="285750" indent="-285750">
              <a:buFont typeface="Arial" panose="020B0604020202020204" pitchFamily="34" charset="0"/>
              <a:buChar char="•"/>
            </a:pPr>
            <a:r>
              <a:rPr lang="en-US" sz="1800" b="0" i="0" dirty="0">
                <a:solidFill>
                  <a:srgbClr val="FFFFFF"/>
                </a:solidFill>
                <a:effectLst/>
              </a:rPr>
              <a:t>Aids in visualizing data structure through correlation matrices and PCA.</a:t>
            </a:r>
          </a:p>
          <a:p>
            <a:pPr marL="285750" indent="-285750">
              <a:buFont typeface="Arial" panose="020B0604020202020204" pitchFamily="34" charset="0"/>
              <a:buChar char="•"/>
            </a:pPr>
            <a:r>
              <a:rPr lang="en-US" sz="1800" b="0" i="0" dirty="0">
                <a:solidFill>
                  <a:srgbClr val="FFFFFF"/>
                </a:solidFill>
                <a:effectLst/>
              </a:rPr>
              <a:t>Enables detection of multicollinearity, strengthening model reliability.</a:t>
            </a:r>
          </a:p>
          <a:p>
            <a:pPr marL="285750" indent="-285750">
              <a:buFont typeface="Arial" panose="020B0604020202020204" pitchFamily="34" charset="0"/>
              <a:buChar char="•"/>
            </a:pPr>
            <a:r>
              <a:rPr lang="en-US" sz="1800" b="0" i="0" dirty="0">
                <a:solidFill>
                  <a:srgbClr val="FFFFFF"/>
                </a:solidFill>
                <a:effectLst/>
              </a:rPr>
              <a:t>Though limited to linear patterns, it's crucial in multivariate data exploration.</a:t>
            </a:r>
            <a:endParaRPr lang="en-US" dirty="0"/>
          </a:p>
        </p:txBody>
      </p:sp>
      <p:sp>
        <p:nvSpPr>
          <p:cNvPr id="8" name="Rectangle 7">
            <a:extLst>
              <a:ext uri="{FF2B5EF4-FFF2-40B4-BE49-F238E27FC236}">
                <a16:creationId xmlns:a16="http://schemas.microsoft.com/office/drawing/2014/main" id="{B6DF0A89-8746-5F4E-AAD4-672B4C29851C}"/>
              </a:ext>
            </a:extLst>
          </p:cNvPr>
          <p:cNvSpPr/>
          <p:nvPr/>
        </p:nvSpPr>
        <p:spPr>
          <a:xfrm>
            <a:off x="2085543" y="4693977"/>
            <a:ext cx="2176240" cy="584775"/>
          </a:xfrm>
          <a:prstGeom prst="rect">
            <a:avLst/>
          </a:prstGeom>
          <a:noFill/>
        </p:spPr>
        <p:txBody>
          <a:bodyPr wrap="square" lIns="91440" tIns="45720" rIns="91440" bIns="45720">
            <a:spAutoFit/>
          </a:bodyPr>
          <a:lstStyle/>
          <a:p>
            <a:pPr algn="ctr"/>
            <a:r>
              <a:rPr lang="en-GB" sz="3200" b="1" cap="none" spc="0" dirty="0">
                <a:ln w="9525">
                  <a:solidFill>
                    <a:schemeClr val="bg1"/>
                  </a:solidFill>
                  <a:prstDash val="solid"/>
                </a:ln>
                <a:solidFill>
                  <a:srgbClr val="074736"/>
                </a:solidFill>
                <a:effectLst>
                  <a:outerShdw blurRad="12700" dist="38100" dir="2700000" algn="tl" rotWithShape="0">
                    <a:schemeClr val="bg1">
                      <a:lumMod val="50000"/>
                    </a:schemeClr>
                  </a:outerShdw>
                </a:effectLst>
                <a:latin typeface="MARKER FELT THIN" panose="02000400000000000000" pitchFamily="2" charset="77"/>
              </a:rPr>
              <a:t>Conclusion</a:t>
            </a:r>
          </a:p>
        </p:txBody>
      </p:sp>
      <p:sp>
        <p:nvSpPr>
          <p:cNvPr id="23" name="Rounded Rectangle 22">
            <a:extLst>
              <a:ext uri="{FF2B5EF4-FFF2-40B4-BE49-F238E27FC236}">
                <a16:creationId xmlns:a16="http://schemas.microsoft.com/office/drawing/2014/main" id="{2AF1071C-70A2-DB41-AAD4-0E619EB6BB6C}"/>
              </a:ext>
            </a:extLst>
          </p:cNvPr>
          <p:cNvSpPr/>
          <p:nvPr/>
        </p:nvSpPr>
        <p:spPr>
          <a:xfrm>
            <a:off x="6842740" y="89505"/>
            <a:ext cx="5663588" cy="882194"/>
          </a:xfrm>
          <a:prstGeom prst="roundRect">
            <a:avLst>
              <a:gd name="adj" fmla="val 6750"/>
            </a:avLst>
          </a:prstGeom>
          <a:solidFill>
            <a:srgbClr val="07473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0" i="0" dirty="0">
                <a:solidFill>
                  <a:srgbClr val="FFFFFF"/>
                </a:solidFill>
                <a:effectLst/>
              </a:rPr>
              <a:t>Application of Multivariate Correlation</a:t>
            </a:r>
            <a:endParaRPr lang="en-US" sz="2400" b="1" dirty="0">
              <a:solidFill>
                <a:schemeClr val="bg1"/>
              </a:solidFill>
              <a:latin typeface="Chalkboard" panose="03050602040202020205" pitchFamily="66" charset="77"/>
            </a:endParaRPr>
          </a:p>
          <a:p>
            <a:pPr algn="ctr"/>
            <a:r>
              <a:rPr lang="en-US" sz="2500" b="1" dirty="0">
                <a:latin typeface="Chalkboard" panose="03050602040202020205" pitchFamily="66" charset="77"/>
              </a:rPr>
              <a:t>Limitations</a:t>
            </a:r>
          </a:p>
        </p:txBody>
      </p:sp>
      <p:pic>
        <p:nvPicPr>
          <p:cNvPr id="25" name="Picture 24">
            <a:extLst>
              <a:ext uri="{FF2B5EF4-FFF2-40B4-BE49-F238E27FC236}">
                <a16:creationId xmlns:a16="http://schemas.microsoft.com/office/drawing/2014/main" id="{75F395E2-D744-AF4C-ABC2-B98500CDCDB3}"/>
              </a:ext>
            </a:extLst>
          </p:cNvPr>
          <p:cNvPicPr>
            <a:picLocks noChangeAspect="1"/>
          </p:cNvPicPr>
          <p:nvPr/>
        </p:nvPicPr>
        <p:blipFill>
          <a:blip r:embed="rId2"/>
          <a:stretch>
            <a:fillRect/>
          </a:stretch>
        </p:blipFill>
        <p:spPr>
          <a:xfrm>
            <a:off x="5332836" y="7906903"/>
            <a:ext cx="1680868" cy="1680868"/>
          </a:xfrm>
          <a:prstGeom prst="rect">
            <a:avLst/>
          </a:prstGeom>
        </p:spPr>
      </p:pic>
      <p:sp>
        <p:nvSpPr>
          <p:cNvPr id="26" name="Rounded Rectangular Callout 25">
            <a:extLst>
              <a:ext uri="{FF2B5EF4-FFF2-40B4-BE49-F238E27FC236}">
                <a16:creationId xmlns:a16="http://schemas.microsoft.com/office/drawing/2014/main" id="{10E034E4-AD2E-6B40-A6B7-C022FBE73664}"/>
              </a:ext>
            </a:extLst>
          </p:cNvPr>
          <p:cNvSpPr/>
          <p:nvPr/>
        </p:nvSpPr>
        <p:spPr>
          <a:xfrm>
            <a:off x="6852500" y="6992503"/>
            <a:ext cx="3067831" cy="1828800"/>
          </a:xfrm>
          <a:prstGeom prst="wedgeRoundRectCallout">
            <a:avLst>
              <a:gd name="adj1" fmla="val -69006"/>
              <a:gd name="adj2" fmla="val 21773"/>
              <a:gd name="adj3" fmla="val 16667"/>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With the harmony of variables in motion, multivariate correlation unveils the intricate web of relationships, capturing the true rhythm of complex data dynamics.</a:t>
            </a:r>
            <a:endParaRPr lang="en-US" sz="1700" b="1" dirty="0">
              <a:ln>
                <a:solidFill>
                  <a:schemeClr val="tx1"/>
                </a:solidFill>
              </a:ln>
              <a:solidFill>
                <a:schemeClr val="tx1"/>
              </a:solidFill>
              <a:latin typeface="MARKER FELT THIN" panose="02000400000000000000"/>
            </a:endParaRPr>
          </a:p>
        </p:txBody>
      </p:sp>
      <p:sp>
        <p:nvSpPr>
          <p:cNvPr id="28" name="Rounded Rectangle 27">
            <a:extLst>
              <a:ext uri="{FF2B5EF4-FFF2-40B4-BE49-F238E27FC236}">
                <a16:creationId xmlns:a16="http://schemas.microsoft.com/office/drawing/2014/main" id="{C15EF709-419A-5648-A2FC-5C5FC4A3E8F0}"/>
              </a:ext>
            </a:extLst>
          </p:cNvPr>
          <p:cNvSpPr/>
          <p:nvPr/>
        </p:nvSpPr>
        <p:spPr>
          <a:xfrm>
            <a:off x="10002148" y="6632154"/>
            <a:ext cx="2713199" cy="2879541"/>
          </a:xfrm>
          <a:prstGeom prst="roundRect">
            <a:avLst>
              <a:gd name="adj" fmla="val 4426"/>
            </a:avLst>
          </a:prstGeom>
          <a:solidFill>
            <a:srgbClr val="5391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A5F46A60-7A9B-F34A-83F3-C50FBF176314}"/>
              </a:ext>
            </a:extLst>
          </p:cNvPr>
          <p:cNvSpPr/>
          <p:nvPr/>
        </p:nvSpPr>
        <p:spPr>
          <a:xfrm>
            <a:off x="10345607" y="6713780"/>
            <a:ext cx="2026280" cy="400110"/>
          </a:xfrm>
          <a:prstGeom prst="rect">
            <a:avLst/>
          </a:prstGeom>
          <a:noFill/>
        </p:spPr>
        <p:txBody>
          <a:bodyPr wrap="square" lIns="91440" tIns="45720" rIns="91440" bIns="45720">
            <a:spAutoFit/>
          </a:bodyPr>
          <a:lstStyle/>
          <a:p>
            <a:pPr algn="ctr"/>
            <a:r>
              <a:rPr lang="en-GB" sz="2000" b="1" dirty="0">
                <a:ln w="9525">
                  <a:solidFill>
                    <a:schemeClr val="bg1"/>
                  </a:solidFill>
                  <a:prstDash val="solid"/>
                </a:ln>
                <a:solidFill>
                  <a:srgbClr val="074736"/>
                </a:solidFill>
                <a:effectLst>
                  <a:outerShdw blurRad="12700" dist="38100" dir="2700000" algn="tl" rotWithShape="0">
                    <a:schemeClr val="bg1">
                      <a:lumMod val="50000"/>
                    </a:schemeClr>
                  </a:outerShdw>
                </a:effectLst>
                <a:latin typeface="MARKER FELT THIN" panose="02000400000000000000" pitchFamily="2" charset="77"/>
              </a:rPr>
              <a:t>References</a:t>
            </a:r>
            <a:endParaRPr lang="en-GB" sz="2000" b="1" cap="none" spc="0" dirty="0">
              <a:ln w="9525">
                <a:solidFill>
                  <a:schemeClr val="bg1"/>
                </a:solidFill>
                <a:prstDash val="solid"/>
              </a:ln>
              <a:solidFill>
                <a:srgbClr val="074736"/>
              </a:solidFill>
              <a:effectLst>
                <a:outerShdw blurRad="12700" dist="38100" dir="2700000" algn="tl" rotWithShape="0">
                  <a:schemeClr val="bg1">
                    <a:lumMod val="50000"/>
                  </a:schemeClr>
                </a:outerShdw>
              </a:effectLst>
              <a:latin typeface="MARKER FELT THIN" panose="02000400000000000000" pitchFamily="2" charset="77"/>
            </a:endParaRPr>
          </a:p>
        </p:txBody>
      </p:sp>
      <p:sp>
        <p:nvSpPr>
          <p:cNvPr id="29" name="TextBox 28">
            <a:extLst>
              <a:ext uri="{FF2B5EF4-FFF2-40B4-BE49-F238E27FC236}">
                <a16:creationId xmlns:a16="http://schemas.microsoft.com/office/drawing/2014/main" id="{4C82D94D-30D8-6C43-826D-931FB4DD240F}"/>
              </a:ext>
            </a:extLst>
          </p:cNvPr>
          <p:cNvSpPr txBox="1"/>
          <p:nvPr/>
        </p:nvSpPr>
        <p:spPr>
          <a:xfrm>
            <a:off x="10047510" y="7074541"/>
            <a:ext cx="2667837" cy="2246769"/>
          </a:xfrm>
          <a:prstGeom prst="rect">
            <a:avLst/>
          </a:prstGeom>
          <a:noFill/>
        </p:spPr>
        <p:txBody>
          <a:bodyPr wrap="square" rtlCol="0">
            <a:spAutoFit/>
          </a:bodyPr>
          <a:lstStyle/>
          <a:p>
            <a:r>
              <a:rPr lang="en-US" sz="1400" dirty="0">
                <a:hlinkClick r:id="rId3"/>
              </a:rPr>
              <a:t>https://www.sciencedirect.com/science/article/abs/pii/000326709187040E</a:t>
            </a:r>
            <a:endParaRPr lang="en-US" sz="1400" dirty="0"/>
          </a:p>
          <a:p>
            <a:endParaRPr lang="en-US" sz="1400" dirty="0">
              <a:hlinkClick r:id="rId4"/>
            </a:endParaRPr>
          </a:p>
          <a:p>
            <a:r>
              <a:rPr lang="en-US" sz="1400" dirty="0">
                <a:hlinkClick r:id="rId4"/>
              </a:rPr>
              <a:t>https://www.sciencedirect.com/science/article/abs/pii/S0169743911000529</a:t>
            </a:r>
            <a:br>
              <a:rPr lang="en-US" sz="1400" dirty="0"/>
            </a:br>
            <a:br>
              <a:rPr lang="en-US" sz="1400" dirty="0"/>
            </a:br>
            <a:r>
              <a:rPr lang="en-US" sz="1400" dirty="0">
                <a:hlinkClick r:id="rId5"/>
              </a:rPr>
              <a:t>https://pmc.ncbi.nlm.nih.gov/articles/PMC3690333/</a:t>
            </a:r>
            <a:endParaRPr lang="en-US" sz="1400" dirty="0"/>
          </a:p>
        </p:txBody>
      </p:sp>
      <p:graphicFrame>
        <p:nvGraphicFramePr>
          <p:cNvPr id="31" name="Table 30">
            <a:extLst>
              <a:ext uri="{FF2B5EF4-FFF2-40B4-BE49-F238E27FC236}">
                <a16:creationId xmlns:a16="http://schemas.microsoft.com/office/drawing/2014/main" id="{A1580B7C-AF51-30DC-5E90-39F9A15D8806}"/>
              </a:ext>
            </a:extLst>
          </p:cNvPr>
          <p:cNvGraphicFramePr>
            <a:graphicFrameLocks noGrp="1"/>
          </p:cNvGraphicFramePr>
          <p:nvPr>
            <p:extLst>
              <p:ext uri="{D42A27DB-BD31-4B8C-83A1-F6EECF244321}">
                <p14:modId xmlns:p14="http://schemas.microsoft.com/office/powerpoint/2010/main" val="233521809"/>
              </p:ext>
            </p:extLst>
          </p:nvPr>
        </p:nvGraphicFramePr>
        <p:xfrm>
          <a:off x="87202" y="1378453"/>
          <a:ext cx="6180152" cy="3149464"/>
        </p:xfrm>
        <a:graphic>
          <a:graphicData uri="http://schemas.openxmlformats.org/drawingml/2006/table">
            <a:tbl>
              <a:tblPr firstRow="1" bandRow="1">
                <a:tableStyleId>{93296810-A885-4BE3-A3E7-6D5BEEA58F35}</a:tableStyleId>
              </a:tblPr>
              <a:tblGrid>
                <a:gridCol w="3090076">
                  <a:extLst>
                    <a:ext uri="{9D8B030D-6E8A-4147-A177-3AD203B41FA5}">
                      <a16:colId xmlns:a16="http://schemas.microsoft.com/office/drawing/2014/main" val="3984670181"/>
                    </a:ext>
                  </a:extLst>
                </a:gridCol>
                <a:gridCol w="3090076">
                  <a:extLst>
                    <a:ext uri="{9D8B030D-6E8A-4147-A177-3AD203B41FA5}">
                      <a16:colId xmlns:a16="http://schemas.microsoft.com/office/drawing/2014/main" val="1880396082"/>
                    </a:ext>
                  </a:extLst>
                </a:gridCol>
              </a:tblGrid>
              <a:tr h="476859">
                <a:tc>
                  <a:txBody>
                    <a:bodyPr/>
                    <a:lstStyle/>
                    <a:p>
                      <a:pPr algn="ctr"/>
                      <a:r>
                        <a:rPr lang="en-IN" sz="2000" b="1" i="0" dirty="0">
                          <a:solidFill>
                            <a:srgbClr val="FFFFFF"/>
                          </a:solidFill>
                          <a:effectLst/>
                          <a:latin typeface="Söhne Mono"/>
                        </a:rPr>
                        <a:t>Aspect </a:t>
                      </a:r>
                      <a:endParaRPr lang="en-IN" sz="2000" b="1" dirty="0"/>
                    </a:p>
                  </a:txBody>
                  <a:tcPr/>
                </a:tc>
                <a:tc>
                  <a:txBody>
                    <a:bodyPr/>
                    <a:lstStyle/>
                    <a:p>
                      <a:pPr algn="ctr"/>
                      <a:r>
                        <a:rPr lang="en-IN" sz="2000" dirty="0"/>
                        <a:t>Description </a:t>
                      </a:r>
                    </a:p>
                  </a:txBody>
                  <a:tcPr/>
                </a:tc>
                <a:extLst>
                  <a:ext uri="{0D108BD9-81ED-4DB2-BD59-A6C34878D82A}">
                    <a16:rowId xmlns:a16="http://schemas.microsoft.com/office/drawing/2014/main" val="2054109169"/>
                  </a:ext>
                </a:extLst>
              </a:tr>
              <a:tr h="534521">
                <a:tc>
                  <a:txBody>
                    <a:bodyPr/>
                    <a:lstStyle/>
                    <a:p>
                      <a:pPr algn="ctr"/>
                      <a:r>
                        <a:rPr lang="en-IN" sz="1400" dirty="0"/>
                        <a:t>Correlation Matrix </a:t>
                      </a:r>
                    </a:p>
                  </a:txBody>
                  <a:tcPr/>
                </a:tc>
                <a:tc>
                  <a:txBody>
                    <a:bodyPr/>
                    <a:lstStyle/>
                    <a:p>
                      <a:pPr algn="ctr"/>
                      <a:r>
                        <a:rPr lang="en-US" sz="1400" dirty="0"/>
                        <a:t>Captures pairwise correlations among all variables in a compact form.</a:t>
                      </a:r>
                      <a:endParaRPr lang="en-IN" sz="1400" dirty="0"/>
                    </a:p>
                  </a:txBody>
                  <a:tcPr/>
                </a:tc>
                <a:extLst>
                  <a:ext uri="{0D108BD9-81ED-4DB2-BD59-A6C34878D82A}">
                    <a16:rowId xmlns:a16="http://schemas.microsoft.com/office/drawing/2014/main" val="1715639842"/>
                  </a:ext>
                </a:extLst>
              </a:tr>
              <a:tr h="534521">
                <a:tc>
                  <a:txBody>
                    <a:bodyPr/>
                    <a:lstStyle/>
                    <a:p>
                      <a:pPr algn="ctr"/>
                      <a:r>
                        <a:rPr lang="en-IN" sz="1400" dirty="0"/>
                        <a:t>Dimensional Analysis</a:t>
                      </a:r>
                    </a:p>
                  </a:txBody>
                  <a:tcPr/>
                </a:tc>
                <a:tc>
                  <a:txBody>
                    <a:bodyPr/>
                    <a:lstStyle/>
                    <a:p>
                      <a:pPr algn="ctr"/>
                      <a:r>
                        <a:rPr lang="en-US" sz="1400" dirty="0"/>
                        <a:t>Helps in identifying redundant or highly correlated variables.</a:t>
                      </a:r>
                      <a:endParaRPr lang="en-IN" sz="1400" dirty="0"/>
                    </a:p>
                  </a:txBody>
                  <a:tcPr/>
                </a:tc>
                <a:extLst>
                  <a:ext uri="{0D108BD9-81ED-4DB2-BD59-A6C34878D82A}">
                    <a16:rowId xmlns:a16="http://schemas.microsoft.com/office/drawing/2014/main" val="4117368177"/>
                  </a:ext>
                </a:extLst>
              </a:tr>
              <a:tr h="534521">
                <a:tc>
                  <a:txBody>
                    <a:bodyPr/>
                    <a:lstStyle/>
                    <a:p>
                      <a:pPr algn="ctr"/>
                      <a:r>
                        <a:rPr lang="en-IN" sz="1400" dirty="0"/>
                        <a:t>Predictive </a:t>
                      </a:r>
                      <a:r>
                        <a:rPr lang="en-IN" sz="1400" dirty="0" err="1"/>
                        <a:t>Modeling</a:t>
                      </a:r>
                      <a:endParaRPr lang="en-IN" sz="1400" dirty="0"/>
                    </a:p>
                  </a:txBody>
                  <a:tcPr/>
                </a:tc>
                <a:tc>
                  <a:txBody>
                    <a:bodyPr/>
                    <a:lstStyle/>
                    <a:p>
                      <a:pPr algn="ctr"/>
                      <a:r>
                        <a:rPr lang="en-US" sz="1400" dirty="0"/>
                        <a:t>Improves model accuracy by selecting relevant correlated features.</a:t>
                      </a:r>
                      <a:endParaRPr lang="en-IN" sz="1400" dirty="0"/>
                    </a:p>
                  </a:txBody>
                  <a:tcPr/>
                </a:tc>
                <a:extLst>
                  <a:ext uri="{0D108BD9-81ED-4DB2-BD59-A6C34878D82A}">
                    <a16:rowId xmlns:a16="http://schemas.microsoft.com/office/drawing/2014/main" val="2482516834"/>
                  </a:ext>
                </a:extLst>
              </a:tr>
              <a:tr h="534521">
                <a:tc>
                  <a:txBody>
                    <a:bodyPr/>
                    <a:lstStyle/>
                    <a:p>
                      <a:pPr algn="ctr"/>
                      <a:r>
                        <a:rPr lang="en-IN" sz="1400" dirty="0"/>
                        <a:t>Multicollinearity</a:t>
                      </a:r>
                    </a:p>
                  </a:txBody>
                  <a:tcPr/>
                </a:tc>
                <a:tc>
                  <a:txBody>
                    <a:bodyPr/>
                    <a:lstStyle/>
                    <a:p>
                      <a:pPr algn="ctr"/>
                      <a:r>
                        <a:rPr lang="en-US" sz="1400" dirty="0"/>
                        <a:t>Detects variables that might distort regression coefficients.</a:t>
                      </a:r>
                      <a:endParaRPr lang="en-IN" sz="1400" dirty="0"/>
                    </a:p>
                  </a:txBody>
                  <a:tcPr/>
                </a:tc>
                <a:extLst>
                  <a:ext uri="{0D108BD9-81ED-4DB2-BD59-A6C34878D82A}">
                    <a16:rowId xmlns:a16="http://schemas.microsoft.com/office/drawing/2014/main" val="3631124897"/>
                  </a:ext>
                </a:extLst>
              </a:tr>
              <a:tr h="534521">
                <a:tc>
                  <a:txBody>
                    <a:bodyPr/>
                    <a:lstStyle/>
                    <a:p>
                      <a:pPr algn="ctr"/>
                      <a:r>
                        <a:rPr lang="en-IN" sz="1400" dirty="0" err="1"/>
                        <a:t>Vizualization</a:t>
                      </a:r>
                      <a:endParaRPr lang="en-IN" sz="1400" dirty="0"/>
                    </a:p>
                  </a:txBody>
                  <a:tcPr/>
                </a:tc>
                <a:tc>
                  <a:txBody>
                    <a:bodyPr/>
                    <a:lstStyle/>
                    <a:p>
                      <a:pPr algn="ctr"/>
                      <a:r>
                        <a:rPr lang="en-US" sz="1400" dirty="0"/>
                        <a:t>Heatmaps and PCA plots offer intuitive understanding of variable relationships.</a:t>
                      </a:r>
                    </a:p>
                  </a:txBody>
                  <a:tcPr/>
                </a:tc>
                <a:extLst>
                  <a:ext uri="{0D108BD9-81ED-4DB2-BD59-A6C34878D82A}">
                    <a16:rowId xmlns:a16="http://schemas.microsoft.com/office/drawing/2014/main" val="821591434"/>
                  </a:ext>
                </a:extLst>
              </a:tr>
            </a:tbl>
          </a:graphicData>
        </a:graphic>
      </p:graphicFrame>
      <p:graphicFrame>
        <p:nvGraphicFramePr>
          <p:cNvPr id="33" name="Table 32">
            <a:extLst>
              <a:ext uri="{FF2B5EF4-FFF2-40B4-BE49-F238E27FC236}">
                <a16:creationId xmlns:a16="http://schemas.microsoft.com/office/drawing/2014/main" id="{F669F8D7-9C5A-1696-A773-F67BC99E2836}"/>
              </a:ext>
            </a:extLst>
          </p:cNvPr>
          <p:cNvGraphicFramePr>
            <a:graphicFrameLocks noGrp="1"/>
          </p:cNvGraphicFramePr>
          <p:nvPr>
            <p:extLst>
              <p:ext uri="{D42A27DB-BD31-4B8C-83A1-F6EECF244321}">
                <p14:modId xmlns:p14="http://schemas.microsoft.com/office/powerpoint/2010/main" val="2185640944"/>
              </p:ext>
            </p:extLst>
          </p:nvPr>
        </p:nvGraphicFramePr>
        <p:xfrm>
          <a:off x="6633721" y="1036669"/>
          <a:ext cx="6081626" cy="5430231"/>
        </p:xfrm>
        <a:graphic>
          <a:graphicData uri="http://schemas.openxmlformats.org/drawingml/2006/table">
            <a:tbl>
              <a:tblPr firstRow="1" bandRow="1">
                <a:tableStyleId>{93296810-A885-4BE3-A3E7-6D5BEEA58F35}</a:tableStyleId>
              </a:tblPr>
              <a:tblGrid>
                <a:gridCol w="3040813">
                  <a:extLst>
                    <a:ext uri="{9D8B030D-6E8A-4147-A177-3AD203B41FA5}">
                      <a16:colId xmlns:a16="http://schemas.microsoft.com/office/drawing/2014/main" val="3539991231"/>
                    </a:ext>
                  </a:extLst>
                </a:gridCol>
                <a:gridCol w="3040813">
                  <a:extLst>
                    <a:ext uri="{9D8B030D-6E8A-4147-A177-3AD203B41FA5}">
                      <a16:colId xmlns:a16="http://schemas.microsoft.com/office/drawing/2014/main" val="593069628"/>
                    </a:ext>
                  </a:extLst>
                </a:gridCol>
              </a:tblGrid>
              <a:tr h="642788">
                <a:tc>
                  <a:txBody>
                    <a:bodyPr/>
                    <a:lstStyle/>
                    <a:p>
                      <a:pPr algn="ctr"/>
                      <a:r>
                        <a:rPr lang="en-IN" sz="2000" dirty="0"/>
                        <a:t>Limitation</a:t>
                      </a:r>
                      <a:endParaRPr lang="en-IN" sz="2000" b="1" dirty="0"/>
                    </a:p>
                  </a:txBody>
                  <a:tcPr/>
                </a:tc>
                <a:tc>
                  <a:txBody>
                    <a:bodyPr/>
                    <a:lstStyle/>
                    <a:p>
                      <a:r>
                        <a:rPr lang="en-IN" sz="2000" b="1" i="0" kern="1200">
                          <a:solidFill>
                            <a:schemeClr val="lt1"/>
                          </a:solidFill>
                          <a:effectLst/>
                          <a:latin typeface="+mn-lt"/>
                          <a:ea typeface="+mn-ea"/>
                          <a:cs typeface="+mn-cs"/>
                        </a:rPr>
                        <a:t>Description</a:t>
                      </a:r>
                      <a:endParaRPr lang="en-IN" sz="2000" b="1" dirty="0"/>
                    </a:p>
                  </a:txBody>
                  <a:tcPr/>
                </a:tc>
                <a:extLst>
                  <a:ext uri="{0D108BD9-81ED-4DB2-BD59-A6C34878D82A}">
                    <a16:rowId xmlns:a16="http://schemas.microsoft.com/office/drawing/2014/main" val="3468062927"/>
                  </a:ext>
                </a:extLst>
              </a:tr>
              <a:tr h="671170">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lang="en-IN" sz="1600" b="0" i="0" kern="1200" dirty="0">
                          <a:solidFill>
                            <a:schemeClr val="tx1"/>
                          </a:solidFill>
                          <a:effectLst/>
                          <a:latin typeface="+mn-lt"/>
                          <a:ea typeface="+mn-ea"/>
                          <a:cs typeface="+mn-cs"/>
                        </a:rPr>
                        <a:t>Only Linear</a:t>
                      </a:r>
                      <a:endParaRPr lang="en-IN" dirty="0"/>
                    </a:p>
                  </a:txBody>
                  <a:tcP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lang="en-US" sz="1600" dirty="0"/>
                        <a:t>Cannot detect non-linear relationships between variables.</a:t>
                      </a:r>
                      <a:endParaRPr lang="en-IN" sz="1600" dirty="0">
                        <a:solidFill>
                          <a:schemeClr val="tx1"/>
                        </a:solidFill>
                      </a:endParaRPr>
                    </a:p>
                  </a:txBody>
                  <a:tcPr/>
                </a:tc>
                <a:extLst>
                  <a:ext uri="{0D108BD9-81ED-4DB2-BD59-A6C34878D82A}">
                    <a16:rowId xmlns:a16="http://schemas.microsoft.com/office/drawing/2014/main" val="2303999760"/>
                  </a:ext>
                </a:extLst>
              </a:tr>
              <a:tr h="673640">
                <a:tc>
                  <a:txBody>
                    <a:bodyPr/>
                    <a:lstStyle/>
                    <a:p>
                      <a:pPr algn="ctr"/>
                      <a:r>
                        <a:rPr lang="en-IN" sz="1600" b="0" i="0" kern="1200" dirty="0">
                          <a:solidFill>
                            <a:schemeClr val="dk1"/>
                          </a:solidFill>
                          <a:effectLst/>
                          <a:latin typeface="+mn-lt"/>
                          <a:ea typeface="+mn-ea"/>
                          <a:cs typeface="+mn-cs"/>
                        </a:rPr>
                        <a:t>No Causality</a:t>
                      </a:r>
                      <a:endParaRPr lang="en-IN" sz="1600" b="0" dirty="0"/>
                    </a:p>
                  </a:txBody>
                  <a:tcPr/>
                </a:tc>
                <a:tc>
                  <a:txBody>
                    <a:bodyPr/>
                    <a:lstStyle/>
                    <a:p>
                      <a:pPr algn="ctr"/>
                      <a:r>
                        <a:rPr lang="en-US" sz="1600" dirty="0"/>
                        <a:t>Correlation does not imply a cause-effect relationship.</a:t>
                      </a:r>
                      <a:endParaRPr lang="en-IN" sz="1600" dirty="0"/>
                    </a:p>
                  </a:txBody>
                  <a:tcPr/>
                </a:tc>
                <a:extLst>
                  <a:ext uri="{0D108BD9-81ED-4DB2-BD59-A6C34878D82A}">
                    <a16:rowId xmlns:a16="http://schemas.microsoft.com/office/drawing/2014/main" val="2124196284"/>
                  </a:ext>
                </a:extLst>
              </a:tr>
              <a:tr h="793700">
                <a:tc>
                  <a:txBody>
                    <a:bodyPr/>
                    <a:lstStyle/>
                    <a:p>
                      <a:pPr algn="ctr"/>
                      <a:r>
                        <a:rPr lang="en-IN" sz="1600" dirty="0"/>
                        <a:t>Sensitive to Outliers</a:t>
                      </a:r>
                    </a:p>
                  </a:txBody>
                  <a:tcPr/>
                </a:tc>
                <a:tc>
                  <a:txBody>
                    <a:bodyPr/>
                    <a:lstStyle/>
                    <a:p>
                      <a:pPr algn="ctr"/>
                      <a:r>
                        <a:rPr lang="en-US" sz="1600" dirty="0"/>
                        <a:t>Extreme values can distort correlation values significantly.</a:t>
                      </a:r>
                      <a:endParaRPr lang="en-IN" sz="1600" dirty="0"/>
                    </a:p>
                  </a:txBody>
                  <a:tcPr/>
                </a:tc>
                <a:extLst>
                  <a:ext uri="{0D108BD9-81ED-4DB2-BD59-A6C34878D82A}">
                    <a16:rowId xmlns:a16="http://schemas.microsoft.com/office/drawing/2014/main" val="2280531011"/>
                  </a:ext>
                </a:extLst>
              </a:tr>
              <a:tr h="716637">
                <a:tc>
                  <a:txBody>
                    <a:bodyPr/>
                    <a:lstStyle/>
                    <a:p>
                      <a:pPr algn="ctr"/>
                      <a:r>
                        <a:rPr lang="en-IN" sz="1600" b="0" i="0" kern="1200" dirty="0">
                          <a:solidFill>
                            <a:schemeClr val="dk1"/>
                          </a:solidFill>
                          <a:effectLst/>
                          <a:latin typeface="+mn-lt"/>
                          <a:ea typeface="+mn-ea"/>
                          <a:cs typeface="+mn-cs"/>
                        </a:rPr>
                        <a:t>Multicollinearity Risk</a:t>
                      </a:r>
                      <a:endParaRPr lang="en-IN" sz="1600" dirty="0"/>
                    </a:p>
                  </a:txBody>
                  <a:tcPr/>
                </a:tc>
                <a:tc>
                  <a:txBody>
                    <a:bodyPr/>
                    <a:lstStyle/>
                    <a:p>
                      <a:pPr algn="ctr"/>
                      <a:r>
                        <a:rPr lang="en-US" sz="1600" dirty="0"/>
                        <a:t>High inter-correlation can destabilize regression models..</a:t>
                      </a:r>
                      <a:endParaRPr lang="en-IN" sz="1600" dirty="0"/>
                    </a:p>
                  </a:txBody>
                  <a:tcPr/>
                </a:tc>
                <a:extLst>
                  <a:ext uri="{0D108BD9-81ED-4DB2-BD59-A6C34878D82A}">
                    <a16:rowId xmlns:a16="http://schemas.microsoft.com/office/drawing/2014/main" val="790193926"/>
                  </a:ext>
                </a:extLst>
              </a:tr>
              <a:tr h="936917">
                <a:tc>
                  <a:txBody>
                    <a:bodyPr/>
                    <a:lstStyle/>
                    <a:p>
                      <a:pPr algn="ctr"/>
                      <a:endParaRPr lang="en-IN" sz="1600" dirty="0"/>
                    </a:p>
                    <a:p>
                      <a:pPr algn="ctr"/>
                      <a:r>
                        <a:rPr lang="en-IN" sz="1600" dirty="0"/>
                        <a:t>Dimensionality Issues</a:t>
                      </a:r>
                    </a:p>
                  </a:txBody>
                  <a:tcPr/>
                </a:tc>
                <a:tc>
                  <a:txBody>
                    <a:bodyPr/>
                    <a:lstStyle/>
                    <a:p>
                      <a:pPr algn="ctr"/>
                      <a:endParaRPr lang="en-US" sz="1600" dirty="0"/>
                    </a:p>
                    <a:p>
                      <a:pPr algn="ctr"/>
                      <a:r>
                        <a:rPr lang="en-US" sz="1600" dirty="0"/>
                        <a:t>Large variable sets can lead to complex, noisy matrices.</a:t>
                      </a:r>
                      <a:endParaRPr lang="en-IN" sz="1600" dirty="0"/>
                    </a:p>
                  </a:txBody>
                  <a:tcPr/>
                </a:tc>
                <a:extLst>
                  <a:ext uri="{0D108BD9-81ED-4DB2-BD59-A6C34878D82A}">
                    <a16:rowId xmlns:a16="http://schemas.microsoft.com/office/drawing/2014/main" val="1421853298"/>
                  </a:ext>
                </a:extLst>
              </a:tr>
              <a:tr h="995379">
                <a:tc>
                  <a:txBody>
                    <a:bodyPr/>
                    <a:lstStyle/>
                    <a:p>
                      <a:pPr algn="ctr"/>
                      <a:r>
                        <a:rPr lang="en-IN" sz="1600" b="0" i="0" kern="1200" dirty="0">
                          <a:solidFill>
                            <a:schemeClr val="dk1"/>
                          </a:solidFill>
                          <a:effectLst/>
                          <a:latin typeface="+mn-lt"/>
                          <a:ea typeface="+mn-ea"/>
                          <a:cs typeface="+mn-cs"/>
                        </a:rPr>
                        <a:t>Data Quality Dependence</a:t>
                      </a:r>
                      <a:endParaRPr lang="en-IN" sz="1600" dirty="0"/>
                    </a:p>
                  </a:txBody>
                  <a:tcPr/>
                </a:tc>
                <a:tc>
                  <a:txBody>
                    <a:bodyPr/>
                    <a:lstStyle/>
                    <a:p>
                      <a:pPr algn="ctr"/>
                      <a:r>
                        <a:rPr lang="en-US" sz="1600" dirty="0"/>
                        <a:t>Requires clean, well-normalized data for accurate results.</a:t>
                      </a:r>
                      <a:endParaRPr lang="en-IN" sz="1600" b="1" dirty="0"/>
                    </a:p>
                  </a:txBody>
                  <a:tcPr/>
                </a:tc>
                <a:extLst>
                  <a:ext uri="{0D108BD9-81ED-4DB2-BD59-A6C34878D82A}">
                    <a16:rowId xmlns:a16="http://schemas.microsoft.com/office/drawing/2014/main" val="2019756185"/>
                  </a:ext>
                </a:extLst>
              </a:tr>
            </a:tbl>
          </a:graphicData>
        </a:graphic>
      </p:graphicFrame>
    </p:spTree>
    <p:extLst>
      <p:ext uri="{BB962C8B-B14F-4D97-AF65-F5344CB8AC3E}">
        <p14:creationId xmlns:p14="http://schemas.microsoft.com/office/powerpoint/2010/main" val="22014139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594</TotalTime>
  <Words>439</Words>
  <Application>Microsoft Office PowerPoint</Application>
  <PresentationFormat>A3 Paper (297x420 mm)</PresentationFormat>
  <Paragraphs>58</Paragraphs>
  <Slides>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vt:i4>
      </vt:variant>
    </vt:vector>
  </HeadingPairs>
  <TitlesOfParts>
    <vt:vector size="11" baseType="lpstr">
      <vt:lpstr>Arial</vt:lpstr>
      <vt:lpstr>Calibri</vt:lpstr>
      <vt:lpstr>Calibri Light</vt:lpstr>
      <vt:lpstr>Cambria Math</vt:lpstr>
      <vt:lpstr>Chalkboard</vt:lpstr>
      <vt:lpstr>MARKER FELT THIN</vt:lpstr>
      <vt:lpstr>MARKER FELT THIN</vt:lpstr>
      <vt:lpstr>Söhne Mono</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Pargat  Singh</dc:creator>
  <cp:lastModifiedBy>Shreyans T</cp:lastModifiedBy>
  <cp:revision>23</cp:revision>
  <dcterms:created xsi:type="dcterms:W3CDTF">2022-01-22T13:55:01Z</dcterms:created>
  <dcterms:modified xsi:type="dcterms:W3CDTF">2025-04-05T09:16:08Z</dcterms:modified>
</cp:coreProperties>
</file>