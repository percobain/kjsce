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Fir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Lk51n27Me7MosTg/aEc0apYqK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Sans-regular.fntdata"/><Relationship Id="rId14" Type="http://schemas.openxmlformats.org/officeDocument/2006/relationships/slide" Target="slides/slide10.xml"/><Relationship Id="rId17" Type="http://schemas.openxmlformats.org/officeDocument/2006/relationships/font" Target="fonts/FiraSans-italic.fntdata"/><Relationship Id="rId16" Type="http://schemas.openxmlformats.org/officeDocument/2006/relationships/font" Target="fonts/FiraSans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Fira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ca56a4c0b_0_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4500"/>
              <a:buFont typeface="Marcellus"/>
              <a:buNone/>
              <a:defRPr b="0" i="0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dca56a4c0b_0_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dca56a4c0b_0_6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dca56a4c0b_0_6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dca56a4c0b_0_6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dca56a4c0b_0_12"/>
          <p:cNvSpPr txBox="1"/>
          <p:nvPr>
            <p:ph type="title"/>
          </p:nvPr>
        </p:nvSpPr>
        <p:spPr>
          <a:xfrm>
            <a:off x="629841" y="740568"/>
            <a:ext cx="294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2400"/>
              <a:buFont typeface="Marcellus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dca56a4c0b_0_1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dca56a4c0b_0_1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dca56a4c0b_0_12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dca56a4c0b_0_12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dca56a4c0b_0_12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ca56a4c0b_0_19"/>
          <p:cNvSpPr txBox="1"/>
          <p:nvPr>
            <p:ph type="title"/>
          </p:nvPr>
        </p:nvSpPr>
        <p:spPr>
          <a:xfrm>
            <a:off x="628650" y="649706"/>
            <a:ext cx="7886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dca56a4c0b_0_19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dca56a4c0b_0_19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dca56a4c0b_0_19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dca56a4c0b_0_24"/>
          <p:cNvSpPr txBox="1"/>
          <p:nvPr>
            <p:ph type="title"/>
          </p:nvPr>
        </p:nvSpPr>
        <p:spPr>
          <a:xfrm>
            <a:off x="629841" y="740568"/>
            <a:ext cx="294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2400"/>
              <a:buFont typeface="Marcellus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g3dca56a4c0b_0_24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g3dca56a4c0b_0_24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dca56a4c0b_0_24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dca56a4c0b_0_24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dca56a4c0b_0_24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ca56a4c0b_0_31"/>
          <p:cNvSpPr/>
          <p:nvPr/>
        </p:nvSpPr>
        <p:spPr>
          <a:xfrm>
            <a:off x="0" y="4260354"/>
            <a:ext cx="628800" cy="8931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ca56a4c0b_0_31"/>
          <p:cNvSpPr/>
          <p:nvPr/>
        </p:nvSpPr>
        <p:spPr>
          <a:xfrm>
            <a:off x="628649" y="4767263"/>
            <a:ext cx="6998700" cy="3861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" name="Google Shape;43;g3dca56a4c0b_0_31"/>
          <p:cNvSpPr txBox="1"/>
          <p:nvPr>
            <p:ph type="title"/>
          </p:nvPr>
        </p:nvSpPr>
        <p:spPr>
          <a:xfrm>
            <a:off x="628650" y="649706"/>
            <a:ext cx="7886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dca56a4c0b_0_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3dca56a4c0b_0_31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dca56a4c0b_0_31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dca56a4c0b_0_31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ca56a4c0b_0_39"/>
          <p:cNvSpPr txBox="1"/>
          <p:nvPr>
            <p:ph type="title"/>
          </p:nvPr>
        </p:nvSpPr>
        <p:spPr>
          <a:xfrm>
            <a:off x="628650" y="649706"/>
            <a:ext cx="7886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dca56a4c0b_0_3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dca56a4c0b_0_3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dca56a4c0b_0_39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dca56a4c0b_0_39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dca56a4c0b_0_39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a56a4c0b_0_4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4500"/>
              <a:buFont typeface="Marcellus"/>
              <a:buNone/>
              <a:defRPr b="0" i="0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dca56a4c0b_0_4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ca56a4c0b_0_46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dca56a4c0b_0_46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dca56a4c0b_0_46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a56a4c0b_0_52"/>
          <p:cNvSpPr txBox="1"/>
          <p:nvPr>
            <p:ph type="title"/>
          </p:nvPr>
        </p:nvSpPr>
        <p:spPr>
          <a:xfrm>
            <a:off x="629841" y="650082"/>
            <a:ext cx="7886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dca56a4c0b_0_52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dca56a4c0b_0_52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dca56a4c0b_0_5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dca56a4c0b_0_52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3dca56a4c0b_0_52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dca56a4c0b_0_52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dca56a4c0b_0_52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ca56a4c0b_0_61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dca56a4c0b_0_61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dca56a4c0b_0_61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a56a4c0b_0_65"/>
          <p:cNvSpPr txBox="1"/>
          <p:nvPr>
            <p:ph type="title"/>
          </p:nvPr>
        </p:nvSpPr>
        <p:spPr>
          <a:xfrm>
            <a:off x="628650" y="649706"/>
            <a:ext cx="7886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dca56a4c0b_0_65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dca56a4c0b_0_65"/>
          <p:cNvSpPr txBox="1"/>
          <p:nvPr>
            <p:ph idx="10" type="dt"/>
          </p:nvPr>
        </p:nvSpPr>
        <p:spPr>
          <a:xfrm>
            <a:off x="628650" y="4382398"/>
            <a:ext cx="2057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dca56a4c0b_0_65"/>
          <p:cNvSpPr txBox="1"/>
          <p:nvPr>
            <p:ph idx="11" type="ftr"/>
          </p:nvPr>
        </p:nvSpPr>
        <p:spPr>
          <a:xfrm>
            <a:off x="3028950" y="4382398"/>
            <a:ext cx="30861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dca56a4c0b_0_65"/>
          <p:cNvSpPr txBox="1"/>
          <p:nvPr>
            <p:ph idx="12" type="sldNum"/>
          </p:nvPr>
        </p:nvSpPr>
        <p:spPr>
          <a:xfrm>
            <a:off x="7627208" y="4397247"/>
            <a:ext cx="1512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ca56a4c0b_0_0"/>
          <p:cNvSpPr/>
          <p:nvPr/>
        </p:nvSpPr>
        <p:spPr>
          <a:xfrm>
            <a:off x="0" y="4560570"/>
            <a:ext cx="628800" cy="5928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g3dca56a4c0b_0_0"/>
          <p:cNvSpPr/>
          <p:nvPr/>
        </p:nvSpPr>
        <p:spPr>
          <a:xfrm>
            <a:off x="7627208" y="4767263"/>
            <a:ext cx="1516800" cy="3861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g3dca56a4c0b_0_0"/>
          <p:cNvSpPr/>
          <p:nvPr/>
        </p:nvSpPr>
        <p:spPr>
          <a:xfrm>
            <a:off x="628649" y="4767263"/>
            <a:ext cx="6998700" cy="386100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13" name="Google Shape;13;g3dca56a4c0b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43447" y="169592"/>
            <a:ext cx="546354" cy="40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g3dca56a4c0b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5397" y="106182"/>
            <a:ext cx="1737192" cy="53152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ML-Driven Hospital Resource Allocation</a:t>
            </a:r>
            <a:endParaRPr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7200" y="167599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800"/>
              <a:buFont typeface="Calibri"/>
              <a:buNone/>
            </a:pPr>
            <a:r>
              <a:rPr i="1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Patient Inflow &amp; Optimizing Critical Resources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371600" y="2606040"/>
            <a:ext cx="6400800" cy="36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260475" y="2642625"/>
            <a:ext cx="273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ML IA - 2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Shreya Menon    16010123324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Shreyans Tatiya  16010123325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Siddhant Raut     16010123331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2423105" y="265650"/>
            <a:ext cx="429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Problem Statement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274263" y="1228971"/>
            <a:ext cx="4023300" cy="2568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74258" y="1228965"/>
            <a:ext cx="4023300" cy="411600"/>
          </a:xfrm>
          <a:prstGeom prst="rect">
            <a:avLst/>
          </a:prstGeom>
          <a:solidFill>
            <a:srgbClr val="D9212A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19978" y="1256397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65697" y="1750173"/>
            <a:ext cx="37491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hospital management systems struggle with: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Unpredictable patient inflow surges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Inefficient bed and staff allocation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Emergency department overcrowding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Reactive — not proactive — decision making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inefficiencies increase patient wait times, raise costs, and compromise care quality.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571938" y="1228971"/>
            <a:ext cx="4297800" cy="2568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571938" y="1228965"/>
            <a:ext cx="4297800" cy="4116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617658" y="1256397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ML Solution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4663377" y="1750173"/>
            <a:ext cx="4069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enables hospitals to: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Forecast patient admissions in real time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Predict inpatient bed demand weekly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Model discharge timings and destinations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Optimize staff scheduling proactively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research papers examine these challenges with XGBoost, ARIMA, Random Forest and more.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2560351" y="77450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1: Related Work &amp; Methodology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20060" y="75243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npj Digital Medicine — ML for Real-Time Aggregated ED Admission Prediction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28600" y="1226249"/>
            <a:ext cx="4114800" cy="2961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28600" y="1226245"/>
            <a:ext cx="4114800" cy="365700"/>
          </a:xfrm>
          <a:prstGeom prst="rect">
            <a:avLst/>
          </a:prstGeom>
          <a:solidFill>
            <a:srgbClr val="D9212A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74320" y="1244533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20040" y="1656013"/>
            <a:ext cx="3931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approaches used static statistical tools (regression, ARIMA) or simple heuristics to estimate ED demand.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identified: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use of live EHR data for real-time prediction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Patient-level and ward-level forecasts rarely combined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Performance gaps during unexpected surges (e.g., COVID-19)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paper directly addresses the gap in probabilistic, real-time aggregated ED forecasting.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00" y="1226249"/>
            <a:ext cx="4343400" cy="2961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572000" y="1226245"/>
            <a:ext cx="4343400" cy="3657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617720" y="1244533"/>
            <a:ext cx="425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645152" y="1656013"/>
            <a:ext cx="4160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using live EHR from a UK teaching hospital ED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XGBoost classifiers trained on individual visits → probability of admission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Patient-level probabilities aggregated to ward-level admission counts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Future arrivals incorporated via Poisson arrival model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</a:t>
            </a: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 total admissions within defined time-windows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Multiple models trained at different elapsed visit-times (1hr, 2hr, 4hr points).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2948651" y="206375"/>
            <a:ext cx="348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4"/>
              <a:buFont typeface="Georgia"/>
              <a:buNone/>
            </a:pPr>
            <a:r>
              <a:rPr b="1" i="0" lang="en-US" sz="167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1:</a:t>
            </a:r>
            <a:r>
              <a:rPr b="1" lang="en-US" sz="167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67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Dataset, Results &amp; Findings</a:t>
            </a:r>
            <a:endParaRPr i="0" sz="167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60925" y="886469"/>
            <a:ext cx="3825900" cy="1700400"/>
          </a:xfrm>
          <a:prstGeom prst="rect">
            <a:avLst/>
          </a:prstGeom>
          <a:solidFill>
            <a:srgbClr val="F5F5F5"/>
          </a:solidFill>
          <a:ln cap="flat" cmpd="sng" w="118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4470" rotWithShape="0" algn="bl" dir="8100000" dist="35426">
              <a:srgbClr val="000000">
                <a:alpha val="12941"/>
              </a:srgbClr>
            </a:outerShdw>
          </a:effectLst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60925" y="886469"/>
            <a:ext cx="3825900" cy="323100"/>
          </a:xfrm>
          <a:prstGeom prst="rect">
            <a:avLst/>
          </a:prstGeom>
          <a:solidFill>
            <a:srgbClr val="D9212A"/>
          </a:solidFill>
          <a:ln cap="flat" cmpd="sng" w="118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03426" y="903475"/>
            <a:ext cx="3484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i="0" lang="en-US" sz="1162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/ Experimental Setup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5948" y="1269073"/>
            <a:ext cx="36561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00" spcFirstLastPara="1" rIns="85000" wrap="square" tIns="42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109,465 ED visits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a UK teaching hospital (pre-COVID)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104,504 visits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during COVID-19 pandemic period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triage info, chief complaint, time-in-ED, demographics, historical patterns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699525" y="886469"/>
            <a:ext cx="4038600" cy="1700400"/>
          </a:xfrm>
          <a:prstGeom prst="rect">
            <a:avLst/>
          </a:prstGeom>
          <a:solidFill>
            <a:srgbClr val="F5F5F5"/>
          </a:solidFill>
          <a:ln cap="flat" cmpd="sng" w="118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4470" rotWithShape="0" algn="bl" dir="8100000" dist="35426">
              <a:srgbClr val="000000">
                <a:alpha val="12941"/>
              </a:srgbClr>
            </a:outerShdw>
          </a:effectLst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699525" y="886469"/>
            <a:ext cx="4038600" cy="323100"/>
          </a:xfrm>
          <a:prstGeom prst="rect">
            <a:avLst/>
          </a:prstGeom>
          <a:solidFill>
            <a:srgbClr val="A42530"/>
          </a:solidFill>
          <a:ln cap="flat" cmpd="sng" w="118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42037" y="903473"/>
            <a:ext cx="3953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i="0" lang="en-US" sz="1162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 Metrics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67544" y="1269073"/>
            <a:ext cx="38685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00" spcFirstLastPara="1" rIns="85000" wrap="square" tIns="42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AUROC: 0.82–0.90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(pre-COVID models)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AUROC: 0.68–0.90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(COVID-era models)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MAE: 4.0 admissions (17%)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 benchmark 6.5 (32%)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162"/>
              <a:buFont typeface="Calibri"/>
              <a:buNone/>
            </a:pPr>
            <a:r>
              <a:rPr b="1" i="0" lang="en-US" sz="1162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COVID MAE: 4.2 (30%)</a:t>
            </a: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 benchmark 4.9 (33%)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60925" y="2714466"/>
            <a:ext cx="3825900" cy="1870500"/>
          </a:xfrm>
          <a:prstGeom prst="rect">
            <a:avLst/>
          </a:prstGeom>
          <a:solidFill>
            <a:srgbClr val="F5F5F5"/>
          </a:solidFill>
          <a:ln cap="flat" cmpd="sng" w="118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4470" rotWithShape="0" algn="bl" dir="8100000" dist="35426">
              <a:srgbClr val="000000">
                <a:alpha val="12941"/>
              </a:srgbClr>
            </a:outerShdw>
          </a:effectLst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60925" y="2714466"/>
            <a:ext cx="3825900" cy="323100"/>
          </a:xfrm>
          <a:prstGeom prst="rect">
            <a:avLst/>
          </a:prstGeom>
          <a:solidFill>
            <a:srgbClr val="D9212A"/>
          </a:solidFill>
          <a:ln cap="flat" cmpd="sng" w="118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45950" y="2705925"/>
            <a:ext cx="3550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i="0" lang="en-US" sz="1162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of Findings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45948" y="3097070"/>
            <a:ext cx="36561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00" spcFirstLastPara="1" rIns="85000" wrap="square" tIns="42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EHR-driven prediction substantially outperforms benchmark estimates.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Aggregating patient-level probabilities is a novel and effective forecasting strategy.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holds reasonably well during COVID-19, showing model robustness.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699525" y="2714466"/>
            <a:ext cx="4038600" cy="1870500"/>
          </a:xfrm>
          <a:prstGeom prst="rect">
            <a:avLst/>
          </a:prstGeom>
          <a:solidFill>
            <a:srgbClr val="F5F5F5"/>
          </a:solidFill>
          <a:ln cap="flat" cmpd="sng" w="118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4470" rotWithShape="0" algn="bl" dir="8100000" dist="35426">
              <a:srgbClr val="000000">
                <a:alpha val="12941"/>
              </a:srgbClr>
            </a:outerShdw>
          </a:effectLst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699525" y="2714466"/>
            <a:ext cx="4038600" cy="323100"/>
          </a:xfrm>
          <a:prstGeom prst="rect">
            <a:avLst/>
          </a:prstGeom>
          <a:solidFill>
            <a:srgbClr val="A42530"/>
          </a:solidFill>
          <a:ln cap="flat" cmpd="sng" w="118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742037" y="2731470"/>
            <a:ext cx="3953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i="0" lang="en-US" sz="1162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67544" y="3097070"/>
            <a:ext cx="38685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85000" spcFirstLastPara="1" rIns="85000" wrap="square" tIns="42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Single-hospital study — generalizability unclear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accuracy drops during pandemic non-stationarity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Calibri"/>
              <a:buNone/>
            </a:pPr>
            <a:r>
              <a:rPr i="0" lang="en-US" sz="1162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multi-site validation; integration with capacity management systems</a:t>
            </a:r>
            <a:endParaRPr i="0" sz="116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2468905" y="100575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2: Related Work &amp; Methodology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65760" y="88274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BMC Medical Informatics and Decision Making — ML Forecast for Inpatient Bed Demand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28600" y="1221074"/>
            <a:ext cx="4114800" cy="2954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28600" y="1221070"/>
            <a:ext cx="4114800" cy="365700"/>
          </a:xfrm>
          <a:prstGeom prst="rect">
            <a:avLst/>
          </a:prstGeom>
          <a:solidFill>
            <a:srgbClr val="D64B56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4320" y="1239358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20050" y="1650846"/>
            <a:ext cx="39318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Overcrowding in EDs and post-anesthesia care units (PACUs) is a well-documented patient safety risk.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methods: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Time-series (ARIMA) — poor at capturing non-linear demand patterns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Simulation models — computationally expensive, limited adaptability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Rule-based systems — cannot adapt to evolving patient mix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Gap: No weekly ML-based forecast for bed demand considering all encounter types simultaneously.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0" y="1221074"/>
            <a:ext cx="4343400" cy="2954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0" y="1221070"/>
            <a:ext cx="4343400" cy="3657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17720" y="1239358"/>
            <a:ext cx="425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645150" y="1650847"/>
            <a:ext cx="41604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5-year adult inpatient data from Geisinger Medical Center (GMC)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Encounter types:</a:t>
            </a: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inpatient, observation, SORU (surgical overnight recovery)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evaluated: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Random Forest (RF)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Gradient Boosted Trees (GBT)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ARIMA (time-series baseline)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Linear Regression (baseline)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Weekly forecasts produced for bed planning for each encounter class.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2666256" y="156700"/>
            <a:ext cx="381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2: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Dataset, Results &amp; Findings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21325" y="884075"/>
            <a:ext cx="3897900" cy="1659900"/>
          </a:xfrm>
          <a:prstGeom prst="rect">
            <a:avLst/>
          </a:prstGeom>
          <a:solidFill>
            <a:srgbClr val="F5F5F5"/>
          </a:solidFill>
          <a:ln cap="flat" cmpd="sng" w="11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2217" rotWithShape="0" algn="bl" dir="8100000" dist="34582">
              <a:srgbClr val="000000">
                <a:alpha val="12941"/>
              </a:srgbClr>
            </a:outerShdw>
          </a:effectLst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21325" y="884075"/>
            <a:ext cx="3897900" cy="315600"/>
          </a:xfrm>
          <a:prstGeom prst="rect">
            <a:avLst/>
          </a:prstGeom>
          <a:solidFill>
            <a:srgbClr val="D9212A"/>
          </a:solidFill>
          <a:ln cap="flat" cmpd="sng" w="11525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64638" y="900674"/>
            <a:ext cx="381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5"/>
              <a:buFont typeface="Georgia"/>
              <a:buNone/>
            </a:pPr>
            <a:r>
              <a:rPr b="1" i="0" lang="en-US" sz="1134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/ Experimental Setup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07951" y="1257554"/>
            <a:ext cx="37248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3000" spcFirstLastPara="1" rIns="83000" wrap="square" tIns="41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years of adult inpatient encounters at Geisinger Medical Center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Variables: encounter type, discharge disposition, calendar features, seasonal indicators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Train/test split with rolling cross-validation for temporal validity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36065" y="884075"/>
            <a:ext cx="4114800" cy="1659900"/>
          </a:xfrm>
          <a:prstGeom prst="rect">
            <a:avLst/>
          </a:prstGeom>
          <a:solidFill>
            <a:srgbClr val="F5F5F5"/>
          </a:solidFill>
          <a:ln cap="flat" cmpd="sng" w="11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2217" rotWithShape="0" algn="bl" dir="8100000" dist="34582">
              <a:srgbClr val="000000">
                <a:alpha val="12941"/>
              </a:srgbClr>
            </a:outerShdw>
          </a:effectLst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836065" y="884075"/>
            <a:ext cx="4114800" cy="315600"/>
          </a:xfrm>
          <a:prstGeom prst="rect">
            <a:avLst/>
          </a:prstGeom>
          <a:solidFill>
            <a:srgbClr val="A42530"/>
          </a:solidFill>
          <a:ln cap="flat" cmpd="sng" w="11525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79378" y="900674"/>
            <a:ext cx="4028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5"/>
              <a:buFont typeface="Georgia"/>
              <a:buNone/>
            </a:pPr>
            <a:r>
              <a:rPr b="1" i="0" lang="en-US" sz="1134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 Metrics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05365" y="1257554"/>
            <a:ext cx="3941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3000" spcFirstLastPara="1" rIns="83000" wrap="square" tIns="41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b="1"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GBT &amp; RF outperformed ARIMA and linear regression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135"/>
              <a:buFont typeface="Calibri"/>
              <a:buNone/>
            </a:pPr>
            <a:r>
              <a:rPr b="1" i="0" lang="en-US" sz="1134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MAPE: ~5–8%</a:t>
            </a: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encounter types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reduction in forecast error vs. traditional methods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granularity enables advance staffing and bed planning decisions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21325" y="2668475"/>
            <a:ext cx="3897900" cy="1825800"/>
          </a:xfrm>
          <a:prstGeom prst="rect">
            <a:avLst/>
          </a:prstGeom>
          <a:solidFill>
            <a:srgbClr val="F5F5F5"/>
          </a:solidFill>
          <a:ln cap="flat" cmpd="sng" w="11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2217" rotWithShape="0" algn="bl" dir="8100000" dist="34582">
              <a:srgbClr val="000000">
                <a:alpha val="12941"/>
              </a:srgbClr>
            </a:outerShdw>
          </a:effectLst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21325" y="2668475"/>
            <a:ext cx="3897900" cy="315600"/>
          </a:xfrm>
          <a:prstGeom prst="rect">
            <a:avLst/>
          </a:prstGeom>
          <a:solidFill>
            <a:srgbClr val="D9212A"/>
          </a:solidFill>
          <a:ln cap="flat" cmpd="sng" w="11525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64638" y="2685074"/>
            <a:ext cx="381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5"/>
              <a:buFont typeface="Georgia"/>
              <a:buNone/>
            </a:pPr>
            <a:r>
              <a:rPr b="1" i="0" lang="en-US" sz="1134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of Findings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07951" y="3041955"/>
            <a:ext cx="37248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3000" spcFirstLastPara="1" rIns="83000" wrap="square" tIns="41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forecasting supports proactive capacity planning for beds, PACU, and surgical schedules.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 capture seasonal and non-linear demand patterns inaccessible to ARIMA.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impact: fewer elective surgery cancellations and reduced boarding.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836065" y="2668475"/>
            <a:ext cx="4114800" cy="1825800"/>
          </a:xfrm>
          <a:prstGeom prst="rect">
            <a:avLst/>
          </a:prstGeom>
          <a:solidFill>
            <a:srgbClr val="F5F5F5"/>
          </a:solidFill>
          <a:ln cap="flat" cmpd="sng" w="11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92217" rotWithShape="0" algn="bl" dir="8100000" dist="34582">
              <a:srgbClr val="000000">
                <a:alpha val="12941"/>
              </a:srgbClr>
            </a:outerShdw>
          </a:effectLst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36065" y="2668475"/>
            <a:ext cx="4114800" cy="315600"/>
          </a:xfrm>
          <a:prstGeom prst="rect">
            <a:avLst/>
          </a:prstGeom>
          <a:solidFill>
            <a:srgbClr val="A42530"/>
          </a:solidFill>
          <a:ln cap="flat" cmpd="sng" w="11525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79378" y="2685074"/>
            <a:ext cx="4028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5"/>
              <a:buFont typeface="Georgia"/>
              <a:buNone/>
            </a:pPr>
            <a:r>
              <a:rPr b="1" i="0" lang="en-US" sz="1134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905365" y="3041955"/>
            <a:ext cx="39414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75" lIns="83000" spcFirstLastPara="1" rIns="83000" wrap="square" tIns="41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Single-center study at one US health system (GMC)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COVID-19 disruptions not fully accounted for in training data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35"/>
              <a:buFont typeface="Calibri"/>
              <a:buNone/>
            </a:pPr>
            <a:r>
              <a:rPr i="0" lang="en-US" sz="1134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real-time integration with EHR dashboards; multi-center expansion</a:t>
            </a:r>
            <a:endParaRPr i="0" sz="11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2514655" y="100575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3: Related Work &amp; Methodology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65760" y="79323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Care Management Science — Systematic Review: Predicting Patient Discharges Using Statistical Methods &amp; ML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28600" y="1284725"/>
            <a:ext cx="4114800" cy="2629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28600" y="1284720"/>
            <a:ext cx="4114800" cy="365700"/>
          </a:xfrm>
          <a:prstGeom prst="rect">
            <a:avLst/>
          </a:prstGeom>
          <a:solidFill>
            <a:srgbClr val="D41F2A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74325" y="130300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20050" y="1714494"/>
            <a:ext cx="39318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Discharge planning is critical for patient flow — delays cascade into hospital-wide congestion.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literature covered: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Discharge time prediction (regression, survival analysis)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Discharge destination prediction (classification)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Discharge volume forecasting (time-series)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comprehensive synthesis existed comparing ML vs. statistical approaches across discharge outcome types.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0" y="1284723"/>
            <a:ext cx="4343400" cy="2629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0" y="1284720"/>
            <a:ext cx="4343400" cy="3657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617720" y="1303008"/>
            <a:ext cx="425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645152" y="1714488"/>
            <a:ext cx="4160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literature review (SLR) methodology: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PRISMA-compliant search across PubMed, Scopus, Web of Science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Search terms: discharge prediction, patient flow, LOS, ML models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101 papers included after screening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models: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Statistical: Cox regression, logistic regression, ARIMA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ML: Random Forest, XGBoost, SVM, neural networks, LightGBM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2950650" y="261825"/>
            <a:ext cx="3242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3: Dataset, Results &amp; Findings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28600" y="978405"/>
            <a:ext cx="4114800" cy="1666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28600" y="978400"/>
            <a:ext cx="4114800" cy="342300"/>
          </a:xfrm>
          <a:prstGeom prst="rect">
            <a:avLst/>
          </a:prstGeom>
          <a:solidFill>
            <a:srgbClr val="D64B56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74320" y="996421"/>
            <a:ext cx="4023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/ Experimental Setup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20040" y="1383866"/>
            <a:ext cx="39318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 peer-reviewed papers (1990–2023) synthesized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Covers hospitals across US, UK, Europe, and Asia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Outcomes: discharge time, volume, and destination predictions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retrospective EHR data and prospective clinical study sources included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0" y="978405"/>
            <a:ext cx="4343400" cy="1666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0" y="978400"/>
            <a:ext cx="4343400" cy="3423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617720" y="996421"/>
            <a:ext cx="4251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 Metrics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645100" y="1383866"/>
            <a:ext cx="42519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250"/>
              <a:buFont typeface="Calibri"/>
              <a:buNone/>
            </a:pPr>
            <a:r>
              <a:rPr b="1" i="0" lang="en-US" sz="1050" u="none" cap="none" strike="noStrike">
                <a:solidFill>
                  <a:srgbClr val="A425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49.5% ML-based | 50.5% statistical methods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 achieve higher AUC and predictive accuracy for destination prediction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models remain competitive for discharge time/volume due to interpretability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and Random Forest dominate as top-performing ML methods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28600" y="2915625"/>
            <a:ext cx="4114800" cy="151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28600" y="2915628"/>
            <a:ext cx="4114800" cy="342300"/>
          </a:xfrm>
          <a:prstGeom prst="rect">
            <a:avLst/>
          </a:prstGeom>
          <a:solidFill>
            <a:srgbClr val="D64B56"/>
          </a:solidFill>
          <a:ln cap="flat" cmpd="sng" w="12700">
            <a:solidFill>
              <a:srgbClr val="D64B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74320" y="2933649"/>
            <a:ext cx="4023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of Findings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0040" y="3321095"/>
            <a:ext cx="39318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Knowing discharge outcomes in advance has operational, tactical, and administrative benefits.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methods show superior performance but require more data preprocessing and expertise.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Discharge prediction is deeply linked to bed management, staffing, and patient safety.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0" y="2915625"/>
            <a:ext cx="4343400" cy="151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0" y="2915628"/>
            <a:ext cx="4343400" cy="342300"/>
          </a:xfrm>
          <a:prstGeom prst="rect">
            <a:avLst/>
          </a:prstGeom>
          <a:solidFill>
            <a:srgbClr val="A42530"/>
          </a:solidFill>
          <a:ln cap="flat" cmpd="sng" w="12700">
            <a:solidFill>
              <a:srgbClr val="A42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17720" y="2933649"/>
            <a:ext cx="4251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645152" y="3321095"/>
            <a:ext cx="41604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Heterogeneity in outcome definitions makes cross-study comparison difficult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studies address real-time deployment of discharge prediction models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i="0" lang="en-US" sz="105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standardized benchmarks; explainable AI for clinician trust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457225" y="91507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371600" y="1005840"/>
            <a:ext cx="6400800" cy="36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74320" y="960120"/>
            <a:ext cx="8595300" cy="777300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11480" y="1033272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1 (King et al.): </a:t>
            </a:r>
            <a:r>
              <a:rPr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with real-time EHR data enables accurate, short-term ED admission forecasting, outperforming benchmark metrics by over 50%.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74320" y="1847088"/>
            <a:ext cx="8595300" cy="777300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11480" y="1920240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2 (Tello et al.): </a:t>
            </a:r>
            <a:r>
              <a:rPr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ML bed demand forecasting using Random Forest and GBT enables proactive resource planning, reducing errors vs. traditional methods.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74320" y="2734056"/>
            <a:ext cx="8595300" cy="777300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11480" y="2807208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3 (Pahlevani et al.): </a:t>
            </a:r>
            <a:r>
              <a:rPr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systematic review of 101 studies confirms ML methods  especially XGBoost and RF  as leading tools for discharge prediction, with both ML and statistical models offering complementary strengths.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74320" y="3621024"/>
            <a:ext cx="8595300" cy="777300"/>
          </a:xfrm>
          <a:prstGeom prst="rect">
            <a:avLst/>
          </a:prstGeom>
          <a:solidFill>
            <a:srgbClr val="7A1B23"/>
          </a:solidFill>
          <a:ln cap="flat" cmpd="sng" w="12700">
            <a:solidFill>
              <a:srgbClr val="7A1B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11480" y="3694176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Collective Impact: </a:t>
            </a:r>
            <a:r>
              <a:rPr i="0" lang="en-US" sz="12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Together, these papers demonstrate that ML can transform hospital operations from reactive to predictive, improving bed management, staffing, and patient care quality.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3887978" y="91450"/>
            <a:ext cx="145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20040" y="841248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Z. King, J. Farrington, M. Utley, et al., "Machine learning for real-time aggregated prediction of hospital admission for emergency patients," npj Digital Medicine, vol. 5, no. 1, p. 104, Jul. 2022. doi: 10.1038/s41746-022-00649-y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20040" y="15087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M. Tello, E. S. Reich, J. Puckey, R. Maff, A. Garcia-Arce, B. S. Bhattacharya, and F. Feijoo, "Machine learning based forecast for the prediction of inpatient bed demand," BMC Medical Informatics and Decision Making, vol. 22, no. 1, p. 55, Mar. 2022. doi: 10.1186/s12911-022-01787-9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20040" y="2176272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M. Pahlevani, M. Taghavi, and P. Vanberkel, "A systematic literature review of predicting patient discharges using statistical methods and machine learning," Health Care Management Science, vol. 27, no. 3, pp. 458–478, 2024. doi: 10.1007/s10729-024-09682-7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20040" y="2843784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T. Chen and C. Guestrin, "XGBoost: A scalable tree boosting system," in Proc. 22nd ACM SIGKDD Int. Conf. Knowledge Discovery and Data Mining, 2016, pp. 785–794.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20040" y="3511296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L. Breiman, "Random forests," Machine Learning, vol. 45, no. 1, pp. 5–32, 2001.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20040" y="4097483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G. E. P. Box and G. M. Jenkins, Time Series Analysis: Forecasting and Control. San Francisco: Holden-Day, 1970.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2026-03-28T07:22:58Z</dcterms:created>
  <dc:creator>PptxGenJS</dc:creator>
</cp:coreProperties>
</file>